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 id="2580" r:id="rId21"/>
    <p:sldId id="2581" r:id="rId22"/>
    <p:sldId id="2582" r:id="rId23"/>
    <p:sldId id="2583" r:id="rId24"/>
    <p:sldId id="258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iterature Overview: EEG Noise and Artifact Removal" id="{AC5D1A64-9878-4C20-98A6-088AE48C4732}">
          <p14:sldIdLst>
            <p14:sldId id="2561"/>
          </p14:sldIdLst>
        </p14:section>
        <p14:section name="Motivation and Context for EEG Artifact Removal" id="{40776CEA-CBE8-446E-A5C8-7DB5DD24566B}">
          <p14:sldIdLst>
            <p14:sldId id="2562"/>
            <p14:sldId id="2563"/>
            <p14:sldId id="2564"/>
          </p14:sldIdLst>
        </p14:section>
        <p14:section name="Paper 1: Zhang et al. (2021) — EEGdenoiseNet" id="{D2520DD7-185A-473F-9515-D7B3886D2B37}">
          <p14:sldIdLst>
            <p14:sldId id="2565"/>
            <p14:sldId id="2566"/>
            <p14:sldId id="2567"/>
          </p14:sldIdLst>
        </p14:section>
        <p14:section name="Paper 2: Kumaravel et al. (2022) — NEAR Pipeline" id="{E9EB798A-F1E0-4E25-97BB-D0B066105C56}">
          <p14:sldIdLst>
            <p14:sldId id="2568"/>
            <p14:sldId id="2569"/>
            <p14:sldId id="2570"/>
          </p14:sldIdLst>
        </p14:section>
        <p14:section name="Paper 3: Arpaia et al. (2025) — Wearable EEG Review" id="{CDBC439E-2078-4CCA-8A7E-5FCC0911887B}">
          <p14:sldIdLst>
            <p14:sldId id="2571"/>
            <p14:sldId id="2572"/>
            <p14:sldId id="2573"/>
          </p14:sldIdLst>
        </p14:section>
        <p14:section name="Paper 4: Zangeneh Soroush et al. (2022) — Hybrid Artifact Removal" id="{19C18C80-66C5-47DE-BAE8-7F121B958F3E}">
          <p14:sldIdLst>
            <p14:sldId id="2574"/>
            <p14:sldId id="2575"/>
            <p14:sldId id="2576"/>
            <p14:sldId id="2577"/>
            <p14:sldId id="2578"/>
            <p14:sldId id="2579"/>
            <p14:sldId id="2580"/>
            <p14:sldId id="2581"/>
            <p14:sldId id="2582"/>
            <p14:sldId id="2583"/>
            <p14:sldId id="25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7" autoAdjust="0"/>
    <p:restoredTop sz="94660"/>
  </p:normalViewPr>
  <p:slideViewPr>
    <p:cSldViewPr snapToGrid="0">
      <p:cViewPr varScale="1">
        <p:scale>
          <a:sx n="84" d="100"/>
          <a:sy n="84" d="100"/>
        </p:scale>
        <p:origin x="54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C7A58C-F439-4DFD-BAF0-3022CC4D58E2}" type="datetimeFigureOut">
              <a:t>15/12/1447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09CD-38DD-4288-8F4F-1E502EF8476D}" type="slidenum">
              <a:t>‹#›</a:t>
            </a:fld>
            <a:endParaRPr lang="en-US"/>
          </a:p>
        </p:txBody>
      </p:sp>
    </p:spTree>
    <p:extLst>
      <p:ext uri="{BB962C8B-B14F-4D97-AF65-F5344CB8AC3E}">
        <p14:creationId xmlns:p14="http://schemas.microsoft.com/office/powerpoint/2010/main" val="3240772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439013DD-48EE-4805-996F-E4FEDDB474DC}" type="slidenum">
              <a:t>1</a:t>
            </a:fld>
            <a:endParaRPr lang="en-US"/>
          </a:p>
        </p:txBody>
      </p:sp>
    </p:spTree>
    <p:extLst>
      <p:ext uri="{BB962C8B-B14F-4D97-AF65-F5344CB8AC3E}">
        <p14:creationId xmlns:p14="http://schemas.microsoft.com/office/powerpoint/2010/main" val="1002757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EEG Recordings Require Careful Preprocessing, General Categories of EEG Noise and Artifacts</a:t>
            </a:r>
          </a:p>
        </p:txBody>
      </p:sp>
      <p:sp>
        <p:nvSpPr>
          <p:cNvPr id="4" name="Slide Number Placeholder 3"/>
          <p:cNvSpPr>
            <a:spLocks noGrp="1"/>
          </p:cNvSpPr>
          <p:nvPr>
            <p:ph type="sldNum" sz="quarter" idx="5"/>
          </p:nvPr>
        </p:nvSpPr>
        <p:spPr/>
        <p:txBody>
          <a:bodyPr/>
          <a:lstStyle/>
          <a:p>
            <a:fld id="{439013DD-48EE-4805-996F-E4FEDDB474DC}" type="slidenum">
              <a:t>2</a:t>
            </a:fld>
            <a:endParaRPr lang="en-US"/>
          </a:p>
        </p:txBody>
      </p:sp>
    </p:spTree>
    <p:extLst>
      <p:ext uri="{BB962C8B-B14F-4D97-AF65-F5344CB8AC3E}">
        <p14:creationId xmlns:p14="http://schemas.microsoft.com/office/powerpoint/2010/main" val="2686564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Electroencephalography (EEG) measures very small electrical potentials generated by neural activity and recorded at the scalp, typically in the range of only a few microvolts. Because these signals are weak and measured non-invasively, EEG recordings are highly susceptible to contamination from non-neural sources. As a result, raw EEG data are almost never a pure representation of brain activity; instead, they are a mixture of neural signals, physiological artifacts, and environmental or instrumental noise. This makes preprocessing and artifact removal a fundamental step before any meaningful analysis can be performed. Without proper cleaning, artifacts can dominate the signal, distort its temporal waveform, alter its frequency spectrum, and create misleading spatial patterns across electrodes. For example, a large eye blink can appear as a slow, high-amplitude deflection in frontal channels, masking genuine neural responses, while muscle activity can introduce high-frequency components that resemble cognitive-related beta or gamma activity. These effects can severely bias downstream analyses such as brain–computer interface (BCI) classification, event-related potential (ERP) studies, frequency-tagging or steady-state visual evoked potential (SSVEP) analysis, and clinical interpretation. Another important challenge is that, in real EEG recordings, the true underlying “clean” brain signal is unknown. This lack of ground truth makes it difficult to objectively evaluate how well a given artifact-removal method performs. Researchers must therefore rely on indirect metrics, expert visual inspection, or controlled simulations. The literature consistently emphasizes that EEG preprocessing is not optional but a necessary prerequisite for reliable results. Across laboratory, clinical, and wearable EEG settings, artifact removal is best understood as a systematic effort to improve signal quality while preserving as much genuine neural information as possible, rather than as a single optional filtering step. This motivation underpins all the papers reviewed in this presentation.</a:t>
            </a:r>
          </a:p>
        </p:txBody>
      </p:sp>
      <p:sp>
        <p:nvSpPr>
          <p:cNvPr id="4" name="Slide Number Placeholder 3"/>
          <p:cNvSpPr>
            <a:spLocks noGrp="1"/>
          </p:cNvSpPr>
          <p:nvPr>
            <p:ph type="sldNum" sz="quarter" idx="5"/>
          </p:nvPr>
        </p:nvSpPr>
        <p:spPr/>
        <p:txBody>
          <a:bodyPr/>
          <a:lstStyle/>
          <a:p>
            <a:fld id="{439013DD-48EE-4805-996F-E4FEDDB474DC}" type="slidenum">
              <a:t>3</a:t>
            </a:fld>
            <a:endParaRPr lang="en-US"/>
          </a:p>
        </p:txBody>
      </p:sp>
    </p:spTree>
    <p:extLst>
      <p:ext uri="{BB962C8B-B14F-4D97-AF65-F5344CB8AC3E}">
        <p14:creationId xmlns:p14="http://schemas.microsoft.com/office/powerpoint/2010/main" val="1242289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EEG artifacts are commonly divided into physiological and non-physiological categories, a distinction that helps clarify their origins and appropriate removal strategies. Physiological artifacts arise from biological processes other than cortical brain activity. The most prominent examples are ocular artifacts, produced by eye blinks and eye movements, which generate large electrical potentials that spread across the scalp. Muscular or myogenic artifacts originate from facial, jaw, neck, or scalp muscles and often have a broad frequency spectrum, overlapping with neural EEG bands. Cardiac artifacts, related to the electrocardiogram (ECG), can appear as rhythmic components synchronized with the heartbeat. Movement-related artifacts, such as head or body motion, are also physiological in nature and can be particularly problematic in populations like infants or in mobile EEG recordings. Non-physiological artifacts stem from the recording setup or environment rather than the body. These include instrumental artifacts such as bad or flat channels caused by poor electrode contact, electrode displacement, cable movement, amplifier saturation, or impedance imbalance. Environmental noise, especially electromagnetic interference, is another major category; a classic example is power-line noise at 50 Hz in Europe or 60 Hz in other regions. Each artifact category has distinct temporal, spectral, and spatial characteristics, which is why no single removal method works optimally for all cases. The reviewed literature shows that understanding the type of artifact present is crucial, because it determines whether simple filtering is sufficient or whether more advanced techniques such as source separation, wavelet decomposition, or machine learning are required. This taxonomy provides the conceptual foundation for evaluating and comparing artifact-removal pipelines across different EEG applications.</a:t>
            </a:r>
          </a:p>
        </p:txBody>
      </p:sp>
      <p:sp>
        <p:nvSpPr>
          <p:cNvPr id="4" name="Slide Number Placeholder 3"/>
          <p:cNvSpPr>
            <a:spLocks noGrp="1"/>
          </p:cNvSpPr>
          <p:nvPr>
            <p:ph type="sldNum" sz="quarter" idx="5"/>
          </p:nvPr>
        </p:nvSpPr>
        <p:spPr/>
        <p:txBody>
          <a:bodyPr/>
          <a:lstStyle/>
          <a:p>
            <a:fld id="{439013DD-48EE-4805-996F-E4FEDDB474DC}" type="slidenum">
              <a:t>4</a:t>
            </a:fld>
            <a:endParaRPr lang="en-US"/>
          </a:p>
        </p:txBody>
      </p:sp>
    </p:spTree>
    <p:extLst>
      <p:ext uri="{BB962C8B-B14F-4D97-AF65-F5344CB8AC3E}">
        <p14:creationId xmlns:p14="http://schemas.microsoft.com/office/powerpoint/2010/main" val="32015742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EEGdenoiseNet: Motivation and Dataset Design, Artifact Types and Denoising Methods in EEGdenoiseNet</a:t>
            </a:r>
          </a:p>
        </p:txBody>
      </p:sp>
      <p:sp>
        <p:nvSpPr>
          <p:cNvPr id="4" name="Slide Number Placeholder 3"/>
          <p:cNvSpPr>
            <a:spLocks noGrp="1"/>
          </p:cNvSpPr>
          <p:nvPr>
            <p:ph type="sldNum" sz="quarter" idx="5"/>
          </p:nvPr>
        </p:nvSpPr>
        <p:spPr/>
        <p:txBody>
          <a:bodyPr/>
          <a:lstStyle/>
          <a:p>
            <a:fld id="{439013DD-48EE-4805-996F-E4FEDDB474DC}" type="slidenum">
              <a:t>5</a:t>
            </a:fld>
            <a:endParaRPr lang="en-US"/>
          </a:p>
        </p:txBody>
      </p:sp>
    </p:spTree>
    <p:extLst>
      <p:ext uri="{BB962C8B-B14F-4D97-AF65-F5344CB8AC3E}">
        <p14:creationId xmlns:p14="http://schemas.microsoft.com/office/powerpoint/2010/main" val="10955826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Zhang et al. (2021) address a central problem in modern EEG denoising research: the lack of standardized benchmark datasets with known ground truth for evaluating artifact-removal methods, particularly deep learning models. In real EEG recordings, it is usually impossible to know the exact underlying clean brain signal, because artifacts and neural activity are inseparably mixed at the scalp. This makes supervised learning and objective performance comparison extremely challenging. To overcome this limitation, the authors introduce EEGdenoiseNet, a benchmark dataset specifically designed for training and evaluating deep-learning-based EEG denoising algorithms. The dataset consists of three main components: clean EEG segments, ocular artifact segments, and muscular artifact segments. Clean EEG signals are extracted from recordings with minimal contamination, while ocular artifacts capture eye blinks and eye movements, and muscular artifacts represent myogenic activity from facial or scalp muscles. By synthetically mixing clean EEG with artifact segments at controlled signal-to-noise ratios, the authors generate contaminated EEG signals for which the original clean EEG is known. This design enables direct quantitative evaluation of denoising performance by comparing the model output with the true clean signal. EEGdenoiseNet includes thousands of segments—on the order of several thousand clean EEG samples and several thousand artifact samples—providing sufficient data to train data-hungry deep learning models. Importantly, the dataset is not tied to a single algorithm; instead, it is intended as a common benchmark that allows fair comparison across different denoising approaches. In the context of the literature overview, this paper contributes a data-centric perspective, emphasizing that progress in EEG artifact removal depends not only on new algorithms but also on the availability of high-quality, standardized evaluation datasets.</a:t>
            </a:r>
          </a:p>
        </p:txBody>
      </p:sp>
      <p:sp>
        <p:nvSpPr>
          <p:cNvPr id="4" name="Slide Number Placeholder 3"/>
          <p:cNvSpPr>
            <a:spLocks noGrp="1"/>
          </p:cNvSpPr>
          <p:nvPr>
            <p:ph type="sldNum" sz="quarter" idx="5"/>
          </p:nvPr>
        </p:nvSpPr>
        <p:spPr/>
        <p:txBody>
          <a:bodyPr/>
          <a:lstStyle/>
          <a:p>
            <a:fld id="{439013DD-48EE-4805-996F-E4FEDDB474DC}" type="slidenum">
              <a:t>6</a:t>
            </a:fld>
            <a:endParaRPr lang="en-US"/>
          </a:p>
        </p:txBody>
      </p:sp>
    </p:spTree>
    <p:extLst>
      <p:ext uri="{BB962C8B-B14F-4D97-AF65-F5344CB8AC3E}">
        <p14:creationId xmlns:p14="http://schemas.microsoft.com/office/powerpoint/2010/main" val="3715550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EEGdenoiseNet paper focuses primarily on two major physiological artifact types: ocular artifacts and muscular, or myogenic, artifacts. Ocular artifacts are caused by eye blinks and eye movements, which generate strong electrical potentials due to the dipole formed by the cornea and retina. These artifacts typically appear as large-amplitude, low-frequency deflections, most prominently in frontal EEG channels such as Fp1 and Fp2. Muscular artifacts, on the other hand, originate from electrical activity in muscles of the face, jaw, neck, or scalp. They tend to have a broad frequency spectrum and often contribute high-frequency components that overlap with neural beta and gamma bands, making them particularly difficult to remove using simple frequency-based filters. Zhang et al. review several traditional artifact-removal approaches, including regression-based correction using reference channels, adaptive filtering techniques that adjust filter parameters over time, and blind source separation (BSS) methods such as independent component analysis (ICA). However, the main emphasis of the paper is on deep learning approaches. The authors benchmark multiple neural network architectures, including fully connected neural networks, convolutional neural networks, residual convolutional networks, and recurrent neural networks with long short-term memory units. These models learn a direct mapping from contaminated EEG to clean EEG in a supervised manner. The results demonstrate that deep learning methods can outperform traditional techniques under controlled conditions, particularly when sufficient training data are available. This paper therefore illustrates both the potential and the limitations of data-driven EEG denoising, highlighting the importance of matching algorithm complexity with dataset quality and size.</a:t>
            </a:r>
          </a:p>
        </p:txBody>
      </p:sp>
      <p:sp>
        <p:nvSpPr>
          <p:cNvPr id="4" name="Slide Number Placeholder 3"/>
          <p:cNvSpPr>
            <a:spLocks noGrp="1"/>
          </p:cNvSpPr>
          <p:nvPr>
            <p:ph type="sldNum" sz="quarter" idx="5"/>
          </p:nvPr>
        </p:nvSpPr>
        <p:spPr/>
        <p:txBody>
          <a:bodyPr/>
          <a:lstStyle/>
          <a:p>
            <a:fld id="{439013DD-48EE-4805-996F-E4FEDDB474DC}" type="slidenum">
              <a:t>7</a:t>
            </a:fld>
            <a:endParaRPr lang="en-US"/>
          </a:p>
        </p:txBody>
      </p:sp>
    </p:spTree>
    <p:extLst>
      <p:ext uri="{BB962C8B-B14F-4D97-AF65-F5344CB8AC3E}">
        <p14:creationId xmlns:p14="http://schemas.microsoft.com/office/powerpoint/2010/main" val="28140666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Challenges of Artifact Removal in Newborn EEG, NEAR Pipeline: LOF-Based Channel Detection and ASR</a:t>
            </a:r>
          </a:p>
        </p:txBody>
      </p:sp>
      <p:sp>
        <p:nvSpPr>
          <p:cNvPr id="4" name="Slide Number Placeholder 3"/>
          <p:cNvSpPr>
            <a:spLocks noGrp="1"/>
          </p:cNvSpPr>
          <p:nvPr>
            <p:ph type="sldNum" sz="quarter" idx="5"/>
          </p:nvPr>
        </p:nvSpPr>
        <p:spPr/>
        <p:txBody>
          <a:bodyPr/>
          <a:lstStyle/>
          <a:p>
            <a:fld id="{439013DD-48EE-4805-996F-E4FEDDB474DC}" type="slidenum">
              <a:t>8</a:t>
            </a:fld>
            <a:endParaRPr lang="en-US"/>
          </a:p>
        </p:txBody>
      </p:sp>
    </p:spTree>
    <p:extLst>
      <p:ext uri="{BB962C8B-B14F-4D97-AF65-F5344CB8AC3E}">
        <p14:creationId xmlns:p14="http://schemas.microsoft.com/office/powerpoint/2010/main" val="37263619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Kumaravel et al. (2022) focus on a particularly challenging EEG application: recordings from human newborns. Newborn EEG differs substantially from adult laboratory EEG in several important ways. First, recordings are typically short because infants cannot remain still or attentive for long periods. Second, newborns move unpredictably, producing frequent and often severe artifacts due to head movement, limb movement, frowning, sucking, or changes in posture. Third, electrode contact is often unstable, leading to bad or flat channels and sudden amplitude jumps. A key concept emphasized in this paper is that many newborn artifacts are non-stereotyped. Unlike eye blinks in adults, which tend to have a consistent shape and spatial distribution, newborn movement artifacts can vary widely from event to event. This variability reduces the effectiveness of traditional ICA-based methods, which rely on repeated, statistically independent sources. As a result, standard adult EEG preprocessing pipelines often perform poorly on newborn data. The authors argue that artifact removal in this context must be robust, adaptive, and capable of handling transient, high-amplitude disturbances without relying heavily on assumptions about artifact structure. This motivation leads to the development of NEAR, a dedicated preprocessing pipeline tailored specifically to the characteristics of newborn EEG. In the broader literature overview, this paper highlights the importance of adapting artifact-removal strategies to the population and recording conditions, rather than assuming that a single adult-oriented pipeline will generalize to all EEG scenarios.</a:t>
            </a:r>
          </a:p>
        </p:txBody>
      </p:sp>
      <p:sp>
        <p:nvSpPr>
          <p:cNvPr id="4" name="Slide Number Placeholder 3"/>
          <p:cNvSpPr>
            <a:spLocks noGrp="1"/>
          </p:cNvSpPr>
          <p:nvPr>
            <p:ph type="sldNum" sz="quarter" idx="5"/>
          </p:nvPr>
        </p:nvSpPr>
        <p:spPr/>
        <p:txBody>
          <a:bodyPr/>
          <a:lstStyle/>
          <a:p>
            <a:fld id="{439013DD-48EE-4805-996F-E4FEDDB474DC}" type="slidenum">
              <a:t>9</a:t>
            </a:fld>
            <a:endParaRPr lang="en-US"/>
          </a:p>
        </p:txBody>
      </p:sp>
    </p:spTree>
    <p:extLst>
      <p:ext uri="{BB962C8B-B14F-4D97-AF65-F5344CB8AC3E}">
        <p14:creationId xmlns:p14="http://schemas.microsoft.com/office/powerpoint/2010/main" val="32553569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NEAR pipeline, which stands for Newborn EEG Artifact Removal, is designed as a complete, multi-step preprocessing workflow rather than a single algorithm. A central component of NEAR is automatic bad-channel detection using the Local Outlier Factor (LOF) algorithm. LOF is an unsupervised, density-based outlier detection method that identifies data points—or, in this case, EEG channels—that behave very differently from their neighbors. Channels with abnormal amplitude distributions, excessive noise, or flat signals are flagged as outliers and marked as bad. This approach is more adaptive than simple global thresholding, which can be too strict or too lenient in noisy newborn recordings. After bad channels are identified, NEAR applies Artifact Subspace Reconstruction (ASR) to address transient, high-amplitude artifacts. ASR works by learning the statistical properties of relatively clean EEG data and then identifying time windows or subspaces that deviate strongly from this reference. These contaminated segments can be corrected or removed, depending on parameter settings. A critical parameter in ASR is the cutoff value, often denoted as k, which controls how aggressively artifacts are removed. Kumaravel et al. emphasize that this parameter must be calibrated for the specific dataset and population, as default values may not be appropriate for newborn EEG. Following ASR, bad channels are interpolated using neighboring electrodes, and the data are re-referenced. The NEAR pipeline demonstrates that effective artifact removal requires coordinated handling of channel quality, transient artifacts, and signal reconstruction.</a:t>
            </a:r>
          </a:p>
        </p:txBody>
      </p:sp>
      <p:sp>
        <p:nvSpPr>
          <p:cNvPr id="4" name="Slide Number Placeholder 3"/>
          <p:cNvSpPr>
            <a:spLocks noGrp="1"/>
          </p:cNvSpPr>
          <p:nvPr>
            <p:ph type="sldNum" sz="quarter" idx="5"/>
          </p:nvPr>
        </p:nvSpPr>
        <p:spPr/>
        <p:txBody>
          <a:bodyPr/>
          <a:lstStyle/>
          <a:p>
            <a:fld id="{439013DD-48EE-4805-996F-E4FEDDB474DC}" type="slidenum">
              <a:t>10</a:t>
            </a:fld>
            <a:endParaRPr lang="en-US"/>
          </a:p>
        </p:txBody>
      </p:sp>
    </p:spTree>
    <p:extLst>
      <p:ext uri="{BB962C8B-B14F-4D97-AF65-F5344CB8AC3E}">
        <p14:creationId xmlns:p14="http://schemas.microsoft.com/office/powerpoint/2010/main" val="29800148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Wearable EEG: Artifact Taxonomy and Challenges, Methods and Evaluation Metrics in Wearable EEG Studies</a:t>
            </a:r>
          </a:p>
        </p:txBody>
      </p:sp>
      <p:sp>
        <p:nvSpPr>
          <p:cNvPr id="4" name="Slide Number Placeholder 3"/>
          <p:cNvSpPr>
            <a:spLocks noGrp="1"/>
          </p:cNvSpPr>
          <p:nvPr>
            <p:ph type="sldNum" sz="quarter" idx="5"/>
          </p:nvPr>
        </p:nvSpPr>
        <p:spPr/>
        <p:txBody>
          <a:bodyPr/>
          <a:lstStyle/>
          <a:p>
            <a:fld id="{439013DD-48EE-4805-996F-E4FEDDB474DC}" type="slidenum">
              <a:t>11</a:t>
            </a:fld>
            <a:endParaRPr lang="en-US"/>
          </a:p>
        </p:txBody>
      </p:sp>
    </p:spTree>
    <p:extLst>
      <p:ext uri="{BB962C8B-B14F-4D97-AF65-F5344CB8AC3E}">
        <p14:creationId xmlns:p14="http://schemas.microsoft.com/office/powerpoint/2010/main" val="29359268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Arpaia et al. (2025) present a systematic review of artifact detection and artifact category identification in wearable EEG systems. Wearable EEG differs from traditional laboratory EEG in several fundamental ways. It often relies on dry or semi-wet electrodes, uses fewer channels, and is designed for mobile or real-world environments rather than controlled laboratory settings. These characteristics make wearable EEG more susceptible to artifacts and noise. The review provides a comprehensive taxonomy of artifact types encountered in wearable EEG, including ocular artifacts, muscular artifacts, movement artifacts, instrumental artifacts, cardiac artifacts, and electromagnetic interference such as power-line noise. Ocular artifacts are reported as the most frequently studied category, followed by muscular and movement-related artifacts. Instrumental artifacts, such as electrode displacement or cable movement, are also common in wearable systems due to user motion and less stable electrode attachment. A key insight from the review is that many methods focus on detecting whether data are contaminated, but relatively few attempt to identify the specific artifact category. This distinction is important because knowing the artifact type can inform the choice of removal method. For example, power-line noise can be addressed with a notch filter, while movement artifacts may require ASR or sensor-assisted approaches. The paper emphasizes that wearable EEG introduces constraints—such as low channel count—that limit the applicability of traditional source separation techniques, motivating the need for adaptive and lightweight algorithms.</a:t>
            </a:r>
          </a:p>
        </p:txBody>
      </p:sp>
      <p:sp>
        <p:nvSpPr>
          <p:cNvPr id="4" name="Slide Number Placeholder 3"/>
          <p:cNvSpPr>
            <a:spLocks noGrp="1"/>
          </p:cNvSpPr>
          <p:nvPr>
            <p:ph type="sldNum" sz="quarter" idx="5"/>
          </p:nvPr>
        </p:nvSpPr>
        <p:spPr/>
        <p:txBody>
          <a:bodyPr/>
          <a:lstStyle/>
          <a:p>
            <a:fld id="{439013DD-48EE-4805-996F-E4FEDDB474DC}" type="slidenum">
              <a:t>12</a:t>
            </a:fld>
            <a:endParaRPr lang="en-US"/>
          </a:p>
        </p:txBody>
      </p:sp>
    </p:spTree>
    <p:extLst>
      <p:ext uri="{BB962C8B-B14F-4D97-AF65-F5344CB8AC3E}">
        <p14:creationId xmlns:p14="http://schemas.microsoft.com/office/powerpoint/2010/main" val="22680819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addition to artifact taxonomy, Arpaia et al. systematically categorize the algorithmic approaches and evaluation metrics used in wearable EEG artifact studies. Method families include traditional filtering techniques, such as band-pass and notch filtering, blind source separation methods like ICA and canonical correlation analysis, signal decomposition approaches including discrete and stationary wavelet transforms and empirical mode decomposition, ASR-based methods and their variants, and machine learning or deep learning models. The review highlights that ASR and wavelet-based techniques are particularly popular for handling movement and non-stationary artifacts in wearable EEG. On the evaluation side, the authors note a lack of standardization across studies. Common accuracy metrics include root-mean-square error, relative RMS error, mean absolute error, and signal-to-noise ratio. Selectivity metrics such as correlation coefficients, coherence, and mutual information are also used to assess how well neural information is preserved. Classification-based metrics, including accuracy, F1-score, true positive rate, and area under the curve, are employed when artifact detection is framed as a classification problem. Operational metrics, such as computational latency and power consumption, are especially relevant for wearable and real-time applications. The review concludes that inconsistent evaluation practices make it difficult to directly compare methods across studies, underscoring the need for clearer benchmarks and reporting standards in the field.</a:t>
            </a:r>
          </a:p>
        </p:txBody>
      </p:sp>
      <p:sp>
        <p:nvSpPr>
          <p:cNvPr id="4" name="Slide Number Placeholder 3"/>
          <p:cNvSpPr>
            <a:spLocks noGrp="1"/>
          </p:cNvSpPr>
          <p:nvPr>
            <p:ph type="sldNum" sz="quarter" idx="5"/>
          </p:nvPr>
        </p:nvSpPr>
        <p:spPr/>
        <p:txBody>
          <a:bodyPr/>
          <a:lstStyle/>
          <a:p>
            <a:fld id="{439013DD-48EE-4805-996F-E4FEDDB474DC}" type="slidenum">
              <a:t>13</a:t>
            </a:fld>
            <a:endParaRPr lang="en-US"/>
          </a:p>
        </p:txBody>
      </p:sp>
    </p:spTree>
    <p:extLst>
      <p:ext uri="{BB962C8B-B14F-4D97-AF65-F5344CB8AC3E}">
        <p14:creationId xmlns:p14="http://schemas.microsoft.com/office/powerpoint/2010/main" val="23376802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Hybrid Pipeline Using SOBI, Nonlinear Dynamics, and Machine Learning, Stationary Wavelet Transform and Key Lessons</a:t>
            </a:r>
          </a:p>
        </p:txBody>
      </p:sp>
      <p:sp>
        <p:nvSpPr>
          <p:cNvPr id="4" name="Slide Number Placeholder 3"/>
          <p:cNvSpPr>
            <a:spLocks noGrp="1"/>
          </p:cNvSpPr>
          <p:nvPr>
            <p:ph type="sldNum" sz="quarter" idx="5"/>
          </p:nvPr>
        </p:nvSpPr>
        <p:spPr/>
        <p:txBody>
          <a:bodyPr/>
          <a:lstStyle/>
          <a:p>
            <a:fld id="{439013DD-48EE-4805-996F-E4FEDDB474DC}" type="slidenum">
              <a:t>14</a:t>
            </a:fld>
            <a:endParaRPr lang="en-US"/>
          </a:p>
        </p:txBody>
      </p:sp>
    </p:spTree>
    <p:extLst>
      <p:ext uri="{BB962C8B-B14F-4D97-AF65-F5344CB8AC3E}">
        <p14:creationId xmlns:p14="http://schemas.microsoft.com/office/powerpoint/2010/main" val="14470903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Zangeneh Soroush et al. (2022) propose a technically sophisticated hybrid method for EEG artifact removal that combines signal processing, nonlinear dynamics, and machine learning. The method begins with source separation using Second-Order Blind Identification (SOBI), a blind source separation technique that exploits second-order statistics and time-lagged covariance matrices to decompose multi-channel EEG into source components. SOBI is chosen for its computational efficiency and suitability for EEG data. After source separation, the authors focus on automatically identifying which components are artifactual. To do this, they reconstruct the phase space of each component, capturing its nonlinear dynamical behavior, and derive an angle-space representation that encodes geometric relationships between points in the phase space. From this representation, a variety of features are extracted, including statistical measures and counts of intersections with predefined Poincaré planes. These features are then fed into several machine learning classifiers, such as multi-layer perceptrons, k-nearest neighbors, naïve Bayes classifiers, support vector machines, and ensemble models. The authors evaluate both multi-class classification, which attempts to distinguish specific artifact types, and binary classification, which simply separates neural from artifactual components. The results show that binary classification is more reliable, achieving high accuracy across simulated and real datasets.</a:t>
            </a:r>
          </a:p>
        </p:txBody>
      </p:sp>
      <p:sp>
        <p:nvSpPr>
          <p:cNvPr id="4" name="Slide Number Placeholder 3"/>
          <p:cNvSpPr>
            <a:spLocks noGrp="1"/>
          </p:cNvSpPr>
          <p:nvPr>
            <p:ph type="sldNum" sz="quarter" idx="5"/>
          </p:nvPr>
        </p:nvSpPr>
        <p:spPr/>
        <p:txBody>
          <a:bodyPr/>
          <a:lstStyle/>
          <a:p>
            <a:fld id="{439013DD-48EE-4805-996F-E4FEDDB474DC}" type="slidenum">
              <a:t>15</a:t>
            </a:fld>
            <a:endParaRPr lang="en-US"/>
          </a:p>
        </p:txBody>
      </p:sp>
    </p:spTree>
    <p:extLst>
      <p:ext uri="{BB962C8B-B14F-4D97-AF65-F5344CB8AC3E}">
        <p14:creationId xmlns:p14="http://schemas.microsoft.com/office/powerpoint/2010/main" val="39551690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distinctive aspect of the method by Zangeneh Soroush et al. is the use of the Stationary Wavelet Transform (SWT) to suppress artifacts in identified artifactual components. Instead of completely removing these components—which risks discarding leaked neural information—the authors apply SWT-based denoising. SWT decomposes a signal into multiple scales without downsampling, preserving temporal alignment. Using a Haar wavelet, multiple decomposition levels, and soft thresholding, the method attenuates artifact-related subbands while retaining finer neural details. After denoising the artifactual components, the EEG is reconstructed using the inverse mixing process. The authors evaluate their approach on simulated, semi-simulated, and real EEG data, employing a wide range of metrics including classification accuracy, relative RMS error, spectral measures, correlation coefficients, mutual information, and visual inspection of power spectral density and topographic maps. The key lesson from this paper is that artifact removal should not automatically equate to component deletion. Instead, careful suppression and reconstruction can better preserve neural information. However, the authors also acknowledge limitations: the method requires sufficient channel count for source separation and is best suited for stereotyped biological artifacts rather than highly irregular movement artifacts. This paper provides an advanced example of how multiple techniques can be integrated into a single automated pipeline.</a:t>
            </a:r>
          </a:p>
        </p:txBody>
      </p:sp>
      <p:sp>
        <p:nvSpPr>
          <p:cNvPr id="4" name="Slide Number Placeholder 3"/>
          <p:cNvSpPr>
            <a:spLocks noGrp="1"/>
          </p:cNvSpPr>
          <p:nvPr>
            <p:ph type="sldNum" sz="quarter" idx="5"/>
          </p:nvPr>
        </p:nvSpPr>
        <p:spPr/>
        <p:txBody>
          <a:bodyPr/>
          <a:lstStyle/>
          <a:p>
            <a:fld id="{439013DD-48EE-4805-996F-E4FEDDB474DC}" type="slidenum">
              <a:t>16</a:t>
            </a:fld>
            <a:endParaRPr lang="en-US"/>
          </a:p>
        </p:txBody>
      </p:sp>
    </p:spTree>
    <p:extLst>
      <p:ext uri="{BB962C8B-B14F-4D97-AF65-F5344CB8AC3E}">
        <p14:creationId xmlns:p14="http://schemas.microsoft.com/office/powerpoint/2010/main" val="30902997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with Picture">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7223309"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4974183" cy="2624418"/>
          </a:xfrm>
        </p:spPr>
        <p:txBody>
          <a:bodyPr vert="horz" lIns="91440" tIns="45720" rIns="91440" bIns="45720" rtlCol="0" anchor="t">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4312625"/>
            <a:ext cx="4974183" cy="1065807"/>
          </a:xfrm>
        </p:spPr>
        <p:txBody>
          <a:bodyPr vert="horz" lIns="91440" tIns="45720" rIns="91440" bIns="45720" rtlCol="0" anchor="b">
            <a:normAutofit/>
          </a:bodyPr>
          <a:lstStyle>
            <a:lvl1pPr marL="0" indent="0">
              <a:buNone/>
              <a:defRPr lang="en-US" sz="1600" cap="all" baseline="0" dirty="0"/>
            </a:lvl1pPr>
          </a:lstStyle>
          <a:p>
            <a:pPr lvl="0"/>
            <a:r>
              <a:rPr lang="en-US"/>
              <a:t>Click to edit Master subtitle style</a:t>
            </a:r>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7238313" y="812266"/>
            <a:ext cx="3829736"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09109883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D8A1486C-62DF-0286-F0FA-6D8E6C8513B7}"/>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p>
        </p:txBody>
      </p:sp>
      <p:sp>
        <p:nvSpPr>
          <p:cNvPr id="7" name="Text Placeholder 2">
            <a:extLst>
              <a:ext uri="{FF2B5EF4-FFF2-40B4-BE49-F238E27FC236}">
                <a16:creationId xmlns:a16="http://schemas.microsoft.com/office/drawing/2014/main" id="{F873A82E-EC69-8912-507C-DA9B307DE6F2}"/>
              </a:ext>
            </a:extLst>
          </p:cNvPr>
          <p:cNvSpPr>
            <a:spLocks noGrp="1"/>
          </p:cNvSpPr>
          <p:nvPr>
            <p:ph idx="1"/>
          </p:nvPr>
        </p:nvSpPr>
        <p:spPr>
          <a:xfrm>
            <a:off x="612647" y="1629786"/>
            <a:ext cx="1096365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0CDC75B5-A903-6188-96C8-F110399607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0" name="Date Placeholder 3">
            <a:extLst>
              <a:ext uri="{FF2B5EF4-FFF2-40B4-BE49-F238E27FC236}">
                <a16:creationId xmlns:a16="http://schemas.microsoft.com/office/drawing/2014/main" id="{B97D771A-54A9-9D83-6EAA-DDC7151C862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2" name="Slide Number Placeholder 5">
            <a:extLst>
              <a:ext uri="{FF2B5EF4-FFF2-40B4-BE49-F238E27FC236}">
                <a16:creationId xmlns:a16="http://schemas.microsoft.com/office/drawing/2014/main" id="{52259B42-FA10-6971-2364-7DC5DFA2DAA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05826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D7E220B-260A-1899-9D05-BB8723A88261}"/>
              </a:ext>
            </a:extLst>
          </p:cNvPr>
          <p:cNvGrpSpPr/>
          <p:nvPr/>
        </p:nvGrpSpPr>
        <p:grpSpPr>
          <a:xfrm>
            <a:off x="6941116" y="366348"/>
            <a:ext cx="4886768" cy="6125303"/>
            <a:chOff x="521210" y="647905"/>
            <a:chExt cx="11365967" cy="5565740"/>
          </a:xfrm>
        </p:grpSpPr>
        <p:sp>
          <p:nvSpPr>
            <p:cNvPr id="5" name="Shape 2">
              <a:extLst>
                <a:ext uri="{FF2B5EF4-FFF2-40B4-BE49-F238E27FC236}">
                  <a16:creationId xmlns:a16="http://schemas.microsoft.com/office/drawing/2014/main" id="{91ECAE7C-A949-93C0-3EB3-0B16C6DAC3B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C0165170-3C5A-515F-1EA4-AA3CB178D565}"/>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77F9E3EB-FD43-A59C-A54A-F11FA9251FDC}"/>
              </a:ext>
            </a:extLst>
          </p:cNvPr>
          <p:cNvSpPr>
            <a:spLocks noGrp="1"/>
          </p:cNvSpPr>
          <p:nvPr>
            <p:ph type="title"/>
          </p:nvPr>
        </p:nvSpPr>
        <p:spPr>
          <a:xfrm>
            <a:off x="7168896" y="1129554"/>
            <a:ext cx="4219626" cy="3475236"/>
          </a:xfrm>
        </p:spPr>
        <p:txBody>
          <a:bodyPr anchor="b">
            <a:normAutofit/>
          </a:bodyPr>
          <a:lstStyle>
            <a:lvl1pPr>
              <a:defRPr sz="4800"/>
            </a:lvl1pPr>
          </a:lstStyle>
          <a:p>
            <a:r>
              <a:rPr lang="en-US"/>
              <a:t>Click to edit Master title style</a:t>
            </a:r>
          </a:p>
        </p:txBody>
      </p:sp>
      <p:sp>
        <p:nvSpPr>
          <p:cNvPr id="15" name="Subtitle 2">
            <a:extLst>
              <a:ext uri="{FF2B5EF4-FFF2-40B4-BE49-F238E27FC236}">
                <a16:creationId xmlns:a16="http://schemas.microsoft.com/office/drawing/2014/main" id="{56AC0B9A-E217-462C-714E-6E5BE5799003}"/>
              </a:ext>
            </a:extLst>
          </p:cNvPr>
          <p:cNvSpPr>
            <a:spLocks noGrp="1"/>
          </p:cNvSpPr>
          <p:nvPr>
            <p:ph type="subTitle" idx="1"/>
          </p:nvPr>
        </p:nvSpPr>
        <p:spPr>
          <a:xfrm>
            <a:off x="7168895" y="4731335"/>
            <a:ext cx="4219626" cy="1184585"/>
          </a:xfrm>
        </p:spPr>
        <p:txBody>
          <a:bodyPr vert="horz" lIns="91440" tIns="45720" rIns="91440" bIns="45720" rtlCol="0" anchor="t">
            <a:normAutofit/>
          </a:bodyPr>
          <a:lstStyle>
            <a:lvl1pPr marL="0" indent="0">
              <a:buNone/>
              <a:defRPr lang="en-US" sz="1600" cap="all" baseline="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cxnSp>
        <p:nvCxnSpPr>
          <p:cNvPr id="12" name="Straight Connector 11">
            <a:extLst>
              <a:ext uri="{FF2B5EF4-FFF2-40B4-BE49-F238E27FC236}">
                <a16:creationId xmlns:a16="http://schemas.microsoft.com/office/drawing/2014/main" id="{AF16905E-92F3-BA17-041B-A2D4BCBF5BB2}"/>
              </a:ext>
            </a:extLst>
          </p:cNvPr>
          <p:cNvCxnSpPr>
            <a:cxnSpLocks/>
          </p:cNvCxnSpPr>
          <p:nvPr userDrawn="1"/>
        </p:nvCxnSpPr>
        <p:spPr>
          <a:xfrm>
            <a:off x="659257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63572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7F24906-AE7E-6354-BEF6-653E4278B8E2}"/>
              </a:ext>
            </a:extLst>
          </p:cNvPr>
          <p:cNvGrpSpPr/>
          <p:nvPr/>
        </p:nvGrpSpPr>
        <p:grpSpPr>
          <a:xfrm>
            <a:off x="365760" y="366348"/>
            <a:ext cx="4886768" cy="6125303"/>
            <a:chOff x="521210" y="647905"/>
            <a:chExt cx="11365967" cy="5565740"/>
          </a:xfrm>
        </p:grpSpPr>
        <p:sp>
          <p:nvSpPr>
            <p:cNvPr id="8" name="Shape 2">
              <a:extLst>
                <a:ext uri="{FF2B5EF4-FFF2-40B4-BE49-F238E27FC236}">
                  <a16:creationId xmlns:a16="http://schemas.microsoft.com/office/drawing/2014/main" id="{97863BD0-3668-62B2-C6F4-BD77D371C35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A731F6E5-8C9E-C424-E6F3-6E6FC4DD5464}"/>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5" name="Title 4">
            <a:extLst>
              <a:ext uri="{FF2B5EF4-FFF2-40B4-BE49-F238E27FC236}">
                <a16:creationId xmlns:a16="http://schemas.microsoft.com/office/drawing/2014/main" id="{1FE1C070-AE3A-DBC9-E7FC-B233E403A44B}"/>
              </a:ext>
            </a:extLst>
          </p:cNvPr>
          <p:cNvSpPr>
            <a:spLocks noGrp="1"/>
          </p:cNvSpPr>
          <p:nvPr>
            <p:ph type="title"/>
          </p:nvPr>
        </p:nvSpPr>
        <p:spPr>
          <a:xfrm>
            <a:off x="593541" y="603503"/>
            <a:ext cx="4235820" cy="3739895"/>
          </a:xfrm>
        </p:spPr>
        <p:txBody>
          <a:bodyPr>
            <a:normAutofit/>
          </a:bodyPr>
          <a:lstStyle>
            <a:lvl1pPr>
              <a:defRPr sz="5200"/>
            </a:lvl1pPr>
          </a:lstStyle>
          <a:p>
            <a:r>
              <a:rPr lang="en-US"/>
              <a:t>Click to edit Master title style</a:t>
            </a:r>
          </a:p>
        </p:txBody>
      </p:sp>
      <p:sp>
        <p:nvSpPr>
          <p:cNvPr id="13" name="Subtitle 2">
            <a:extLst>
              <a:ext uri="{FF2B5EF4-FFF2-40B4-BE49-F238E27FC236}">
                <a16:creationId xmlns:a16="http://schemas.microsoft.com/office/drawing/2014/main" id="{2F9F140D-1A01-09CE-B008-51350362BB32}"/>
              </a:ext>
            </a:extLst>
          </p:cNvPr>
          <p:cNvSpPr>
            <a:spLocks noGrp="1"/>
          </p:cNvSpPr>
          <p:nvPr>
            <p:ph type="subTitle" idx="1"/>
          </p:nvPr>
        </p:nvSpPr>
        <p:spPr>
          <a:xfrm>
            <a:off x="593541" y="4661255"/>
            <a:ext cx="4235820" cy="1380744"/>
          </a:xfrm>
        </p:spPr>
        <p:txBody>
          <a:bodyPr vert="horz" lIns="91440" tIns="45720" rIns="91440" bIns="45720" rtlCol="0" anchor="b">
            <a:normAutofit/>
          </a:bodyPr>
          <a:lstStyle>
            <a:lvl1pPr marL="0" indent="0">
              <a:buNone/>
              <a:defRPr lang="en-US" sz="1800" cap="all" baseline="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613962" y="0"/>
            <a:ext cx="6578038"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cxnSp>
        <p:nvCxnSpPr>
          <p:cNvPr id="10" name="Straight Connector 9">
            <a:extLst>
              <a:ext uri="{FF2B5EF4-FFF2-40B4-BE49-F238E27FC236}">
                <a16:creationId xmlns:a16="http://schemas.microsoft.com/office/drawing/2014/main" id="{E33280CB-6F3A-4AAC-F373-F6910037E871}"/>
              </a:ext>
            </a:extLst>
          </p:cNvPr>
          <p:cNvCxnSpPr>
            <a:cxnSpLocks/>
          </p:cNvCxnSpPr>
          <p:nvPr/>
        </p:nvCxnSpPr>
        <p:spPr>
          <a:xfrm>
            <a:off x="5594712"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689728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8790317"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6699667" cy="2207884"/>
          </a:xfrm>
        </p:spPr>
        <p:txBody>
          <a:bodyPr vert="horz" lIns="91440" tIns="45720" rIns="91440" bIns="45720" rtlCol="0" anchor="b">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3786997"/>
            <a:ext cx="6699665" cy="1591436"/>
          </a:xfrm>
        </p:spPr>
        <p:txBody>
          <a:bodyPr vert="horz" lIns="91440" tIns="45720" rIns="91440" bIns="45720" rtlCol="0" anchor="t">
            <a:normAutofit/>
          </a:bodyPr>
          <a:lstStyle>
            <a:lvl1pPr marL="0" indent="0">
              <a:buNone/>
              <a:defRPr lang="en-US" sz="1600" cap="all" baseline="0" dirty="0"/>
            </a:lvl1pPr>
          </a:lstStyle>
          <a:p>
            <a:pPr lvl="0"/>
            <a:r>
              <a:rPr lang="en-US"/>
              <a:t>Click to edit Master subtitle style</a:t>
            </a:r>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807569" y="812266"/>
            <a:ext cx="2260479"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554081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B67FC65-5AAF-6A23-5752-1C26B207DC72}"/>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043EAAF4-DE2D-970B-4D15-6D36EEAC1744}"/>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496DF73D-E4E2-469F-D426-591823D792A6}"/>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278923" y="874374"/>
            <a:ext cx="9634154" cy="2821728"/>
          </a:xfrm>
        </p:spPr>
        <p:txBody>
          <a:bodyPr anchor="b">
            <a:normAutofit/>
          </a:bodyPr>
          <a:lstStyle>
            <a:lvl1pPr algn="ctr">
              <a:defRPr sz="7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012480" y="4077583"/>
            <a:ext cx="8167040" cy="1717042"/>
          </a:xfrm>
        </p:spPr>
        <p:txBody>
          <a:bodyPr anchor="t">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2974367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E55F6A4-0EE0-72F7-43D5-EB21317D9598}"/>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C4D77848-8CF0-5322-623B-CDF1FE03362C}"/>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sp>
          <p:nvSpPr>
            <p:cNvPr id="6" name="Shape1">
              <a:extLst>
                <a:ext uri="{FF2B5EF4-FFF2-40B4-BE49-F238E27FC236}">
                  <a16:creationId xmlns:a16="http://schemas.microsoft.com/office/drawing/2014/main" id="{677E7171-85EC-575A-EE36-F9950B227D9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grpSp>
      <p:sp>
        <p:nvSpPr>
          <p:cNvPr id="8" name="Title 7">
            <a:extLst>
              <a:ext uri="{FF2B5EF4-FFF2-40B4-BE49-F238E27FC236}">
                <a16:creationId xmlns:a16="http://schemas.microsoft.com/office/drawing/2014/main" id="{BAC83CEA-8EC3-98F1-0078-550B9B56BE91}"/>
              </a:ext>
            </a:extLst>
          </p:cNvPr>
          <p:cNvSpPr>
            <a:spLocks noGrp="1"/>
          </p:cNvSpPr>
          <p:nvPr>
            <p:ph type="title"/>
          </p:nvPr>
        </p:nvSpPr>
        <p:spPr>
          <a:xfrm>
            <a:off x="974845" y="935204"/>
            <a:ext cx="10036005" cy="3592628"/>
          </a:xfrm>
        </p:spPr>
        <p:txBody>
          <a:bodyPr anchor="b">
            <a:normAutofit/>
          </a:bodyPr>
          <a:lstStyle>
            <a:lvl1pPr>
              <a:defRPr sz="7200"/>
            </a:lvl1pPr>
          </a:lstStyle>
          <a:p>
            <a:r>
              <a:rPr lang="en-US"/>
              <a:t>Click to edit Master title style</a:t>
            </a:r>
          </a:p>
        </p:txBody>
      </p:sp>
      <p:sp>
        <p:nvSpPr>
          <p:cNvPr id="11" name="Subtitle 2">
            <a:extLst>
              <a:ext uri="{FF2B5EF4-FFF2-40B4-BE49-F238E27FC236}">
                <a16:creationId xmlns:a16="http://schemas.microsoft.com/office/drawing/2014/main" id="{42BA4ADB-DF4D-29DD-5069-E1950A2F6636}"/>
              </a:ext>
            </a:extLst>
          </p:cNvPr>
          <p:cNvSpPr>
            <a:spLocks noGrp="1"/>
          </p:cNvSpPr>
          <p:nvPr>
            <p:ph type="subTitle" idx="1"/>
          </p:nvPr>
        </p:nvSpPr>
        <p:spPr>
          <a:xfrm>
            <a:off x="974845" y="4698103"/>
            <a:ext cx="10036005" cy="1014984"/>
          </a:xfrm>
        </p:spPr>
        <p:txBody>
          <a:bodyPr vert="horz" lIns="91440" tIns="45720" rIns="91440" bIns="45720" rtlCol="0" anchor="t">
            <a:noAutofit/>
          </a:bodyPr>
          <a:lstStyle>
            <a:lvl1pPr marL="0" indent="0">
              <a:buNone/>
              <a:defRPr lang="en-US" sz="2800" cap="all" baseline="0" dirty="0"/>
            </a:lvl1pPr>
          </a:lstStyle>
          <a:p>
            <a:pPr lvl="0"/>
            <a:r>
              <a:rPr lang="en-US"/>
              <a:t>Click to edit Master subtitle style</a:t>
            </a:r>
          </a:p>
        </p:txBody>
      </p:sp>
    </p:spTree>
    <p:extLst>
      <p:ext uri="{BB962C8B-B14F-4D97-AF65-F5344CB8AC3E}">
        <p14:creationId xmlns:p14="http://schemas.microsoft.com/office/powerpoint/2010/main" val="238435547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3">
    <p:bg>
      <p:bgRef idx="1001">
        <a:schemeClr val="bg1"/>
      </p:bgRef>
    </p:bg>
    <p:spTree>
      <p:nvGrpSpPr>
        <p:cNvPr id="1" name=""/>
        <p:cNvGrpSpPr/>
        <p:nvPr/>
      </p:nvGrpSpPr>
      <p:grpSpPr>
        <a:xfrm>
          <a:off x="0" y="0"/>
          <a:ext cx="0" cy="0"/>
          <a:chOff x="0" y="0"/>
          <a:chExt cx="0" cy="0"/>
        </a:xfrm>
      </p:grpSpPr>
      <p:sp>
        <p:nvSpPr>
          <p:cNvPr id="4" name="Shape 2">
            <a:extLst>
              <a:ext uri="{FF2B5EF4-FFF2-40B4-BE49-F238E27FC236}">
                <a16:creationId xmlns:a16="http://schemas.microsoft.com/office/drawing/2014/main" id="{965F8DDB-78C2-9A91-D69C-2BE7D0DC5F3C}"/>
              </a:ext>
            </a:extLst>
          </p:cNvPr>
          <p:cNvSpPr/>
          <p:nvPr/>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Shape 1">
            <a:extLst>
              <a:ext uri="{FF2B5EF4-FFF2-40B4-BE49-F238E27FC236}">
                <a16:creationId xmlns:a16="http://schemas.microsoft.com/office/drawing/2014/main" id="{F2CE1086-051B-D73D-67CF-8E86D2965B5E}"/>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66900" y="1208585"/>
            <a:ext cx="8229600" cy="2621154"/>
          </a:xfrm>
        </p:spPr>
        <p:txBody>
          <a:bodyPr anchor="b">
            <a:normAutofit/>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87623" y="3929930"/>
            <a:ext cx="7588155" cy="1414091"/>
          </a:xfrm>
        </p:spPr>
        <p:txBody>
          <a:bodyPr>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10965832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309359E1-DCAB-6CB5-49DB-E3E715B038D7}"/>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7" name="Shape 1">
            <a:extLst>
              <a:ext uri="{FF2B5EF4-FFF2-40B4-BE49-F238E27FC236}">
                <a16:creationId xmlns:a16="http://schemas.microsoft.com/office/drawing/2014/main" id="{D92930F3-3A63-5E7D-B558-798DFD2A08F5}"/>
              </a:ext>
            </a:extLst>
          </p:cNvPr>
          <p:cNvSpPr/>
          <p:nvPr/>
        </p:nvSpPr>
        <p:spPr>
          <a:xfrm>
            <a:off x="858371" y="800100"/>
            <a:ext cx="10221119" cy="4953001"/>
          </a:xfrm>
          <a:prstGeom prst="rect">
            <a:avLst/>
          </a:prstGeom>
          <a:solidFill>
            <a:schemeClr val="tx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2013" y="1282325"/>
            <a:ext cx="8893834" cy="3988550"/>
          </a:xfrm>
        </p:spPr>
        <p:txBody>
          <a:bodyPr vert="horz" lIns="91440" tIns="45720" rIns="91440" bIns="45720" rtlCol="0" anchor="ctr">
            <a:normAutofit/>
          </a:bodyPr>
          <a:lstStyle>
            <a:lvl1pPr algn="ctr">
              <a:defRPr lang="en-US" sz="5400" dirty="0">
                <a:solidFill>
                  <a:schemeClr val="bg1"/>
                </a:solidFill>
              </a:defRPr>
            </a:lvl1pPr>
          </a:lstStyle>
          <a:p>
            <a:pPr lvl="0"/>
            <a:r>
              <a:rPr lang="en-US"/>
              <a:t>Section header</a:t>
            </a:r>
          </a:p>
        </p:txBody>
      </p:sp>
      <p:sp>
        <p:nvSpPr>
          <p:cNvPr id="12" name="Footer Placeholder 4">
            <a:extLst>
              <a:ext uri="{FF2B5EF4-FFF2-40B4-BE49-F238E27FC236}">
                <a16:creationId xmlns:a16="http://schemas.microsoft.com/office/drawing/2014/main" id="{99B0FCAC-1DD5-03B7-6568-464B93F97E0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1" name="Date Placeholder 3">
            <a:extLst>
              <a:ext uri="{FF2B5EF4-FFF2-40B4-BE49-F238E27FC236}">
                <a16:creationId xmlns:a16="http://schemas.microsoft.com/office/drawing/2014/main" id="{410DA06E-F976-C917-8034-10D5651419E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7B2B0EFD-25F7-7463-7D6B-AD6B0A8B0FF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8640373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4"/>
        </a:solidFill>
        <a:effectLst/>
      </p:bgPr>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8B3FAB4B-5BE6-36A5-AC57-A8A4DE80EDF0}"/>
              </a:ext>
            </a:extLst>
          </p:cNvPr>
          <p:cNvSpPr/>
          <p:nvPr userDrawn="1"/>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4" name="Shape 1">
            <a:extLst>
              <a:ext uri="{FF2B5EF4-FFF2-40B4-BE49-F238E27FC236}">
                <a16:creationId xmlns:a16="http://schemas.microsoft.com/office/drawing/2014/main" id="{455D774B-5A74-ECBA-B23F-FDB73925D455}"/>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80331" y="1525905"/>
            <a:ext cx="8838202" cy="846396"/>
          </a:xfrm>
        </p:spPr>
        <p:txBody>
          <a:bodyPr anchor="b">
            <a:normAutofit/>
          </a:bodyPr>
          <a:lstStyle>
            <a:lvl1pPr>
              <a:defRPr sz="44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80332" y="2650524"/>
            <a:ext cx="8838202" cy="2386352"/>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327C2936-23FD-A202-FEC8-A04EC6038E21}"/>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A74C11B4-B6D5-47F5-335E-A913C2501ED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040C422B-2C69-102F-F573-37A60C6CA35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615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4"/>
        </a:solid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8CA9E58B-E51C-E405-905F-70ADA8DA97C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5981630" y="787402"/>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563974" y="1339060"/>
            <a:ext cx="3927674" cy="794540"/>
          </a:xfrm>
        </p:spPr>
        <p:txBody>
          <a:bodyPr vert="horz" lIns="91440" tIns="45720" rIns="91440" bIns="45720" rtlCol="0" anchor="t">
            <a:normAutofit/>
          </a:bodyPr>
          <a:lstStyle>
            <a:lvl1pPr>
              <a:defRPr lang="en-US" sz="4800" dirty="0"/>
            </a:lvl1pPr>
          </a:lstStyle>
          <a:p>
            <a:pPr lvl="0"/>
            <a:r>
              <a:rPr lang="en-US"/>
              <a:t>Agenda</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62056" y="2430700"/>
            <a:ext cx="3927674" cy="2947733"/>
          </a:xfrm>
        </p:spPr>
        <p:txBody>
          <a:bodyPr vert="horz" lIns="91440" tIns="45720" rIns="91440" bIns="45720" rtlCol="0" anchor="t">
            <a:normAutofit/>
          </a:bodyPr>
          <a:lstStyle>
            <a:lvl1pPr marL="0" indent="0">
              <a:buNone/>
              <a:defRPr lang="en-US" sz="1600" dirty="0"/>
            </a:lvl1pPr>
          </a:lstStyle>
          <a:p>
            <a:pPr lvl="0"/>
            <a:r>
              <a:rPr lang="en-US"/>
              <a:t>Click to edit Master subtitle style</a:t>
            </a:r>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72663" y="812266"/>
            <a:ext cx="5096260" cy="4928136"/>
          </a:xfrm>
          <a:blipFill>
            <a:blip r:embed="rId2">
              <a:alphaModFix amt="70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a:t> </a:t>
            </a:r>
          </a:p>
        </p:txBody>
      </p:sp>
      <p:sp>
        <p:nvSpPr>
          <p:cNvPr id="8" name="Footer Placeholder 4">
            <a:extLst>
              <a:ext uri="{FF2B5EF4-FFF2-40B4-BE49-F238E27FC236}">
                <a16:creationId xmlns:a16="http://schemas.microsoft.com/office/drawing/2014/main" id="{E01417BD-FFDA-56B8-4551-B115E221D4D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58EBB8A5-D4C6-548F-819A-FE7750FBFDD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801971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bg>
      <p:bgRef idx="1001">
        <a:schemeClr val="bg1"/>
      </p:bgRef>
    </p:bg>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7744A8A6-B09A-3C25-2DA9-92129860EDBD}"/>
              </a:ext>
            </a:extLst>
          </p:cNvPr>
          <p:cNvGrpSpPr/>
          <p:nvPr/>
        </p:nvGrpSpPr>
        <p:grpSpPr>
          <a:xfrm>
            <a:off x="858371" y="1538141"/>
            <a:ext cx="5594950" cy="3781718"/>
            <a:chOff x="521208" y="647905"/>
            <a:chExt cx="11365969" cy="5565740"/>
          </a:xfrm>
        </p:grpSpPr>
        <p:sp>
          <p:nvSpPr>
            <p:cNvPr id="36" name="Shape">
              <a:extLst>
                <a:ext uri="{FF2B5EF4-FFF2-40B4-BE49-F238E27FC236}">
                  <a16:creationId xmlns:a16="http://schemas.microsoft.com/office/drawing/2014/main" id="{18600D5A-4CF6-D9F9-1A3A-5136CC2CE45D}"/>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37" name="Shape">
              <a:extLst>
                <a:ext uri="{FF2B5EF4-FFF2-40B4-BE49-F238E27FC236}">
                  <a16:creationId xmlns:a16="http://schemas.microsoft.com/office/drawing/2014/main" id="{69249D5A-EA70-0210-8234-7481C00A91D0}"/>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9F42DEFD-DF95-ABA5-F5E7-97EE2BC38A02}"/>
              </a:ext>
            </a:extLst>
          </p:cNvPr>
          <p:cNvSpPr>
            <a:spLocks noGrp="1"/>
          </p:cNvSpPr>
          <p:nvPr>
            <p:ph type="title"/>
          </p:nvPr>
        </p:nvSpPr>
        <p:spPr>
          <a:xfrm>
            <a:off x="1305332" y="2009984"/>
            <a:ext cx="4515599" cy="2692020"/>
          </a:xfrm>
        </p:spPr>
        <p:txBody>
          <a:bodyPr anchor="ct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7028878" y="2129872"/>
            <a:ext cx="4304752" cy="2454797"/>
          </a:xfrm>
        </p:spPr>
        <p:txBody>
          <a:bodyPr anchor="ct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4">
            <a:extLst>
              <a:ext uri="{FF2B5EF4-FFF2-40B4-BE49-F238E27FC236}">
                <a16:creationId xmlns:a16="http://schemas.microsoft.com/office/drawing/2014/main" id="{E1BCE18F-7F76-B015-517A-B218F96C3D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D4B1BEB0-0A50-8032-92AF-CE95330EA0A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65677150-7CBF-C5C3-D369-2021EB4B3F0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92132847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E7B2878-E57A-BF28-CA0B-25C595B6B23B}"/>
              </a:ext>
            </a:extLst>
          </p:cNvPr>
          <p:cNvGrpSpPr/>
          <p:nvPr/>
        </p:nvGrpSpPr>
        <p:grpSpPr>
          <a:xfrm>
            <a:off x="858371" y="971570"/>
            <a:ext cx="4956175" cy="4914861"/>
            <a:chOff x="521208" y="647905"/>
            <a:chExt cx="11365969" cy="5565740"/>
          </a:xfrm>
        </p:grpSpPr>
        <p:sp>
          <p:nvSpPr>
            <p:cNvPr id="7" name="Shape">
              <a:extLst>
                <a:ext uri="{FF2B5EF4-FFF2-40B4-BE49-F238E27FC236}">
                  <a16:creationId xmlns:a16="http://schemas.microsoft.com/office/drawing/2014/main" id="{F08FFA22-A55A-8523-9665-963EF8BF5CEE}"/>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249E8B92-9DA1-2B88-C923-D1B15EB00E1E}"/>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B7E33A4B-2075-9CF4-BC69-F5E43B10A54B}"/>
              </a:ext>
            </a:extLst>
          </p:cNvPr>
          <p:cNvSpPr>
            <a:spLocks noGrp="1"/>
          </p:cNvSpPr>
          <p:nvPr>
            <p:ph type="title"/>
          </p:nvPr>
        </p:nvSpPr>
        <p:spPr>
          <a:xfrm>
            <a:off x="1307592" y="1478826"/>
            <a:ext cx="3846237" cy="3744148"/>
          </a:xfrm>
        </p:spPr>
        <p:txBody>
          <a:bodyPr anchor="ct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623177" y="1727014"/>
            <a:ext cx="4956175" cy="346121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CD96A57-F4BE-9BFE-192B-8B6BE3EB504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112D03E-A50A-19D0-5987-28EA74509B0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5919D5AA-125E-CB20-B949-8633A826DAD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788998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741D8BB-05AF-A317-C2B4-DC1CB87B9246}"/>
              </a:ext>
            </a:extLst>
          </p:cNvPr>
          <p:cNvGrpSpPr/>
          <p:nvPr/>
        </p:nvGrpSpPr>
        <p:grpSpPr>
          <a:xfrm>
            <a:off x="858371" y="971570"/>
            <a:ext cx="4708425" cy="4914861"/>
            <a:chOff x="521208" y="647905"/>
            <a:chExt cx="10797805" cy="5565740"/>
          </a:xfrm>
        </p:grpSpPr>
        <p:sp>
          <p:nvSpPr>
            <p:cNvPr id="7" name="Shape">
              <a:extLst>
                <a:ext uri="{FF2B5EF4-FFF2-40B4-BE49-F238E27FC236}">
                  <a16:creationId xmlns:a16="http://schemas.microsoft.com/office/drawing/2014/main" id="{D76689D7-5D3E-ECBB-6775-7B400A96F3D7}"/>
                </a:ext>
              </a:extLst>
            </p:cNvPr>
            <p:cNvSpPr/>
            <p:nvPr/>
          </p:nvSpPr>
          <p:spPr>
            <a:xfrm>
              <a:off x="725405" y="1009217"/>
              <a:ext cx="10593608"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93638B9C-5DAA-F32E-C1B3-8B5DF702E8BE}"/>
                </a:ext>
              </a:extLst>
            </p:cNvPr>
            <p:cNvSpPr/>
            <p:nvPr/>
          </p:nvSpPr>
          <p:spPr>
            <a:xfrm>
              <a:off x="521208" y="647905"/>
              <a:ext cx="10441168"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84027933-14DD-AC05-2EC9-CE1166FE7EDB}"/>
              </a:ext>
            </a:extLst>
          </p:cNvPr>
          <p:cNvSpPr>
            <a:spLocks noGrp="1"/>
          </p:cNvSpPr>
          <p:nvPr>
            <p:ph type="title"/>
          </p:nvPr>
        </p:nvSpPr>
        <p:spPr>
          <a:xfrm>
            <a:off x="1307593" y="1478826"/>
            <a:ext cx="3647180" cy="3744148"/>
          </a:xfrm>
        </p:spPr>
        <p:txBody>
          <a:bodyPr anchor="ct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379486" y="971569"/>
            <a:ext cx="5199866" cy="491486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6C4A6CC-4DAE-D6DF-005D-9A746EA3416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C2D53F9-F5D7-A57F-631C-1011FA2D28D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DF767895-A265-B576-2779-D9431696A27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920716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7" name="Shape">
            <a:extLst>
              <a:ext uri="{FF2B5EF4-FFF2-40B4-BE49-F238E27FC236}">
                <a16:creationId xmlns:a16="http://schemas.microsoft.com/office/drawing/2014/main" id="{38F88781-30C8-3349-475F-145EFAD547E5}"/>
              </a:ext>
            </a:extLst>
          </p:cNvPr>
          <p:cNvSpPr/>
          <p:nvPr/>
        </p:nvSpPr>
        <p:spPr>
          <a:xfrm>
            <a:off x="924451" y="1290629"/>
            <a:ext cx="3469803" cy="459580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5C0C482B-4AFD-2FA3-38E4-917E66DA8BB7}"/>
              </a:ext>
            </a:extLst>
          </p:cNvPr>
          <p:cNvSpPr/>
          <p:nvPr/>
        </p:nvSpPr>
        <p:spPr>
          <a:xfrm>
            <a:off x="858371" y="971570"/>
            <a:ext cx="3378902" cy="4742880"/>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Title 1">
            <a:extLst>
              <a:ext uri="{FF2B5EF4-FFF2-40B4-BE49-F238E27FC236}">
                <a16:creationId xmlns:a16="http://schemas.microsoft.com/office/drawing/2014/main" id="{00CC4C23-E507-7EE9-B6A1-7AC512473B88}"/>
              </a:ext>
            </a:extLst>
          </p:cNvPr>
          <p:cNvSpPr>
            <a:spLocks noGrp="1"/>
          </p:cNvSpPr>
          <p:nvPr>
            <p:ph type="title"/>
          </p:nvPr>
        </p:nvSpPr>
        <p:spPr>
          <a:xfrm>
            <a:off x="1305332" y="1388700"/>
            <a:ext cx="2480605" cy="3908620"/>
          </a:xfrm>
        </p:spPr>
        <p:txBody>
          <a:bodyPr anchor="ct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206945" y="796935"/>
            <a:ext cx="6369358" cy="5264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2F846573-B9BF-5258-A368-AE00F48459D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FCD80948-8FBA-8AE9-029C-B469581BC9FE}"/>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7811F34A-A62C-BC8F-113D-3A7AD96EFFF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1524936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10" name="Shape">
            <a:extLst>
              <a:ext uri="{FF2B5EF4-FFF2-40B4-BE49-F238E27FC236}">
                <a16:creationId xmlns:a16="http://schemas.microsoft.com/office/drawing/2014/main" id="{518C51F0-983B-E75D-43D9-AB5A1692E483}"/>
              </a:ext>
            </a:extLst>
          </p:cNvPr>
          <p:cNvSpPr/>
          <p:nvPr/>
        </p:nvSpPr>
        <p:spPr>
          <a:xfrm>
            <a:off x="678727" y="1027243"/>
            <a:ext cx="3469803" cy="296055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4F13FE91-399F-901F-6CF0-0447176EA2EF}"/>
              </a:ext>
            </a:extLst>
          </p:cNvPr>
          <p:cNvSpPr/>
          <p:nvPr/>
        </p:nvSpPr>
        <p:spPr>
          <a:xfrm>
            <a:off x="612647" y="708184"/>
            <a:ext cx="3378902" cy="3101816"/>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Title 1">
            <a:extLst>
              <a:ext uri="{FF2B5EF4-FFF2-40B4-BE49-F238E27FC236}">
                <a16:creationId xmlns:a16="http://schemas.microsoft.com/office/drawing/2014/main" id="{830AF312-BB7E-63CF-42C0-3AAF17BB4CC9}"/>
              </a:ext>
            </a:extLst>
          </p:cNvPr>
          <p:cNvSpPr>
            <a:spLocks noGrp="1"/>
          </p:cNvSpPr>
          <p:nvPr>
            <p:ph type="title"/>
          </p:nvPr>
        </p:nvSpPr>
        <p:spPr>
          <a:xfrm>
            <a:off x="1059609" y="1170994"/>
            <a:ext cx="2474546" cy="2192044"/>
          </a:xfrm>
        </p:spPr>
        <p:txBody>
          <a:bodyPr anchor="ct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13300" y="708184"/>
            <a:ext cx="67630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C75D260-6D49-B6E6-0AF7-CB139EC2E17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CE7449F8-8E08-2E2D-E1DC-B35D55FA98C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B7485ACA-FF2D-E071-ABB4-8D1CBF292DA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0990643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514175"/>
            <a:ext cx="6426389" cy="1315029"/>
          </a:xfrm>
        </p:spPr>
        <p:txBody>
          <a:bodyPr anchor="b"/>
          <a:lstStyle/>
          <a:p>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11894081-07CB-999F-D411-9154D25C9500}"/>
              </a:ext>
            </a:extLst>
          </p:cNvPr>
          <p:cNvCxnSpPr>
            <a:cxnSpLocks/>
          </p:cNvCxnSpPr>
          <p:nvPr/>
        </p:nvCxnSpPr>
        <p:spPr>
          <a:xfrm>
            <a:off x="457108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73022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3319"/>
            <a:ext cx="6339541"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75104"/>
            <a:ext cx="6339414"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a:prstGeom prst="rect">
            <a:avLst/>
          </a:prstGeom>
        </p:spPr>
        <p:txBody>
          <a:bodyPr/>
          <a:lstStyle/>
          <a:p>
            <a:endParaRPr lang="en-US"/>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a:prstGeom prst="rect">
            <a:avLst/>
          </a:prstGeom>
        </p:spPr>
        <p:txBody>
          <a:bodyPr/>
          <a:lstStyle/>
          <a:p>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a:t> </a:t>
            </a:r>
          </a:p>
        </p:txBody>
      </p:sp>
      <p:cxnSp>
        <p:nvCxnSpPr>
          <p:cNvPr id="3" name="Straight Connector 2">
            <a:extLst>
              <a:ext uri="{FF2B5EF4-FFF2-40B4-BE49-F238E27FC236}">
                <a16:creationId xmlns:a16="http://schemas.microsoft.com/office/drawing/2014/main" id="{B316B204-7C08-FBD9-C195-7CBD8936FB7B}"/>
              </a:ext>
            </a:extLst>
          </p:cNvPr>
          <p:cNvCxnSpPr>
            <a:cxnSpLocks/>
          </p:cNvCxnSpPr>
          <p:nvPr/>
        </p:nvCxnSpPr>
        <p:spPr>
          <a:xfrm>
            <a:off x="7614198"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52728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555536"/>
            <a:ext cx="6950232" cy="93268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a:prstGeom prst="rect">
            <a:avLst/>
          </a:prstGeo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5" name="Straight Connector 4">
            <a:extLst>
              <a:ext uri="{FF2B5EF4-FFF2-40B4-BE49-F238E27FC236}">
                <a16:creationId xmlns:a16="http://schemas.microsoft.com/office/drawing/2014/main" id="{8AE22ED6-A6FC-6BAB-A8E5-6EFB749B5EC5}"/>
              </a:ext>
            </a:extLst>
          </p:cNvPr>
          <p:cNvCxnSpPr>
            <a:cxnSpLocks/>
          </p:cNvCxnSpPr>
          <p:nvPr/>
        </p:nvCxnSpPr>
        <p:spPr>
          <a:xfrm>
            <a:off x="403399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30659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2478"/>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11A678A9-441B-21DA-8AA8-66BD33D80407}"/>
              </a:ext>
            </a:extLst>
          </p:cNvPr>
          <p:cNvCxnSpPr>
            <a:cxnSpLocks/>
          </p:cNvCxnSpPr>
          <p:nvPr/>
        </p:nvCxnSpPr>
        <p:spPr>
          <a:xfrm>
            <a:off x="80821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25704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99533"/>
            <a:ext cx="4477512" cy="1328932"/>
          </a:xfrm>
        </p:spPr>
        <p:txBody>
          <a:bodyPr anchor="b">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1975104"/>
            <a:ext cx="447751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lstStyle>
            <a:lvl1pPr>
              <a:defRPr>
                <a:solidFill>
                  <a:schemeClr val="tx1"/>
                </a:solidFill>
                <a:effectLst/>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A54EE92A-D40E-A2FF-476E-83554812296F}"/>
              </a:ext>
            </a:extLst>
          </p:cNvPr>
          <p:cNvCxnSpPr>
            <a:cxnSpLocks/>
          </p:cNvCxnSpPr>
          <p:nvPr/>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3D94575-E64C-2C45-ED82-56D9EFD2AB39}"/>
              </a:ext>
            </a:extLst>
          </p:cNvPr>
          <p:cNvCxnSpPr>
            <a:cxnSpLocks/>
          </p:cNvCxnSpPr>
          <p:nvPr userDrawn="1"/>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8124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538716"/>
            <a:ext cx="4494189" cy="1288169"/>
          </a:xfrm>
        </p:spPr>
        <p:txBody>
          <a:bodyPr anchor="b">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a:prstGeom prst="rect">
            <a:avLst/>
          </a:prstGeo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a:prstGeom prst="rect">
            <a:avLst/>
          </a:prstGeom>
        </p:spPr>
        <p:txBody>
          <a:bodyPr/>
          <a:lstStyle>
            <a:lvl1pPr>
              <a:defRPr>
                <a:solidFill>
                  <a:schemeClr val="tx1"/>
                </a:solidFill>
                <a:effectLst/>
              </a:defRPr>
            </a:lvl1p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1FAD69B9-5A14-83A8-41F7-86017A14E034}"/>
              </a:ext>
            </a:extLst>
          </p:cNvPr>
          <p:cNvCxnSpPr>
            <a:cxnSpLocks/>
          </p:cNvCxnSpPr>
          <p:nvPr/>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C24A26F-E6FC-DE28-35E6-D03BF996DC47}"/>
              </a:ext>
            </a:extLst>
          </p:cNvPr>
          <p:cNvCxnSpPr>
            <a:cxnSpLocks/>
          </p:cNvCxnSpPr>
          <p:nvPr userDrawn="1"/>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87162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00039"/>
            <a:ext cx="3363514" cy="1667226"/>
          </a:xfrm>
        </p:spPr>
        <p:txBody>
          <a:bodyPr anchor="b">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315569"/>
            <a:ext cx="3363513" cy="38546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3B3C7E6A-ACFC-5D7E-62EC-7EDD357DED5D}"/>
              </a:ext>
            </a:extLst>
          </p:cNvPr>
          <p:cNvCxnSpPr>
            <a:cxnSpLocks/>
          </p:cNvCxnSpPr>
          <p:nvPr/>
        </p:nvCxnSpPr>
        <p:spPr>
          <a:xfrm>
            <a:off x="7600186"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92594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500039"/>
            <a:ext cx="3363514" cy="1667226"/>
          </a:xfrm>
        </p:spPr>
        <p:txBody>
          <a:bodyPr anchor="b">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4" y="2315569"/>
            <a:ext cx="3363513"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607856"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F2A89F80-5D6A-4ABF-AB9F-E9B855484CF2}"/>
              </a:ext>
            </a:extLst>
          </p:cNvPr>
          <p:cNvCxnSpPr>
            <a:cxnSpLocks/>
          </p:cNvCxnSpPr>
          <p:nvPr/>
        </p:nvCxnSpPr>
        <p:spPr>
          <a:xfrm>
            <a:off x="459722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38369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90511"/>
            <a:ext cx="2699254" cy="1858941"/>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prstGeom prst="rect">
            <a:avLst/>
          </a:prstGeom>
        </p:spPr>
        <p:txBody>
          <a:bodyPr/>
          <a:lstStyle>
            <a:lvl1pPr>
              <a:defRPr>
                <a:solidFill>
                  <a:schemeClr val="tx1"/>
                </a:solidFill>
                <a:effectLst/>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EC6861E3-1150-D516-3BEE-655B15B4B936}"/>
              </a:ext>
            </a:extLst>
          </p:cNvPr>
          <p:cNvCxnSpPr>
            <a:cxnSpLocks/>
          </p:cNvCxnSpPr>
          <p:nvPr/>
        </p:nvCxnSpPr>
        <p:spPr>
          <a:xfrm>
            <a:off x="83408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10425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90511"/>
            <a:ext cx="2699254" cy="1858941"/>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1404460"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a:prstGeom prst="rect">
            <a:avLst/>
          </a:prstGeom>
        </p:spPr>
        <p:txBody>
          <a:bodyPr/>
          <a:lstStyle>
            <a:lvl1pPr>
              <a:defRPr>
                <a:solidFill>
                  <a:schemeClr val="tx1"/>
                </a:solidFill>
                <a:effectLst/>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a:prstGeom prst="rect">
            <a:avLst/>
          </a:prstGeo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lang="en-US" dirty="0"/>
            </a:lvl1pPr>
          </a:lstStyle>
          <a:p>
            <a:r>
              <a:rPr lang="en-US"/>
              <a:t> </a:t>
            </a:r>
          </a:p>
        </p:txBody>
      </p:sp>
      <p:cxnSp>
        <p:nvCxnSpPr>
          <p:cNvPr id="3" name="Straight Connector 2">
            <a:extLst>
              <a:ext uri="{FF2B5EF4-FFF2-40B4-BE49-F238E27FC236}">
                <a16:creationId xmlns:a16="http://schemas.microsoft.com/office/drawing/2014/main" id="{94B94044-CD6D-BA64-4DAF-CF4588CD625D}"/>
              </a:ext>
            </a:extLst>
          </p:cNvPr>
          <p:cNvCxnSpPr>
            <a:cxnSpLocks/>
          </p:cNvCxnSpPr>
          <p:nvPr/>
        </p:nvCxnSpPr>
        <p:spPr>
          <a:xfrm>
            <a:off x="385504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62028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457610"/>
            <a:ext cx="4019522" cy="1617925"/>
          </a:xfrm>
        </p:spPr>
        <p:txBody>
          <a:bodyPr anchor="t">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1422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10" y="4457611"/>
            <a:ext cx="6426391" cy="161792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9620E07E-3D6A-C86E-678B-DE98A157F07A}"/>
              </a:ext>
            </a:extLst>
          </p:cNvPr>
          <p:cNvCxnSpPr>
            <a:cxnSpLocks/>
          </p:cNvCxnSpPr>
          <p:nvPr/>
        </p:nvCxnSpPr>
        <p:spPr>
          <a:xfrm>
            <a:off x="0" y="414223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08AF9810-922B-05C3-1FAC-78185AB607C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323AD7B9-A665-0D5C-1732-A369FD093C99}"/>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087B8D0A-511A-808A-9972-2B279CED552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2097632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0757"/>
            <a:ext cx="3044954" cy="2245126"/>
          </a:xfrm>
        </p:spPr>
        <p:txBody>
          <a:bodyPr anchor="t">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7"/>
            <a:ext cx="7460029" cy="244384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B58B5EBB-F005-1B2B-24BF-B4DBB49FF96A}"/>
              </a:ext>
            </a:extLst>
          </p:cNvPr>
          <p:cNvCxnSpPr>
            <a:cxnSpLocks/>
          </p:cNvCxnSpPr>
          <p:nvPr/>
        </p:nvCxnSpPr>
        <p:spPr>
          <a:xfrm>
            <a:off x="0" y="3453964"/>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4EE91E5E-1D54-4277-467D-BF89B7943D9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C57E62A-1224-89D2-C4D8-65D8B0271FF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BB0821DC-7B6A-0BDA-7ED9-271E04FA2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2299532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707477"/>
            <a:ext cx="3021873" cy="1773540"/>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707476"/>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a:prstGeom prst="rect">
            <a:avLst/>
          </a:prstGeom>
        </p:spPr>
        <p:txBody>
          <a:bodyPr/>
          <a:lstStyle/>
          <a:p>
            <a:fld id="{AEAA3239-9EA4-4A65-A281-97F994456D9F}"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EB6FCCB7-3844-DE9F-A18B-F5FFF900264C}"/>
              </a:ext>
            </a:extLst>
          </p:cNvPr>
          <p:cNvCxnSpPr>
            <a:cxnSpLocks/>
          </p:cNvCxnSpPr>
          <p:nvPr/>
        </p:nvCxnSpPr>
        <p:spPr>
          <a:xfrm>
            <a:off x="-1" y="362589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04731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838424"/>
            <a:ext cx="4485564" cy="4488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055525"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232969" y="6343955"/>
            <a:ext cx="1449697"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682667" y="6343955"/>
            <a:ext cx="443060" cy="365125"/>
          </a:xfrm>
          <a:prstGeom prst="rect">
            <a:avLst/>
          </a:prstGeom>
        </p:spPr>
        <p:txBody>
          <a:bodyPr/>
          <a:lstStyle/>
          <a:p>
            <a:fld id="{AEAA3239-9EA4-4A65-A281-97F994456D9F}" type="slidenum">
              <a:rPr lang="en-US" smtClean="0"/>
              <a:t>‹#›</a:t>
            </a:fld>
            <a:endParaRPr lang="en-US"/>
          </a:p>
        </p:txBody>
      </p:sp>
      <p:sp>
        <p:nvSpPr>
          <p:cNvPr id="3" name="Shape">
            <a:extLst>
              <a:ext uri="{FF2B5EF4-FFF2-40B4-BE49-F238E27FC236}">
                <a16:creationId xmlns:a16="http://schemas.microsoft.com/office/drawing/2014/main" id="{7D2E59BA-BC78-5994-0E85-6CEE8FE1A2C7}"/>
              </a:ext>
            </a:extLst>
          </p:cNvPr>
          <p:cNvSpPr/>
          <p:nvPr/>
        </p:nvSpPr>
        <p:spPr>
          <a:xfrm>
            <a:off x="5774454" y="2174531"/>
            <a:ext cx="5804899" cy="415206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Picture Placeholder 10">
            <a:extLst>
              <a:ext uri="{FF2B5EF4-FFF2-40B4-BE49-F238E27FC236}">
                <a16:creationId xmlns:a16="http://schemas.microsoft.com/office/drawing/2014/main" id="{7C8527F9-0AAC-2962-54C9-733B06E86439}"/>
              </a:ext>
            </a:extLst>
          </p:cNvPr>
          <p:cNvSpPr>
            <a:spLocks noGrp="1"/>
          </p:cNvSpPr>
          <p:nvPr>
            <p:ph type="pic" sz="quarter" idx="18" hasCustomPrompt="1"/>
          </p:nvPr>
        </p:nvSpPr>
        <p:spPr>
          <a:xfrm>
            <a:off x="5644314" y="1838424"/>
            <a:ext cx="5715205" cy="429232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Tree>
    <p:extLst>
      <p:ext uri="{BB962C8B-B14F-4D97-AF65-F5344CB8AC3E}">
        <p14:creationId xmlns:p14="http://schemas.microsoft.com/office/powerpoint/2010/main" val="2445507727"/>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50FC415C-6548-7A71-9590-9F59EEF87C10}"/>
              </a:ext>
            </a:extLst>
          </p:cNvPr>
          <p:cNvSpPr/>
          <p:nvPr/>
        </p:nvSpPr>
        <p:spPr>
          <a:xfrm>
            <a:off x="5440228" y="2239339"/>
            <a:ext cx="6139125" cy="3880753"/>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113357"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10">
            <a:extLst>
              <a:ext uri="{FF2B5EF4-FFF2-40B4-BE49-F238E27FC236}">
                <a16:creationId xmlns:a16="http://schemas.microsoft.com/office/drawing/2014/main" id="{5013ECA8-A109-DA0B-779F-91413FC01923}"/>
              </a:ext>
            </a:extLst>
          </p:cNvPr>
          <p:cNvSpPr>
            <a:spLocks noGrp="1"/>
          </p:cNvSpPr>
          <p:nvPr>
            <p:ph type="pic" sz="quarter" idx="18" hasCustomPrompt="1"/>
          </p:nvPr>
        </p:nvSpPr>
        <p:spPr>
          <a:xfrm>
            <a:off x="5315252" y="1912398"/>
            <a:ext cx="6044267" cy="401184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lang="en-US" dirty="0"/>
            </a:lvl1pPr>
          </a:lstStyle>
          <a:p>
            <a:r>
              <a:rPr lang="en-US"/>
              <a:t> </a:t>
            </a:r>
          </a:p>
        </p:txBody>
      </p:sp>
      <p:sp>
        <p:nvSpPr>
          <p:cNvPr id="7" name="Footer Placeholder 4">
            <a:extLst>
              <a:ext uri="{FF2B5EF4-FFF2-40B4-BE49-F238E27FC236}">
                <a16:creationId xmlns:a16="http://schemas.microsoft.com/office/drawing/2014/main" id="{F87E7E84-44E5-0E60-3EE3-8737B2A18FA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6" name="Date Placeholder 3">
            <a:extLst>
              <a:ext uri="{FF2B5EF4-FFF2-40B4-BE49-F238E27FC236}">
                <a16:creationId xmlns:a16="http://schemas.microsoft.com/office/drawing/2014/main" id="{38E621FE-7CC2-0C35-A07D-B3FC44FD4C2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A00CB403-B088-E56C-7827-A20ABF5769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5170244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2677956A-C88F-78CB-7428-13BB3FEF3483}"/>
              </a:ext>
            </a:extLst>
          </p:cNvPr>
          <p:cNvSpPr/>
          <p:nvPr/>
        </p:nvSpPr>
        <p:spPr>
          <a:xfrm>
            <a:off x="739739" y="1970410"/>
            <a:ext cx="5804899" cy="434956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7784"/>
            <a:ext cx="10969753" cy="932688"/>
          </a:xfrm>
        </p:spPr>
        <p:txBody>
          <a:bodyPr anchor="b"/>
          <a:lstStyle/>
          <a:p>
            <a:r>
              <a:rPr lang="en-US"/>
              <a:t>Click to edit Master title style</a:t>
            </a:r>
          </a:p>
        </p:txBody>
      </p:sp>
      <p:sp>
        <p:nvSpPr>
          <p:cNvPr id="5" name="Picture Placeholder 10">
            <a:extLst>
              <a:ext uri="{FF2B5EF4-FFF2-40B4-BE49-F238E27FC236}">
                <a16:creationId xmlns:a16="http://schemas.microsoft.com/office/drawing/2014/main" id="{186B2304-4EA6-E2B5-F4F8-D1686841F0A1}"/>
              </a:ext>
            </a:extLst>
          </p:cNvPr>
          <p:cNvSpPr>
            <a:spLocks noGrp="1"/>
          </p:cNvSpPr>
          <p:nvPr>
            <p:ph type="pic" sz="quarter" idx="18" hasCustomPrompt="1"/>
          </p:nvPr>
        </p:nvSpPr>
        <p:spPr>
          <a:xfrm>
            <a:off x="609599" y="1627632"/>
            <a:ext cx="5715205" cy="4496489"/>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627632"/>
            <a:ext cx="4479145" cy="4692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103254" y="6343955"/>
            <a:ext cx="2144113"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989824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D5D7C530-B577-9E02-8A60-5EDBB72006B5}"/>
              </a:ext>
            </a:extLst>
          </p:cNvPr>
          <p:cNvSpPr/>
          <p:nvPr/>
        </p:nvSpPr>
        <p:spPr>
          <a:xfrm>
            <a:off x="675680" y="2516628"/>
            <a:ext cx="4609551" cy="3620904"/>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anchor="t">
            <a:normAutofit/>
          </a:bodyPr>
          <a:lstStyle>
            <a:lvl1pPr>
              <a:defRPr sz="3600"/>
            </a:lvl1pPr>
          </a:lstStyle>
          <a:p>
            <a:r>
              <a:rPr lang="en-US"/>
              <a:t>Click to edit Master title style</a:t>
            </a:r>
          </a:p>
        </p:txBody>
      </p:sp>
      <p:sp>
        <p:nvSpPr>
          <p:cNvPr id="4" name="Picture Placeholder 10">
            <a:extLst>
              <a:ext uri="{FF2B5EF4-FFF2-40B4-BE49-F238E27FC236}">
                <a16:creationId xmlns:a16="http://schemas.microsoft.com/office/drawing/2014/main" id="{4F75EDFE-D268-4D74-752B-6DB079CF1C9C}"/>
              </a:ext>
            </a:extLst>
          </p:cNvPr>
          <p:cNvSpPr>
            <a:spLocks noGrp="1"/>
          </p:cNvSpPr>
          <p:nvPr>
            <p:ph type="pic" sz="quarter" idx="15" hasCustomPrompt="1"/>
          </p:nvPr>
        </p:nvSpPr>
        <p:spPr>
          <a:xfrm>
            <a:off x="609599" y="2173850"/>
            <a:ext cx="4488792" cy="379367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6B72A591-427A-90CA-36AE-C150001B388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9FBD4796-905C-132A-092E-22E9AF1B017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FFED0402-467D-E037-9829-BCC7DE3B8845}"/>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624039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6E70FB67-0F80-BE17-D86B-F8A00D36D16F}"/>
              </a:ext>
            </a:extLst>
          </p:cNvPr>
          <p:cNvSpPr/>
          <p:nvPr/>
        </p:nvSpPr>
        <p:spPr>
          <a:xfrm>
            <a:off x="792041" y="2637923"/>
            <a:ext cx="3529341" cy="3508440"/>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09098"/>
            <a:ext cx="3696859" cy="1316347"/>
          </a:xfrm>
        </p:spPr>
        <p:txBody>
          <a:bodyPr anchor="t">
            <a:no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5960" y="2295145"/>
            <a:ext cx="3436881" cy="367584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709098"/>
            <a:ext cx="6644488" cy="5439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a:extLst>
              <a:ext uri="{FF2B5EF4-FFF2-40B4-BE49-F238E27FC236}">
                <a16:creationId xmlns:a16="http://schemas.microsoft.com/office/drawing/2014/main" id="{82135E48-6254-45C6-7DDB-66AFB41506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DE660DF9-E1C4-5761-5FC3-5D2AEF15370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7BEF33CE-9AB9-2977-453D-017FBD4238B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607976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5" name="Title 9">
            <a:extLst>
              <a:ext uri="{FF2B5EF4-FFF2-40B4-BE49-F238E27FC236}">
                <a16:creationId xmlns:a16="http://schemas.microsoft.com/office/drawing/2014/main" id="{213AB558-35C1-4A44-D31A-525DE98EC36A}"/>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a:t>Click to edit Master title style</a:t>
            </a:r>
          </a:p>
        </p:txBody>
      </p:sp>
      <p:sp>
        <p:nvSpPr>
          <p:cNvPr id="4" name="Content Placeholder 5">
            <a:extLst>
              <a:ext uri="{FF2B5EF4-FFF2-40B4-BE49-F238E27FC236}">
                <a16:creationId xmlns:a16="http://schemas.microsoft.com/office/drawing/2014/main" id="{0A5A92EC-E3FB-31E9-61F0-EE7ECD707D39}"/>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a:t>##%</a:t>
            </a:r>
          </a:p>
        </p:txBody>
      </p:sp>
      <p:sp>
        <p:nvSpPr>
          <p:cNvPr id="8" name="Footer Placeholder 4">
            <a:extLst>
              <a:ext uri="{FF2B5EF4-FFF2-40B4-BE49-F238E27FC236}">
                <a16:creationId xmlns:a16="http://schemas.microsoft.com/office/drawing/2014/main" id="{0772E3F0-624C-9464-9338-4D71D7C1241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DDC64F13-B276-91F5-3FAF-69DAEAF48A4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7A266EE2-59A7-B270-100C-C647392CA5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7696475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accent4"/>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10" name="Title 9">
            <a:extLst>
              <a:ext uri="{FF2B5EF4-FFF2-40B4-BE49-F238E27FC236}">
                <a16:creationId xmlns:a16="http://schemas.microsoft.com/office/drawing/2014/main" id="{CFF24796-27C6-1A14-59BA-1D20CAD01649}"/>
              </a:ext>
            </a:extLst>
          </p:cNvPr>
          <p:cNvSpPr>
            <a:spLocks noGrp="1"/>
          </p:cNvSpPr>
          <p:nvPr>
            <p:ph type="title"/>
          </p:nvPr>
        </p:nvSpPr>
        <p:spPr>
          <a:xfrm>
            <a:off x="1042666" y="4411825"/>
            <a:ext cx="8385556" cy="1500447"/>
          </a:xfrm>
        </p:spPr>
        <p:txBody>
          <a:bodyPr>
            <a:normAutofit/>
          </a:bodyPr>
          <a:lstStyle>
            <a:lvl1pPr>
              <a:lnSpc>
                <a:spcPct val="120000"/>
              </a:lnSpc>
              <a:spcBef>
                <a:spcPts val="1000"/>
              </a:spcBef>
              <a:defRPr sz="2400" cap="all" baseline="0">
                <a:latin typeface="+mn-lt"/>
              </a:defRPr>
            </a:lvl1pPr>
          </a:lstStyle>
          <a:p>
            <a:r>
              <a:rPr lang="en-US"/>
              <a:t>Click to edit Master title style</a:t>
            </a:r>
          </a:p>
        </p:txBody>
      </p:sp>
      <p:sp>
        <p:nvSpPr>
          <p:cNvPr id="6" name="Content Placeholder 5">
            <a:extLst>
              <a:ext uri="{FF2B5EF4-FFF2-40B4-BE49-F238E27FC236}">
                <a16:creationId xmlns:a16="http://schemas.microsoft.com/office/drawing/2014/main" id="{339E7A66-804B-6952-8FF1-16C74E3D536B}"/>
              </a:ext>
            </a:extLst>
          </p:cNvPr>
          <p:cNvSpPr>
            <a:spLocks noGrp="1"/>
          </p:cNvSpPr>
          <p:nvPr>
            <p:ph sz="quarter" idx="10" hasCustomPrompt="1"/>
          </p:nvPr>
        </p:nvSpPr>
        <p:spPr>
          <a:xfrm>
            <a:off x="1042666" y="731564"/>
            <a:ext cx="9918700" cy="3680261"/>
          </a:xfrm>
        </p:spPr>
        <p:txBody>
          <a:bodyPr anchor="b">
            <a:noAutofit/>
          </a:bodyPr>
          <a:lstStyle>
            <a:lvl1pPr marL="0" indent="0">
              <a:lnSpc>
                <a:spcPct val="90000"/>
              </a:lnSpc>
              <a:buNone/>
              <a:defRPr sz="23200">
                <a:latin typeface="+mj-lt"/>
              </a:defRPr>
            </a:lvl1pPr>
          </a:lstStyle>
          <a:p>
            <a:pPr lvl="0"/>
            <a:r>
              <a:rPr lang="en-US"/>
              <a:t>##%</a:t>
            </a:r>
          </a:p>
        </p:txBody>
      </p:sp>
      <p:sp>
        <p:nvSpPr>
          <p:cNvPr id="8" name="Footer Placeholder 4">
            <a:extLst>
              <a:ext uri="{FF2B5EF4-FFF2-40B4-BE49-F238E27FC236}">
                <a16:creationId xmlns:a16="http://schemas.microsoft.com/office/drawing/2014/main" id="{48B0C2F5-833E-589B-382A-13B46D9A4B26}"/>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FB498214-05A5-D7BC-183C-F46B38033726}"/>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21D5C440-7C25-FCBF-0AFD-9A43D18655E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3262688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3"/>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6" name="Title 9">
            <a:extLst>
              <a:ext uri="{FF2B5EF4-FFF2-40B4-BE49-F238E27FC236}">
                <a16:creationId xmlns:a16="http://schemas.microsoft.com/office/drawing/2014/main" id="{966F0FDE-BE83-A597-B207-9E1836880992}"/>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a:t>Click to edit Master title style</a:t>
            </a:r>
          </a:p>
        </p:txBody>
      </p:sp>
      <p:sp>
        <p:nvSpPr>
          <p:cNvPr id="5" name="Content Placeholder 5">
            <a:extLst>
              <a:ext uri="{FF2B5EF4-FFF2-40B4-BE49-F238E27FC236}">
                <a16:creationId xmlns:a16="http://schemas.microsoft.com/office/drawing/2014/main" id="{AECA9D19-419F-EF79-9149-F59A94F89DF0}"/>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a:t>##%</a:t>
            </a:r>
          </a:p>
        </p:txBody>
      </p:sp>
      <p:sp>
        <p:nvSpPr>
          <p:cNvPr id="8" name="Footer Placeholder 4">
            <a:extLst>
              <a:ext uri="{FF2B5EF4-FFF2-40B4-BE49-F238E27FC236}">
                <a16:creationId xmlns:a16="http://schemas.microsoft.com/office/drawing/2014/main" id="{F573A4C0-0776-77C6-66AA-8AB5D53B5E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22B00FB5-92F5-2777-E446-7B3B689332FF}"/>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0F52380C-3432-CA29-4761-532477B722E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71096332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3"/>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A53F8570-6B05-5072-2FE4-39B21A8F9EA3}"/>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08F171EE-5BF3-25A4-19B0-5E5E7959125A}"/>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9927" y="1322671"/>
            <a:ext cx="9298005" cy="3907858"/>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7CE3EBB0-2A3C-612E-DC6C-0AE876654FE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075E6F7F-E895-1277-02D6-F925FA6D27A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39676103-43BF-3489-0BCB-B1D89DE77C04}"/>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3210657"/>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accent2"/>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67509756-1709-4FB3-87C9-65E52F8A642D}"/>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CF72170A-AA7E-9DE2-6ECB-19945A37EAD7}"/>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3C9F461-9F58-7EDE-FFF1-E8FCAD2E23AE}"/>
              </a:ext>
            </a:extLst>
          </p:cNvPr>
          <p:cNvSpPr>
            <a:spLocks noGrp="1"/>
          </p:cNvSpPr>
          <p:nvPr>
            <p:ph sz="quarter" idx="14" hasCustomPrompt="1"/>
          </p:nvPr>
        </p:nvSpPr>
        <p:spPr>
          <a:xfrm>
            <a:off x="1319927" y="1322104"/>
            <a:ext cx="9297987" cy="3908425"/>
          </a:xfrm>
        </p:spPr>
        <p:txBody>
          <a:bodyPr anchor="ctr">
            <a:noAutofit/>
          </a:bodyPr>
          <a:lstStyle>
            <a:lvl1pPr marL="0" indent="0">
              <a:lnSpc>
                <a:spcPct val="90000"/>
              </a:lnSpc>
              <a:buNone/>
              <a:defRPr sz="6000" b="1" cap="all" baseline="0"/>
            </a:lvl1pPr>
            <a:lvl2pPr marL="228600" indent="0">
              <a:lnSpc>
                <a:spcPct val="90000"/>
              </a:lnSpc>
              <a:buNone/>
              <a:defRPr sz="5400"/>
            </a:lvl2pPr>
            <a:lvl3pPr marL="457200" indent="0">
              <a:lnSpc>
                <a:spcPct val="90000"/>
              </a:lnSpc>
              <a:buNone/>
              <a:defRPr sz="4800"/>
            </a:lvl3pPr>
            <a:lvl4pPr marL="685800" indent="0">
              <a:lnSpc>
                <a:spcPct val="90000"/>
              </a:lnSpc>
              <a:buNone/>
              <a:defRPr sz="4400"/>
            </a:lvl4pPr>
            <a:lvl5pPr marL="914400" indent="0">
              <a:lnSpc>
                <a:spcPct val="90000"/>
              </a:lnSpc>
              <a:buNone/>
              <a:defRPr sz="400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B368E2D6-4C18-38E3-8152-99531147293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2" name="Date Placeholder 3">
            <a:extLst>
              <a:ext uri="{FF2B5EF4-FFF2-40B4-BE49-F238E27FC236}">
                <a16:creationId xmlns:a16="http://schemas.microsoft.com/office/drawing/2014/main" id="{9CB827A9-A5DE-C188-2939-D60BED18436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4" name="Slide Number Placeholder 5">
            <a:extLst>
              <a:ext uri="{FF2B5EF4-FFF2-40B4-BE49-F238E27FC236}">
                <a16:creationId xmlns:a16="http://schemas.microsoft.com/office/drawing/2014/main" id="{2FEBF00D-1E46-AF2D-0D8E-2F38D533C171}"/>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014943159"/>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4"/>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C9F509C9-EBD3-FFB9-4531-BBE9EE870C9B}"/>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F77DADAD-5C68-8B22-D7D6-9EFA4FCE9FBF}"/>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C84AEDAF-DA87-0FC6-A421-8548D43C9150}"/>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9" name="Content Placeholder 6">
            <a:extLst>
              <a:ext uri="{FF2B5EF4-FFF2-40B4-BE49-F238E27FC236}">
                <a16:creationId xmlns:a16="http://schemas.microsoft.com/office/drawing/2014/main" id="{3F4551C1-F77D-5DEA-D4A6-E296C313BDBD}"/>
              </a:ext>
            </a:extLst>
          </p:cNvPr>
          <p:cNvSpPr>
            <a:spLocks noGrp="1"/>
          </p:cNvSpPr>
          <p:nvPr>
            <p:ph sz="quarter" idx="13" hasCustomPrompt="1"/>
          </p:nvPr>
        </p:nvSpPr>
        <p:spPr>
          <a:xfrm>
            <a:off x="811593" y="844209"/>
            <a:ext cx="10362510" cy="4968161"/>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7" name="Footer Placeholder 4">
            <a:extLst>
              <a:ext uri="{FF2B5EF4-FFF2-40B4-BE49-F238E27FC236}">
                <a16:creationId xmlns:a16="http://schemas.microsoft.com/office/drawing/2014/main" id="{6C2AFDFC-279D-866C-97E4-0413DAD3750E}"/>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6" name="Date Placeholder 3">
            <a:extLst>
              <a:ext uri="{FF2B5EF4-FFF2-40B4-BE49-F238E27FC236}">
                <a16:creationId xmlns:a16="http://schemas.microsoft.com/office/drawing/2014/main" id="{D329DF21-7E57-6F8D-84A6-32DD2CDC664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8" name="Slide Number Placeholder 5">
            <a:extLst>
              <a:ext uri="{FF2B5EF4-FFF2-40B4-BE49-F238E27FC236}">
                <a16:creationId xmlns:a16="http://schemas.microsoft.com/office/drawing/2014/main" id="{7F0DFF13-FAC1-37BC-2037-41048E69625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73045816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6" name="Title 7">
            <a:extLst>
              <a:ext uri="{FF2B5EF4-FFF2-40B4-BE49-F238E27FC236}">
                <a16:creationId xmlns:a16="http://schemas.microsoft.com/office/drawing/2014/main" id="{C8B71B71-DED1-B066-5130-1F2DE6145746}"/>
              </a:ext>
            </a:extLst>
          </p:cNvPr>
          <p:cNvSpPr>
            <a:spLocks noGrp="1"/>
          </p:cNvSpPr>
          <p:nvPr>
            <p:ph type="title" hasCustomPrompt="1"/>
          </p:nvPr>
        </p:nvSpPr>
        <p:spPr>
          <a:xfrm>
            <a:off x="1263157" y="4171150"/>
            <a:ext cx="9427773" cy="466344"/>
          </a:xfrm>
        </p:spPr>
        <p:txBody>
          <a:bodyPr anchor="ctr">
            <a:normAutofit/>
          </a:bodyPr>
          <a:lstStyle>
            <a:lvl1pPr algn="ctr">
              <a:lnSpc>
                <a:spcPct val="120000"/>
              </a:lnSpc>
              <a:defRPr sz="2200" b="1" cap="all" baseline="0">
                <a:latin typeface="+mn-lt"/>
              </a:defRPr>
            </a:lvl1pPr>
          </a:lstStyle>
          <a:p>
            <a:r>
              <a:rPr lang="en-US"/>
              <a:t>Quote Author</a:t>
            </a:r>
          </a:p>
        </p:txBody>
      </p:sp>
      <p:sp>
        <p:nvSpPr>
          <p:cNvPr id="2" name="Content Placeholder 6">
            <a:extLst>
              <a:ext uri="{FF2B5EF4-FFF2-40B4-BE49-F238E27FC236}">
                <a16:creationId xmlns:a16="http://schemas.microsoft.com/office/drawing/2014/main" id="{764B92A2-9C11-A473-0B3F-CAAD66CB9FFC}"/>
              </a:ext>
            </a:extLst>
          </p:cNvPr>
          <p:cNvSpPr>
            <a:spLocks noGrp="1"/>
          </p:cNvSpPr>
          <p:nvPr>
            <p:ph sz="quarter" idx="10" hasCustomPrompt="1"/>
          </p:nvPr>
        </p:nvSpPr>
        <p:spPr>
          <a:xfrm>
            <a:off x="1050623" y="1475874"/>
            <a:ext cx="9852843" cy="2393479"/>
          </a:xfrm>
        </p:spPr>
        <p:txBody>
          <a:bodyPr anchor="b">
            <a:normAutofit/>
          </a:bodyPr>
          <a:lstStyle>
            <a:lvl1pPr marL="228600" indent="0" algn="ctr">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add Quote</a:t>
            </a:r>
          </a:p>
        </p:txBody>
      </p:sp>
      <p:sp>
        <p:nvSpPr>
          <p:cNvPr id="4" name="Footer Placeholder 4">
            <a:extLst>
              <a:ext uri="{FF2B5EF4-FFF2-40B4-BE49-F238E27FC236}">
                <a16:creationId xmlns:a16="http://schemas.microsoft.com/office/drawing/2014/main" id="{B47B8EDB-536A-003E-AE0A-AB072C6BD4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F59023AF-254C-8366-C5DA-6778C61166A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BCDA5A3A-7694-A45B-B5A0-90DAAB4B23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48350351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3"/>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8" name="Title 7">
            <a:extLst>
              <a:ext uri="{FF2B5EF4-FFF2-40B4-BE49-F238E27FC236}">
                <a16:creationId xmlns:a16="http://schemas.microsoft.com/office/drawing/2014/main" id="{F1D793A1-BF22-DDD0-DBA9-DEFF700F008F}"/>
              </a:ext>
            </a:extLst>
          </p:cNvPr>
          <p:cNvSpPr>
            <a:spLocks noGrp="1"/>
          </p:cNvSpPr>
          <p:nvPr>
            <p:ph type="title" hasCustomPrompt="1"/>
          </p:nvPr>
        </p:nvSpPr>
        <p:spPr>
          <a:xfrm>
            <a:off x="800100" y="4935583"/>
            <a:ext cx="9427773" cy="466344"/>
          </a:xfrm>
        </p:spPr>
        <p:txBody>
          <a:bodyPr anchor="ctr">
            <a:normAutofit/>
          </a:bodyPr>
          <a:lstStyle>
            <a:lvl1pPr>
              <a:lnSpc>
                <a:spcPct val="120000"/>
              </a:lnSpc>
              <a:defRPr sz="2200" b="1" cap="all" baseline="0">
                <a:latin typeface="+mn-lt"/>
              </a:defRPr>
            </a:lvl1pPr>
          </a:lstStyle>
          <a:p>
            <a:r>
              <a:rPr lang="en-US"/>
              <a:t>Quote Author</a:t>
            </a:r>
          </a:p>
        </p:txBody>
      </p:sp>
      <p:sp>
        <p:nvSpPr>
          <p:cNvPr id="7" name="Content Placeholder 6">
            <a:extLst>
              <a:ext uri="{FF2B5EF4-FFF2-40B4-BE49-F238E27FC236}">
                <a16:creationId xmlns:a16="http://schemas.microsoft.com/office/drawing/2014/main" id="{3B302FB0-A6C5-BD5A-AF43-984A6C3F8682}"/>
              </a:ext>
            </a:extLst>
          </p:cNvPr>
          <p:cNvSpPr>
            <a:spLocks noGrp="1"/>
          </p:cNvSpPr>
          <p:nvPr>
            <p:ph sz="quarter" idx="10" hasCustomPrompt="1"/>
          </p:nvPr>
        </p:nvSpPr>
        <p:spPr>
          <a:xfrm>
            <a:off x="800100" y="1365758"/>
            <a:ext cx="9898063" cy="3308350"/>
          </a:xfrm>
        </p:spPr>
        <p:txBody>
          <a:bodyPr anchor="ctr">
            <a:normAutofit/>
          </a:bodyPr>
          <a:lstStyle>
            <a:lvl1pPr marL="228600" indent="0">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add Quote</a:t>
            </a:r>
          </a:p>
        </p:txBody>
      </p:sp>
      <p:sp>
        <p:nvSpPr>
          <p:cNvPr id="3" name="Footer Placeholder 4">
            <a:extLst>
              <a:ext uri="{FF2B5EF4-FFF2-40B4-BE49-F238E27FC236}">
                <a16:creationId xmlns:a16="http://schemas.microsoft.com/office/drawing/2014/main" id="{90B46980-787B-28B2-BEF9-0889894EF45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CA696B03-9BC5-E21E-A5FD-103860D280D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lide Number Placeholder 5">
            <a:extLst>
              <a:ext uri="{FF2B5EF4-FFF2-40B4-BE49-F238E27FC236}">
                <a16:creationId xmlns:a16="http://schemas.microsoft.com/office/drawing/2014/main" id="{AB97DCEF-D6BB-4719-2240-3051D4DDED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637286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2"/>
        </a:solidFill>
        <a:effectLst/>
      </p:bgPr>
    </p:bg>
    <p:spTree>
      <p:nvGrpSpPr>
        <p:cNvPr id="1" name=""/>
        <p:cNvGrpSpPr/>
        <p:nvPr/>
      </p:nvGrpSpPr>
      <p:grpSpPr>
        <a:xfrm>
          <a:off x="0" y="0"/>
          <a:ext cx="0" cy="0"/>
          <a:chOff x="0" y="0"/>
          <a:chExt cx="0" cy="0"/>
        </a:xfrm>
      </p:grpSpPr>
      <p:sp>
        <p:nvSpPr>
          <p:cNvPr id="8" name="Shape 2">
            <a:extLst>
              <a:ext uri="{FF2B5EF4-FFF2-40B4-BE49-F238E27FC236}">
                <a16:creationId xmlns:a16="http://schemas.microsoft.com/office/drawing/2014/main" id="{7FA2DADE-9D41-2081-4A77-1D5CE9B7776B}"/>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D138D331-ECD1-1788-A7CA-448A49C9F489}"/>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4" name="Title 7">
            <a:extLst>
              <a:ext uri="{FF2B5EF4-FFF2-40B4-BE49-F238E27FC236}">
                <a16:creationId xmlns:a16="http://schemas.microsoft.com/office/drawing/2014/main" id="{B18BA15F-A0BE-EFD1-7E68-4B1BD84BEB67}"/>
              </a:ext>
            </a:extLst>
          </p:cNvPr>
          <p:cNvSpPr>
            <a:spLocks noGrp="1"/>
          </p:cNvSpPr>
          <p:nvPr>
            <p:ph type="title" hasCustomPrompt="1"/>
          </p:nvPr>
        </p:nvSpPr>
        <p:spPr>
          <a:xfrm>
            <a:off x="1236585" y="4526280"/>
            <a:ext cx="9108208" cy="466344"/>
          </a:xfrm>
        </p:spPr>
        <p:txBody>
          <a:bodyPr anchor="ctr">
            <a:normAutofit/>
          </a:bodyPr>
          <a:lstStyle>
            <a:lvl1pPr>
              <a:lnSpc>
                <a:spcPct val="120000"/>
              </a:lnSpc>
              <a:defRPr sz="2200" b="1" cap="all" baseline="0">
                <a:latin typeface="+mn-lt"/>
              </a:defRPr>
            </a:lvl1pPr>
          </a:lstStyle>
          <a:p>
            <a:r>
              <a:rPr lang="en-US"/>
              <a:t>Quote Author</a:t>
            </a:r>
          </a:p>
        </p:txBody>
      </p:sp>
      <p:sp>
        <p:nvSpPr>
          <p:cNvPr id="3" name="Content Placeholder 6">
            <a:extLst>
              <a:ext uri="{FF2B5EF4-FFF2-40B4-BE49-F238E27FC236}">
                <a16:creationId xmlns:a16="http://schemas.microsoft.com/office/drawing/2014/main" id="{56074EC9-559B-FD63-2E36-6C0F1C29A954}"/>
              </a:ext>
            </a:extLst>
          </p:cNvPr>
          <p:cNvSpPr>
            <a:spLocks noGrp="1"/>
          </p:cNvSpPr>
          <p:nvPr>
            <p:ph sz="quarter" idx="10" hasCustomPrompt="1"/>
          </p:nvPr>
        </p:nvSpPr>
        <p:spPr>
          <a:xfrm>
            <a:off x="1236585" y="1527048"/>
            <a:ext cx="9108208" cy="2704206"/>
          </a:xfrm>
        </p:spPr>
        <p:txBody>
          <a:bodyPr anchor="t">
            <a:normAutofit/>
          </a:bodyPr>
          <a:lstStyle>
            <a:lvl1pPr marL="0" indent="0">
              <a:lnSpc>
                <a:spcPct val="100000"/>
              </a:lnSpc>
              <a:spcBef>
                <a:spcPts val="0"/>
              </a:spcBef>
              <a:buNone/>
              <a:defRPr sz="44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add Quote</a:t>
            </a:r>
          </a:p>
        </p:txBody>
      </p:sp>
      <p:sp>
        <p:nvSpPr>
          <p:cNvPr id="13" name="Footer Placeholder 4">
            <a:extLst>
              <a:ext uri="{FF2B5EF4-FFF2-40B4-BE49-F238E27FC236}">
                <a16:creationId xmlns:a16="http://schemas.microsoft.com/office/drawing/2014/main" id="{FB5B5DC6-7732-056F-CCE9-08CA0A2F5A7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2" name="Date Placeholder 3">
            <a:extLst>
              <a:ext uri="{FF2B5EF4-FFF2-40B4-BE49-F238E27FC236}">
                <a16:creationId xmlns:a16="http://schemas.microsoft.com/office/drawing/2014/main" id="{C30CB01E-671D-F7D5-38AC-15837FE387E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1CEAD38F-C515-CF0A-DFEF-E4F3E918B03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404170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8EAF9CAC-FFA2-BEF7-4631-1C54E575EDE5}"/>
              </a:ext>
            </a:extLst>
          </p:cNvPr>
          <p:cNvSpPr/>
          <p:nvPr/>
        </p:nvSpPr>
        <p:spPr>
          <a:xfrm>
            <a:off x="734919"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37C03440-D61A-0EBF-6628-89058E855965}"/>
              </a:ext>
            </a:extLst>
          </p:cNvPr>
          <p:cNvSpPr/>
          <p:nvPr/>
        </p:nvSpPr>
        <p:spPr>
          <a:xfrm>
            <a:off x="6525104" y="2090064"/>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966704" cy="1132258"/>
          </a:xfrm>
        </p:spPr>
        <p:txBody>
          <a:bodyPr anchor="t"/>
          <a:lstStyle/>
          <a:p>
            <a:r>
              <a:rPr lang="en-US"/>
              <a:t>Click to edit Master title style</a:t>
            </a:r>
          </a:p>
        </p:txBody>
      </p:sp>
      <p:sp>
        <p:nvSpPr>
          <p:cNvPr id="11" name="Content Placeholder 6">
            <a:extLst>
              <a:ext uri="{FF2B5EF4-FFF2-40B4-BE49-F238E27FC236}">
                <a16:creationId xmlns:a16="http://schemas.microsoft.com/office/drawing/2014/main" id="{B0235ED5-6A34-E190-C6AF-47C4365CF4DA}"/>
              </a:ext>
            </a:extLst>
          </p:cNvPr>
          <p:cNvSpPr>
            <a:spLocks noGrp="1"/>
          </p:cNvSpPr>
          <p:nvPr>
            <p:ph sz="quarter" idx="17"/>
          </p:nvPr>
        </p:nvSpPr>
        <p:spPr>
          <a:xfrm>
            <a:off x="612647" y="1956816"/>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15924B5D-8BA0-6E97-9FCD-477345587304}"/>
              </a:ext>
            </a:extLst>
          </p:cNvPr>
          <p:cNvSpPr>
            <a:spLocks noGrp="1"/>
          </p:cNvSpPr>
          <p:nvPr>
            <p:ph sz="quarter" idx="16"/>
          </p:nvPr>
        </p:nvSpPr>
        <p:spPr>
          <a:xfrm>
            <a:off x="6402388" y="1941513"/>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4">
            <a:extLst>
              <a:ext uri="{FF2B5EF4-FFF2-40B4-BE49-F238E27FC236}">
                <a16:creationId xmlns:a16="http://schemas.microsoft.com/office/drawing/2014/main" id="{39E9D210-740B-975E-F164-1DE3D1A898C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4378DF6A-F028-C688-AFFC-152D73F73A1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EF58732C-80CB-B4FE-AB5F-DDFE3F83A3D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805529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87053FE2-64E0-3012-349A-A9A3630871D9}"/>
              </a:ext>
            </a:extLst>
          </p:cNvPr>
          <p:cNvSpPr/>
          <p:nvPr/>
        </p:nvSpPr>
        <p:spPr>
          <a:xfrm>
            <a:off x="734919"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C46A75A9-A17B-098E-3A45-F6C555BE2639}"/>
              </a:ext>
            </a:extLst>
          </p:cNvPr>
          <p:cNvSpPr/>
          <p:nvPr/>
        </p:nvSpPr>
        <p:spPr>
          <a:xfrm>
            <a:off x="609964"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Shape">
            <a:extLst>
              <a:ext uri="{FF2B5EF4-FFF2-40B4-BE49-F238E27FC236}">
                <a16:creationId xmlns:a16="http://schemas.microsoft.com/office/drawing/2014/main" id="{09A08B6C-E5A4-86B0-F3FC-9D459A8BBBFE}"/>
              </a:ext>
            </a:extLst>
          </p:cNvPr>
          <p:cNvSpPr/>
          <p:nvPr/>
        </p:nvSpPr>
        <p:spPr>
          <a:xfrm>
            <a:off x="6527790"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BC04CEF9-7BA9-D4E7-7852-594CC56DBD37}"/>
              </a:ext>
            </a:extLst>
          </p:cNvPr>
          <p:cNvSpPr/>
          <p:nvPr/>
        </p:nvSpPr>
        <p:spPr>
          <a:xfrm>
            <a:off x="6402835"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7" name="Title 1">
            <a:extLst>
              <a:ext uri="{FF2B5EF4-FFF2-40B4-BE49-F238E27FC236}">
                <a16:creationId xmlns:a16="http://schemas.microsoft.com/office/drawing/2014/main" id="{FDBC014A-57E4-E622-1B5A-DDCDE4F19F68}"/>
              </a:ext>
            </a:extLst>
          </p:cNvPr>
          <p:cNvSpPr>
            <a:spLocks noGrp="1"/>
          </p:cNvSpPr>
          <p:nvPr>
            <p:ph type="title"/>
          </p:nvPr>
        </p:nvSpPr>
        <p:spPr>
          <a:xfrm>
            <a:off x="612648" y="548640"/>
            <a:ext cx="10966704" cy="1132258"/>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923026"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2">
            <a:extLst>
              <a:ext uri="{FF2B5EF4-FFF2-40B4-BE49-F238E27FC236}">
                <a16:creationId xmlns:a16="http://schemas.microsoft.com/office/drawing/2014/main" id="{BBDB215F-F64D-AFEC-78DE-A34FCC39898B}"/>
              </a:ext>
            </a:extLst>
          </p:cNvPr>
          <p:cNvSpPr>
            <a:spLocks noGrp="1"/>
          </p:cNvSpPr>
          <p:nvPr>
            <p:ph type="body" idx="17"/>
          </p:nvPr>
        </p:nvSpPr>
        <p:spPr>
          <a:xfrm>
            <a:off x="6715897"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923026" y="2842450"/>
            <a:ext cx="4433978" cy="28982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5">
            <a:extLst>
              <a:ext uri="{FF2B5EF4-FFF2-40B4-BE49-F238E27FC236}">
                <a16:creationId xmlns:a16="http://schemas.microsoft.com/office/drawing/2014/main" id="{2EAD70E4-41EC-CD82-9922-84432DB90008}"/>
              </a:ext>
            </a:extLst>
          </p:cNvPr>
          <p:cNvSpPr>
            <a:spLocks noGrp="1"/>
          </p:cNvSpPr>
          <p:nvPr>
            <p:ph sz="quarter" idx="16"/>
          </p:nvPr>
        </p:nvSpPr>
        <p:spPr>
          <a:xfrm>
            <a:off x="6715897" y="2842450"/>
            <a:ext cx="4433978" cy="28982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E45957D-E390-A6CD-0738-7DBCB3C4B41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6323C36B-3396-E0B9-7965-0F8040BFF21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78F87EB5-54D8-0C98-C391-699B7F558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0716770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4" name="Footer Placeholder 4">
            <a:extLst>
              <a:ext uri="{FF2B5EF4-FFF2-40B4-BE49-F238E27FC236}">
                <a16:creationId xmlns:a16="http://schemas.microsoft.com/office/drawing/2014/main" id="{997C84A4-6A79-3485-A77E-989CD75830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9E55074A-9964-8F29-CF91-8A0D5AF16CB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6AAF6FDF-2AC3-DB97-1683-2D56D880D51B}"/>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92210738"/>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A6B9D93-9B64-1CD3-A833-FFDD8C5DBA7C}"/>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37BFBC61-3CC2-D636-FC54-55E9720C4A08}"/>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9D0D17A4-DEA9-4B44-C0FE-1238BACA12F7}"/>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3" name="Footer Placeholder 4">
            <a:extLst>
              <a:ext uri="{FF2B5EF4-FFF2-40B4-BE49-F238E27FC236}">
                <a16:creationId xmlns:a16="http://schemas.microsoft.com/office/drawing/2014/main" id="{373E672C-94F7-4F94-AA9D-0B2344E4BC8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794D1CA6-A4DC-DBEE-5E99-FCD16E8FE0E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lide Number Placeholder 5">
            <a:extLst>
              <a:ext uri="{FF2B5EF4-FFF2-40B4-BE49-F238E27FC236}">
                <a16:creationId xmlns:a16="http://schemas.microsoft.com/office/drawing/2014/main" id="{C02D83F5-E164-0E11-063F-914D641C1C8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0489331"/>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4">
            <a:extLst>
              <a:ext uri="{FF2B5EF4-FFF2-40B4-BE49-F238E27FC236}">
                <a16:creationId xmlns:a16="http://schemas.microsoft.com/office/drawing/2014/main" id="{3490C2B9-2891-C4B8-A62C-388B9E63086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5" name="Date Placeholder 3">
            <a:extLst>
              <a:ext uri="{FF2B5EF4-FFF2-40B4-BE49-F238E27FC236}">
                <a16:creationId xmlns:a16="http://schemas.microsoft.com/office/drawing/2014/main" id="{72391F72-8364-5853-5AF7-052CEB5F9248}"/>
              </a:ext>
            </a:extLst>
          </p:cNvPr>
          <p:cNvSpPr>
            <a:spLocks noGrp="1"/>
          </p:cNvSpPr>
          <p:nvPr>
            <p:ph type="dt" sz="half" idx="10"/>
          </p:nvPr>
        </p:nvSpPr>
        <p:spPr>
          <a:xfrm>
            <a:off x="8893929" y="6410960"/>
            <a:ext cx="2202644" cy="298120"/>
          </a:xfrm>
          <a:prstGeom prst="rect">
            <a:avLst/>
          </a:prstGeom>
        </p:spPr>
        <p:txBody>
          <a:bodyPr anchor="b"/>
          <a:lstStyle>
            <a:lvl1pPr>
              <a:defRPr sz="1200"/>
            </a:lvl1pPr>
          </a:lstStyle>
          <a:p>
            <a:endParaRPr lang="en-US"/>
          </a:p>
        </p:txBody>
      </p:sp>
      <p:sp>
        <p:nvSpPr>
          <p:cNvPr id="7" name="Slide Number Placeholder 5">
            <a:extLst>
              <a:ext uri="{FF2B5EF4-FFF2-40B4-BE49-F238E27FC236}">
                <a16:creationId xmlns:a16="http://schemas.microsoft.com/office/drawing/2014/main" id="{8E50753C-CFE5-2B43-A721-D0E923A0E0E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01665224"/>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AAA00F4A-8B03-B8A7-EF9E-9FA816B844D9}"/>
              </a:ext>
            </a:extLst>
          </p:cNvPr>
          <p:cNvSpPr/>
          <p:nvPr/>
        </p:nvSpPr>
        <p:spPr>
          <a:xfrm>
            <a:off x="5134801" y="980808"/>
            <a:ext cx="6345319" cy="519027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1762083"/>
          </a:xfrm>
        </p:spPr>
        <p:txBody>
          <a:bodyPr anchor="t">
            <a:normAutofit/>
          </a:bodyPr>
          <a:lstStyle>
            <a:lvl1pPr>
              <a:defRPr sz="36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10">
            <a:extLst>
              <a:ext uri="{FF2B5EF4-FFF2-40B4-BE49-F238E27FC236}">
                <a16:creationId xmlns:a16="http://schemas.microsoft.com/office/drawing/2014/main" id="{6AB62C19-EED5-2CB6-3778-D242A01B31A4}"/>
              </a:ext>
            </a:extLst>
          </p:cNvPr>
          <p:cNvSpPr>
            <a:spLocks noGrp="1"/>
          </p:cNvSpPr>
          <p:nvPr>
            <p:ph type="pic" sz="quarter" idx="13" hasCustomPrompt="1"/>
          </p:nvPr>
        </p:nvSpPr>
        <p:spPr>
          <a:xfrm>
            <a:off x="4976261" y="557784"/>
            <a:ext cx="6345319" cy="5437925"/>
          </a:xfrm>
          <a:blipFill>
            <a:blip r:embed="rId2">
              <a:alphaModFix amt="70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
        <p:nvSpPr>
          <p:cNvPr id="10" name="Footer Placeholder 4">
            <a:extLst>
              <a:ext uri="{FF2B5EF4-FFF2-40B4-BE49-F238E27FC236}">
                <a16:creationId xmlns:a16="http://schemas.microsoft.com/office/drawing/2014/main" id="{13D8F1A6-74FA-F0AA-BD1D-9179B632224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CDAC8853-1F8E-BAF2-7EA5-E7CC3A30143B}"/>
              </a:ext>
            </a:extLst>
          </p:cNvPr>
          <p:cNvSpPr>
            <a:spLocks noGrp="1"/>
          </p:cNvSpPr>
          <p:nvPr>
            <p:ph type="dt" sz="half" idx="14"/>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81F632EE-8F97-1D42-BC0E-348FE22EAD0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7818900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60F089B-9235-81DB-CA69-D7CB62593609}"/>
              </a:ext>
            </a:extLst>
          </p:cNvPr>
          <p:cNvGrpSpPr/>
          <p:nvPr/>
        </p:nvGrpSpPr>
        <p:grpSpPr>
          <a:xfrm>
            <a:off x="452064" y="492893"/>
            <a:ext cx="11287872" cy="5876422"/>
            <a:chOff x="521208" y="647905"/>
            <a:chExt cx="11365969" cy="5565740"/>
          </a:xfrm>
        </p:grpSpPr>
        <p:sp>
          <p:nvSpPr>
            <p:cNvPr id="4" name="Shape 2">
              <a:extLst>
                <a:ext uri="{FF2B5EF4-FFF2-40B4-BE49-F238E27FC236}">
                  <a16:creationId xmlns:a16="http://schemas.microsoft.com/office/drawing/2014/main" id="{A7BE37C7-4A0D-B366-88A7-61DDF6BADDFF}"/>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F6ED5B22-34B0-7A29-DE32-F681BB887699}"/>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51011" y="1571632"/>
            <a:ext cx="6905972" cy="1133856"/>
          </a:xfrm>
        </p:spPr>
        <p:txBody>
          <a:bodyPr anchor="b">
            <a:noAutofit/>
          </a:bodyPr>
          <a:lstStyle>
            <a:lvl1pPr>
              <a:defRPr sz="60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72428" y="3198297"/>
            <a:ext cx="9844686" cy="2411393"/>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a:extLst>
              <a:ext uri="{FF2B5EF4-FFF2-40B4-BE49-F238E27FC236}">
                <a16:creationId xmlns:a16="http://schemas.microsoft.com/office/drawing/2014/main" id="{43B0EB48-D222-B712-F2B3-9932C893C4F7}"/>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a:p>
        </p:txBody>
      </p:sp>
      <p:sp>
        <p:nvSpPr>
          <p:cNvPr id="6" name="Date Placeholder 3">
            <a:extLst>
              <a:ext uri="{FF2B5EF4-FFF2-40B4-BE49-F238E27FC236}">
                <a16:creationId xmlns:a16="http://schemas.microsoft.com/office/drawing/2014/main" id="{A38DC1E4-B259-385B-34D7-4FEBAE45C04F}"/>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a:p>
        </p:txBody>
      </p:sp>
      <p:sp>
        <p:nvSpPr>
          <p:cNvPr id="9" name="Slide Number Placeholder 5">
            <a:extLst>
              <a:ext uri="{FF2B5EF4-FFF2-40B4-BE49-F238E27FC236}">
                <a16:creationId xmlns:a16="http://schemas.microsoft.com/office/drawing/2014/main" id="{BB0374E6-29F5-6E16-088E-EC1EE38D0D71}"/>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249374340"/>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67284EC-3D0F-3F16-846C-AB08017ABD0D}"/>
              </a:ext>
            </a:extLst>
          </p:cNvPr>
          <p:cNvGrpSpPr/>
          <p:nvPr/>
        </p:nvGrpSpPr>
        <p:grpSpPr>
          <a:xfrm>
            <a:off x="1290931" y="492893"/>
            <a:ext cx="9610139" cy="5876422"/>
            <a:chOff x="521208" y="647905"/>
            <a:chExt cx="11365969" cy="5565740"/>
          </a:xfrm>
        </p:grpSpPr>
        <p:sp>
          <p:nvSpPr>
            <p:cNvPr id="4" name="Shape 2">
              <a:extLst>
                <a:ext uri="{FF2B5EF4-FFF2-40B4-BE49-F238E27FC236}">
                  <a16:creationId xmlns:a16="http://schemas.microsoft.com/office/drawing/2014/main" id="{7E5FBE18-9CC6-A8C8-127B-CCA2232BDB14}"/>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896B8FC0-2B00-3276-EB32-68AEA34310A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79548" y="1627318"/>
            <a:ext cx="8257213" cy="1842020"/>
          </a:xfrm>
        </p:spPr>
        <p:txBody>
          <a:bodyPr anchor="b">
            <a:no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879669" y="3622674"/>
            <a:ext cx="8257087" cy="1279615"/>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a:extLst>
              <a:ext uri="{FF2B5EF4-FFF2-40B4-BE49-F238E27FC236}">
                <a16:creationId xmlns:a16="http://schemas.microsoft.com/office/drawing/2014/main" id="{300BE14F-B804-8786-E6FC-084A0A7FA683}"/>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a:p>
        </p:txBody>
      </p:sp>
      <p:sp>
        <p:nvSpPr>
          <p:cNvPr id="8" name="Date Placeholder 3">
            <a:extLst>
              <a:ext uri="{FF2B5EF4-FFF2-40B4-BE49-F238E27FC236}">
                <a16:creationId xmlns:a16="http://schemas.microsoft.com/office/drawing/2014/main" id="{61CB601B-B447-CD6E-FCA1-4CC6DDC76626}"/>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1F950DAF-2879-C094-CC30-7714177A4C96}"/>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7880592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7" y="548640"/>
            <a:ext cx="10966705"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96670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C3C955DE-5CD9-CD51-B605-4A616AD7CFF8}"/>
              </a:ext>
            </a:extLst>
          </p:cNvPr>
          <p:cNvSpPr>
            <a:spLocks noGrp="1"/>
          </p:cNvSpPr>
          <p:nvPr>
            <p:ph type="dt" sz="half" idx="2"/>
          </p:nvPr>
        </p:nvSpPr>
        <p:spPr>
          <a:xfrm>
            <a:off x="8893929" y="6410960"/>
            <a:ext cx="2202644" cy="298120"/>
          </a:xfrm>
          <a:prstGeom prst="rect">
            <a:avLst/>
          </a:prstGeom>
        </p:spPr>
        <p:txBody>
          <a:bodyPr anchor="b"/>
          <a:lstStyle>
            <a:lvl1pPr algn="l" rtl="0">
              <a:defRPr sz="1200" cap="all" baseline="0"/>
            </a:lvl1pPr>
          </a:lstStyle>
          <a:p>
            <a:endParaRPr lang="en-US"/>
          </a:p>
        </p:txBody>
      </p:sp>
      <p:sp>
        <p:nvSpPr>
          <p:cNvPr id="8" name="Footer Placeholder 4">
            <a:extLst>
              <a:ext uri="{FF2B5EF4-FFF2-40B4-BE49-F238E27FC236}">
                <a16:creationId xmlns:a16="http://schemas.microsoft.com/office/drawing/2014/main" id="{79DD014B-8F2C-F57A-615A-FA05655D563F}"/>
              </a:ext>
            </a:extLst>
          </p:cNvPr>
          <p:cNvSpPr>
            <a:spLocks noGrp="1"/>
          </p:cNvSpPr>
          <p:nvPr>
            <p:ph type="ftr" sz="quarter" idx="3"/>
          </p:nvPr>
        </p:nvSpPr>
        <p:spPr>
          <a:xfrm>
            <a:off x="612647" y="6410960"/>
            <a:ext cx="2805405" cy="298120"/>
          </a:xfrm>
          <a:prstGeom prst="rect">
            <a:avLst/>
          </a:prstGeom>
        </p:spPr>
        <p:txBody>
          <a:bodyPr anchor="b"/>
          <a:lstStyle>
            <a:lvl1pPr algn="l" rtl="0">
              <a:defRPr sz="1200" cap="all" baseline="0"/>
            </a:lvl1pPr>
          </a:lstStyle>
          <a:p>
            <a:endParaRPr lang="en-US"/>
          </a:p>
        </p:txBody>
      </p:sp>
      <p:sp>
        <p:nvSpPr>
          <p:cNvPr id="9" name="Slide Number Placeholder 5">
            <a:extLst>
              <a:ext uri="{FF2B5EF4-FFF2-40B4-BE49-F238E27FC236}">
                <a16:creationId xmlns:a16="http://schemas.microsoft.com/office/drawing/2014/main" id="{991BBAA5-67F0-C82E-FEFD-FB109AD13395}"/>
              </a:ext>
            </a:extLst>
          </p:cNvPr>
          <p:cNvSpPr>
            <a:spLocks noGrp="1"/>
          </p:cNvSpPr>
          <p:nvPr>
            <p:ph type="sldNum" sz="quarter" idx="4"/>
          </p:nvPr>
        </p:nvSpPr>
        <p:spPr>
          <a:xfrm>
            <a:off x="11147096" y="6410960"/>
            <a:ext cx="429207" cy="298120"/>
          </a:xfrm>
          <a:prstGeom prst="rect">
            <a:avLst/>
          </a:prstGeom>
        </p:spPr>
        <p:txBody>
          <a:bodyPr anchor="b"/>
          <a:lstStyle>
            <a:lvl1pPr algn="r" rtl="0">
              <a:defRPr sz="1200" cap="all" baseline="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2825222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p:hf sldNum="0" hdr="0" ftr="0" dt="0"/>
  <p:txStyles>
    <p:title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32C40-3260-9539-C9A0-3980DB766EEE}"/>
              </a:ext>
            </a:extLst>
          </p:cNvPr>
          <p:cNvSpPr>
            <a:spLocks noGrp="1"/>
          </p:cNvSpPr>
          <p:nvPr>
            <p:ph type="title"/>
          </p:nvPr>
        </p:nvSpPr>
        <p:spPr>
          <a:xfrm>
            <a:off x="593541" y="603503"/>
            <a:ext cx="4235820" cy="3739895"/>
          </a:xfrm>
        </p:spPr>
        <p:txBody>
          <a:bodyPr anchor="t">
            <a:normAutofit/>
          </a:bodyPr>
          <a:lstStyle/>
          <a:p>
            <a:r>
              <a:rPr lang="en-US" dirty="0"/>
              <a:t>Literature Overview: EEG Noise and Artifact Removal</a:t>
            </a:r>
          </a:p>
        </p:txBody>
      </p:sp>
      <p:sp>
        <p:nvSpPr>
          <p:cNvPr id="3" name="Subtitle 2">
            <a:extLst>
              <a:ext uri="{FF2B5EF4-FFF2-40B4-BE49-F238E27FC236}">
                <a16:creationId xmlns:a16="http://schemas.microsoft.com/office/drawing/2014/main" id="{098D548D-9260-C4B8-931C-25831E5E16CA}"/>
              </a:ext>
            </a:extLst>
          </p:cNvPr>
          <p:cNvSpPr>
            <a:spLocks noGrp="1"/>
          </p:cNvSpPr>
          <p:nvPr>
            <p:ph type="subTitle" idx="1"/>
          </p:nvPr>
        </p:nvSpPr>
        <p:spPr>
          <a:xfrm>
            <a:off x="593541" y="4343398"/>
            <a:ext cx="4235820" cy="1698601"/>
          </a:xfrm>
        </p:spPr>
        <p:txBody>
          <a:bodyPr anchor="b">
            <a:noAutofit/>
          </a:bodyPr>
          <a:lstStyle/>
          <a:p>
            <a:r>
              <a:rPr lang="en-US" b="1" dirty="0"/>
              <a:t>Key methods to improve EEG signal quality effectively</a:t>
            </a:r>
          </a:p>
          <a:p>
            <a:r>
              <a:rPr lang="en-US" b="1" u="sng" dirty="0"/>
              <a:t>Soroush Gholizadeh </a:t>
            </a:r>
            <a:r>
              <a:rPr lang="en-US" b="1" u="sng" dirty="0" err="1"/>
              <a:t>jouryabi</a:t>
            </a:r>
            <a:r>
              <a:rPr lang="en-US" b="1" u="sng" dirty="0"/>
              <a:t> / 12454591</a:t>
            </a:r>
          </a:p>
        </p:txBody>
      </p:sp>
      <p:pic>
        <p:nvPicPr>
          <p:cNvPr id="4" name="Picture 3" descr="&quot;Close up of Electrocardiogram. One graph with selective focus, perspective. Isolated.&quot;">
            <a:extLst>
              <a:ext uri="{FF2B5EF4-FFF2-40B4-BE49-F238E27FC236}">
                <a16:creationId xmlns:a16="http://schemas.microsoft.com/office/drawing/2014/main" id="{7D768DDA-92AC-4685-9684-2D3DDFBFF6A5}"/>
              </a:ext>
            </a:extLst>
          </p:cNvPr>
          <p:cNvPicPr>
            <a:picLocks noChangeAspect="1"/>
          </p:cNvPicPr>
          <p:nvPr/>
        </p:nvPicPr>
        <p:blipFill>
          <a:blip r:embed="rId3"/>
          <a:srcRect l="8681" r="57748" b="1"/>
          <a:stretch>
            <a:fillRect/>
          </a:stretch>
        </p:blipFill>
        <p:spPr>
          <a:xfrm>
            <a:off x="5613962" y="10"/>
            <a:ext cx="6578038" cy="6857990"/>
          </a:xfrm>
          <a:prstGeom prst="rect">
            <a:avLst/>
          </a:prstGeom>
        </p:spPr>
      </p:pic>
    </p:spTree>
    <p:extLst>
      <p:ext uri="{BB962C8B-B14F-4D97-AF65-F5344CB8AC3E}">
        <p14:creationId xmlns:p14="http://schemas.microsoft.com/office/powerpoint/2010/main" val="3042091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par>
                                <p:cTn id="16" presetID="42" presetClass="entr" presetSubtype="0" fill="hold" grpId="1" nodeType="withEffect">
                                  <p:stCondLst>
                                    <p:cond delay="250"/>
                                  </p:stCondLst>
                                  <p:iterate>
                                    <p:tmPct val="10000"/>
                                  </p:iterate>
                                  <p:childTnLst>
                                    <p:set>
                                      <p:cBhvr>
                                        <p:cTn id="17" dur="1" fill="hold">
                                          <p:stCondLst>
                                            <p:cond delay="0"/>
                                          </p:stCondLst>
                                        </p:cTn>
                                        <p:tgtEl>
                                          <p:spTgt spid="3"/>
                                        </p:tgtEl>
                                        <p:attrNameLst>
                                          <p:attrName>style.visibility</p:attrName>
                                        </p:attrNameLst>
                                      </p:cBhvr>
                                      <p:to>
                                        <p:strVal val="visible"/>
                                      </p:to>
                                    </p:set>
                                    <p:animEffect transition="in" filter="fade">
                                      <p:cBhvr>
                                        <p:cTn id="18" dur="250"/>
                                        <p:tgtEl>
                                          <p:spTgt spid="3"/>
                                        </p:tgtEl>
                                      </p:cBhvr>
                                    </p:animEffect>
                                    <p:anim calcmode="lin" valueType="num">
                                      <p:cBhvr>
                                        <p:cTn id="19" dur="250" fill="hold"/>
                                        <p:tgtEl>
                                          <p:spTgt spid="3"/>
                                        </p:tgtEl>
                                        <p:attrNameLst>
                                          <p:attrName>ppt_x</p:attrName>
                                        </p:attrNameLst>
                                      </p:cBhvr>
                                      <p:tavLst>
                                        <p:tav tm="0">
                                          <p:val>
                                            <p:strVal val="#ppt_x"/>
                                          </p:val>
                                        </p:tav>
                                        <p:tav tm="100000">
                                          <p:val>
                                            <p:strVal val="#ppt_x"/>
                                          </p:val>
                                        </p:tav>
                                      </p:tavLst>
                                    </p:anim>
                                    <p:anim calcmode="lin" valueType="num">
                                      <p:cBhvr>
                                        <p:cTn id="20"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C2001-A5C1-8D87-34D8-33C1DA15D599}"/>
              </a:ext>
            </a:extLst>
          </p:cNvPr>
          <p:cNvSpPr>
            <a:spLocks noGrp="1"/>
          </p:cNvSpPr>
          <p:nvPr>
            <p:ph type="ctrTitle"/>
          </p:nvPr>
        </p:nvSpPr>
        <p:spPr>
          <a:xfrm>
            <a:off x="1522013" y="1282325"/>
            <a:ext cx="8893834" cy="3988550"/>
          </a:xfrm>
        </p:spPr>
        <p:txBody>
          <a:bodyPr anchor="ctr">
            <a:normAutofit/>
          </a:bodyPr>
          <a:lstStyle/>
          <a:p>
            <a:r>
              <a:rPr lang="en-US"/>
              <a:t>Motivation and Context for EEG Artifact Removal</a:t>
            </a:r>
          </a:p>
        </p:txBody>
      </p:sp>
    </p:spTree>
    <p:extLst>
      <p:ext uri="{BB962C8B-B14F-4D97-AF65-F5344CB8AC3E}">
        <p14:creationId xmlns:p14="http://schemas.microsoft.com/office/powerpoint/2010/main" val="32172238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D86CB-5B5A-7761-73D1-290C5A1810A0}"/>
              </a:ext>
            </a:extLst>
          </p:cNvPr>
          <p:cNvSpPr>
            <a:spLocks noGrp="1"/>
          </p:cNvSpPr>
          <p:nvPr>
            <p:ph type="title"/>
          </p:nvPr>
        </p:nvSpPr>
        <p:spPr>
          <a:xfrm>
            <a:off x="612647" y="552478"/>
            <a:ext cx="6858000" cy="932688"/>
          </a:xfrm>
        </p:spPr>
        <p:txBody>
          <a:bodyPr anchor="b">
            <a:normAutofit/>
          </a:bodyPr>
          <a:lstStyle/>
          <a:p>
            <a:r>
              <a:rPr lang="en-US" sz="2800"/>
              <a:t>Why EEG Recordings Require Careful Preprocessing</a:t>
            </a:r>
          </a:p>
        </p:txBody>
      </p:sp>
      <p:sp>
        <p:nvSpPr>
          <p:cNvPr id="3" name="Content Placeholder 2">
            <a:extLst>
              <a:ext uri="{FF2B5EF4-FFF2-40B4-BE49-F238E27FC236}">
                <a16:creationId xmlns:a16="http://schemas.microsoft.com/office/drawing/2014/main" id="{EC1BF040-80F3-534F-289E-F5D79BA663A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Susceptibility to Noise</a:t>
            </a:r>
          </a:p>
          <a:p>
            <a:pPr marL="0" lvl="1" indent="0">
              <a:buFont typeface="Arial" panose="020B0604020202020204" pitchFamily="34" charset="0"/>
              <a:buNone/>
            </a:pPr>
            <a:r>
              <a:rPr lang="en-US" sz="1400"/>
              <a:t>EEG signals are weak and easily contaminated by physiological and environmental noise sources.</a:t>
            </a:r>
          </a:p>
          <a:p>
            <a:pPr marL="0" indent="0">
              <a:spcBef>
                <a:spcPts val="2500"/>
              </a:spcBef>
              <a:buFont typeface="Arial" panose="020B0604020202020204" pitchFamily="34" charset="0"/>
              <a:buNone/>
            </a:pPr>
            <a:r>
              <a:rPr lang="en-US" sz="1400" b="1"/>
              <a:t>Artifacts Distort Signal</a:t>
            </a:r>
          </a:p>
          <a:p>
            <a:pPr marL="0" lvl="1" indent="0">
              <a:buFont typeface="Arial" panose="020B0604020202020204" pitchFamily="34" charset="0"/>
              <a:buNone/>
            </a:pPr>
            <a:r>
              <a:rPr lang="en-US" sz="1400"/>
              <a:t>Artifacts like eye blinks and muscle activity distort EEG waveforms and can mask true brain signals.</a:t>
            </a:r>
          </a:p>
          <a:p>
            <a:pPr marL="0" indent="0">
              <a:spcBef>
                <a:spcPts val="2500"/>
              </a:spcBef>
              <a:buFont typeface="Arial" panose="020B0604020202020204" pitchFamily="34" charset="0"/>
              <a:buNone/>
            </a:pPr>
            <a:r>
              <a:rPr lang="en-US" sz="1400" b="1"/>
              <a:t>Importance of Preprocessing</a:t>
            </a:r>
          </a:p>
          <a:p>
            <a:pPr marL="0" lvl="1" indent="0">
              <a:buFont typeface="Arial" panose="020B0604020202020204" pitchFamily="34" charset="0"/>
              <a:buNone/>
            </a:pPr>
            <a:r>
              <a:rPr lang="en-US" sz="1400"/>
              <a:t>Preprocessing removes artifacts to preserve genuine neural information for accurate analysis and interpretation.</a:t>
            </a:r>
          </a:p>
          <a:p>
            <a:pPr marL="0" indent="0">
              <a:spcBef>
                <a:spcPts val="2500"/>
              </a:spcBef>
              <a:buFont typeface="Arial" panose="020B0604020202020204" pitchFamily="34" charset="0"/>
              <a:buNone/>
            </a:pPr>
            <a:r>
              <a:rPr lang="en-US" sz="1400" b="1"/>
              <a:t>Challenges in Validation</a:t>
            </a:r>
          </a:p>
          <a:p>
            <a:pPr marL="0" lvl="1" indent="0">
              <a:buFont typeface="Arial" panose="020B0604020202020204" pitchFamily="34" charset="0"/>
              <a:buNone/>
            </a:pPr>
            <a:r>
              <a:rPr lang="en-US" sz="1400"/>
              <a:t>True clean EEG signals are unknown, making artifact removal evaluation reliant on indirect measures and expert review.</a:t>
            </a:r>
          </a:p>
        </p:txBody>
      </p:sp>
      <p:pic>
        <p:nvPicPr>
          <p:cNvPr id="5" name="Content Placeholder 4" descr="Artificial Intelligence digital concept with brain shape">
            <a:extLst>
              <a:ext uri="{FF2B5EF4-FFF2-40B4-BE49-F238E27FC236}">
                <a16:creationId xmlns:a16="http://schemas.microsoft.com/office/drawing/2014/main" id="{487D6649-29AB-44B5-902F-2D434B8B32AD}"/>
              </a:ext>
            </a:extLst>
          </p:cNvPr>
          <p:cNvPicPr>
            <a:picLocks noGrp="1" noChangeAspect="1"/>
          </p:cNvPicPr>
          <p:nvPr>
            <p:ph type="pic" sz="quarter" idx="13"/>
          </p:nvPr>
        </p:nvPicPr>
        <p:blipFill>
          <a:blip r:embed="rId3"/>
          <a:srcRect l="32037" r="34332"/>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29449127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4AEC2-DC8E-B298-93C9-6E98416A5BC7}"/>
              </a:ext>
            </a:extLst>
          </p:cNvPr>
          <p:cNvSpPr>
            <a:spLocks noGrp="1"/>
          </p:cNvSpPr>
          <p:nvPr>
            <p:ph type="title"/>
          </p:nvPr>
        </p:nvSpPr>
        <p:spPr>
          <a:xfrm>
            <a:off x="612647" y="552478"/>
            <a:ext cx="6858000" cy="932688"/>
          </a:xfrm>
        </p:spPr>
        <p:txBody>
          <a:bodyPr anchor="b">
            <a:normAutofit/>
          </a:bodyPr>
          <a:lstStyle/>
          <a:p>
            <a:r>
              <a:rPr lang="en-US" sz="2800"/>
              <a:t>General Categories of EEG Noise and Artifacts</a:t>
            </a:r>
          </a:p>
        </p:txBody>
      </p:sp>
      <p:sp>
        <p:nvSpPr>
          <p:cNvPr id="3" name="Content Placeholder 2">
            <a:extLst>
              <a:ext uri="{FF2B5EF4-FFF2-40B4-BE49-F238E27FC236}">
                <a16:creationId xmlns:a16="http://schemas.microsoft.com/office/drawing/2014/main" id="{C7702E0F-FA05-DF67-34AA-81D8D3986CA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Physiological Artifacts</a:t>
            </a:r>
          </a:p>
          <a:p>
            <a:pPr marL="0" lvl="1" indent="0">
              <a:buFont typeface="Arial" panose="020B0604020202020204" pitchFamily="34" charset="0"/>
              <a:buNone/>
            </a:pPr>
            <a:r>
              <a:rPr lang="en-US" sz="1400"/>
              <a:t>Physiological artifacts originate from non-brain biological activities like eye blinks, muscle movement, heartbeats, and body motion.</a:t>
            </a:r>
          </a:p>
          <a:p>
            <a:pPr marL="0" indent="0">
              <a:spcBef>
                <a:spcPts val="2500"/>
              </a:spcBef>
              <a:buFont typeface="Arial" panose="020B0604020202020204" pitchFamily="34" charset="0"/>
              <a:buNone/>
            </a:pPr>
            <a:r>
              <a:rPr lang="en-US" sz="1400" b="1"/>
              <a:t>Non-Physiological Artifacts</a:t>
            </a:r>
          </a:p>
          <a:p>
            <a:pPr marL="0" lvl="1" indent="0">
              <a:buFont typeface="Arial" panose="020B0604020202020204" pitchFamily="34" charset="0"/>
              <a:buNone/>
            </a:pPr>
            <a:r>
              <a:rPr lang="en-US" sz="1400"/>
              <a:t>Non-physiological artifacts arise from recording setup issues and environmental noise, such as electrode problems and electromagnetic interference.</a:t>
            </a:r>
          </a:p>
          <a:p>
            <a:pPr marL="0" indent="0">
              <a:spcBef>
                <a:spcPts val="2500"/>
              </a:spcBef>
              <a:buFont typeface="Arial" panose="020B0604020202020204" pitchFamily="34" charset="0"/>
              <a:buNone/>
            </a:pPr>
            <a:r>
              <a:rPr lang="en-US" sz="1400" b="1"/>
              <a:t>Artifact Characteristics</a:t>
            </a:r>
          </a:p>
          <a:p>
            <a:pPr marL="0" lvl="1" indent="0">
              <a:buFont typeface="Arial" panose="020B0604020202020204" pitchFamily="34" charset="0"/>
              <a:buNone/>
            </a:pPr>
            <a:r>
              <a:rPr lang="en-US" sz="1400"/>
              <a:t>Artifacts have unique temporal, spectral, and spatial properties that influence the choice of removal techniques in EEG analysis.</a:t>
            </a:r>
          </a:p>
          <a:p>
            <a:pPr marL="0" indent="0">
              <a:spcBef>
                <a:spcPts val="2500"/>
              </a:spcBef>
              <a:buFont typeface="Arial" panose="020B0604020202020204" pitchFamily="34" charset="0"/>
              <a:buNone/>
            </a:pPr>
            <a:r>
              <a:rPr lang="en-US" sz="1400" b="1"/>
              <a:t>Artifact Removal Techniques</a:t>
            </a:r>
          </a:p>
          <a:p>
            <a:pPr marL="0" lvl="1" indent="0">
              <a:buFont typeface="Arial" panose="020B0604020202020204" pitchFamily="34" charset="0"/>
              <a:buNone/>
            </a:pPr>
            <a:r>
              <a:rPr lang="en-US" sz="1400"/>
              <a:t>Understanding artifact types guides the use of methods like filtering, source separation, wavelet decomposition, and machine learning.</a:t>
            </a:r>
          </a:p>
        </p:txBody>
      </p:sp>
      <p:pic>
        <p:nvPicPr>
          <p:cNvPr id="5" name="Content Placeholder 4" descr="Stethoscope with a heart pulse, isolated on white with clipping path.">
            <a:extLst>
              <a:ext uri="{FF2B5EF4-FFF2-40B4-BE49-F238E27FC236}">
                <a16:creationId xmlns:a16="http://schemas.microsoft.com/office/drawing/2014/main" id="{49274F12-D134-4BAB-8142-EAC4B7C7B420}"/>
              </a:ext>
            </a:extLst>
          </p:cNvPr>
          <p:cNvPicPr>
            <a:picLocks noGrp="1" noChangeAspect="1"/>
          </p:cNvPicPr>
          <p:nvPr>
            <p:ph type="pic" sz="quarter" idx="13"/>
          </p:nvPr>
        </p:nvPicPr>
        <p:blipFill>
          <a:blip r:embed="rId3"/>
          <a:srcRect l="26855" r="28453" b="-2"/>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26731036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B802C-93DB-DB91-543B-BC2B6245F2AA}"/>
              </a:ext>
            </a:extLst>
          </p:cNvPr>
          <p:cNvSpPr>
            <a:spLocks noGrp="1"/>
          </p:cNvSpPr>
          <p:nvPr>
            <p:ph type="ctrTitle"/>
          </p:nvPr>
        </p:nvSpPr>
        <p:spPr>
          <a:xfrm>
            <a:off x="1522013" y="1282325"/>
            <a:ext cx="8893834" cy="3988550"/>
          </a:xfrm>
        </p:spPr>
        <p:txBody>
          <a:bodyPr anchor="ctr">
            <a:normAutofit/>
          </a:bodyPr>
          <a:lstStyle/>
          <a:p>
            <a:r>
              <a:rPr lang="en-US"/>
              <a:t>Paper 1: Zhang et al. (2021) — EEGdenoiseNet</a:t>
            </a:r>
          </a:p>
        </p:txBody>
      </p:sp>
    </p:spTree>
    <p:extLst>
      <p:ext uri="{BB962C8B-B14F-4D97-AF65-F5344CB8AC3E}">
        <p14:creationId xmlns:p14="http://schemas.microsoft.com/office/powerpoint/2010/main" val="38921803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4D9A-D3A2-E5B1-CD2C-11649BA2A5BB}"/>
              </a:ext>
            </a:extLst>
          </p:cNvPr>
          <p:cNvSpPr>
            <a:spLocks noGrp="1"/>
          </p:cNvSpPr>
          <p:nvPr>
            <p:ph type="title"/>
          </p:nvPr>
        </p:nvSpPr>
        <p:spPr>
          <a:xfrm>
            <a:off x="612647" y="552478"/>
            <a:ext cx="6858000" cy="932688"/>
          </a:xfrm>
        </p:spPr>
        <p:txBody>
          <a:bodyPr anchor="b">
            <a:normAutofit/>
          </a:bodyPr>
          <a:lstStyle/>
          <a:p>
            <a:r>
              <a:rPr lang="en-US" sz="2800"/>
              <a:t>EEGdenoiseNet: Motivation and Dataset Design</a:t>
            </a:r>
          </a:p>
        </p:txBody>
      </p:sp>
      <p:sp>
        <p:nvSpPr>
          <p:cNvPr id="3" name="Content Placeholder 2">
            <a:extLst>
              <a:ext uri="{FF2B5EF4-FFF2-40B4-BE49-F238E27FC236}">
                <a16:creationId xmlns:a16="http://schemas.microsoft.com/office/drawing/2014/main" id="{801585DF-6659-DA6C-493E-1F12B1CA93B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Challenge in EEG Denoising</a:t>
            </a:r>
          </a:p>
          <a:p>
            <a:pPr marL="0" lvl="1" indent="0">
              <a:buFont typeface="Arial" panose="020B0604020202020204" pitchFamily="34" charset="0"/>
              <a:buNone/>
            </a:pPr>
            <a:r>
              <a:rPr lang="en-US" sz="1400"/>
              <a:t>Real EEG signals mix brain activity and artifacts, making clean signal identification very difficult.</a:t>
            </a:r>
          </a:p>
          <a:p>
            <a:pPr marL="0" indent="0">
              <a:spcBef>
                <a:spcPts val="2500"/>
              </a:spcBef>
              <a:buFont typeface="Arial" panose="020B0604020202020204" pitchFamily="34" charset="0"/>
              <a:buNone/>
            </a:pPr>
            <a:r>
              <a:rPr lang="en-US" sz="1400" b="1"/>
              <a:t>EEGdenoiseNet Dataset Components</a:t>
            </a:r>
          </a:p>
          <a:p>
            <a:pPr marL="0" lvl="1" indent="0">
              <a:buFont typeface="Arial" panose="020B0604020202020204" pitchFamily="34" charset="0"/>
              <a:buNone/>
            </a:pPr>
            <a:r>
              <a:rPr lang="en-US" sz="1400"/>
              <a:t>Dataset includes clean EEG, ocular artifacts, and muscular artifacts for realistic signal synthesis.</a:t>
            </a:r>
          </a:p>
          <a:p>
            <a:pPr marL="0" indent="0">
              <a:spcBef>
                <a:spcPts val="2500"/>
              </a:spcBef>
              <a:buFont typeface="Arial" panose="020B0604020202020204" pitchFamily="34" charset="0"/>
              <a:buNone/>
            </a:pPr>
            <a:r>
              <a:rPr lang="en-US" sz="1400" b="1"/>
              <a:t>Synthetic Mixing for Ground Truth</a:t>
            </a:r>
          </a:p>
          <a:p>
            <a:pPr marL="0" lvl="1" indent="0">
              <a:buFont typeface="Arial" panose="020B0604020202020204" pitchFamily="34" charset="0"/>
              <a:buNone/>
            </a:pPr>
            <a:r>
              <a:rPr lang="en-US" sz="1400"/>
              <a:t>Clean EEG is synthetically mixed with artifact segments at controlled ratios for known ground truth.</a:t>
            </a:r>
          </a:p>
          <a:p>
            <a:pPr marL="0" indent="0">
              <a:spcBef>
                <a:spcPts val="2500"/>
              </a:spcBef>
              <a:buFont typeface="Arial" panose="020B0604020202020204" pitchFamily="34" charset="0"/>
              <a:buNone/>
            </a:pPr>
            <a:r>
              <a:rPr lang="en-US" sz="1400" b="1"/>
              <a:t>Benchmark for Model Evaluation</a:t>
            </a:r>
          </a:p>
          <a:p>
            <a:pPr marL="0" lvl="1" indent="0">
              <a:buFont typeface="Arial" panose="020B0604020202020204" pitchFamily="34" charset="0"/>
              <a:buNone/>
            </a:pPr>
            <a:r>
              <a:rPr lang="en-US" sz="1400"/>
              <a:t>Dataset enables objective evaluation and fair comparison of deep learning EEG denoising methods.</a:t>
            </a:r>
          </a:p>
        </p:txBody>
      </p:sp>
      <p:pic>
        <p:nvPicPr>
          <p:cNvPr id="5" name="Content Placeholder 4" descr="Global communication and collaboration intricately involving electronic ropes and keys through social networking of smart phones equipped with AI.">
            <a:extLst>
              <a:ext uri="{FF2B5EF4-FFF2-40B4-BE49-F238E27FC236}">
                <a16:creationId xmlns:a16="http://schemas.microsoft.com/office/drawing/2014/main" id="{CF67507B-BE6A-4427-8BD6-D9B622268563}"/>
              </a:ext>
            </a:extLst>
          </p:cNvPr>
          <p:cNvPicPr>
            <a:picLocks noGrp="1" noChangeAspect="1"/>
          </p:cNvPicPr>
          <p:nvPr>
            <p:ph type="pic" sz="quarter" idx="13"/>
          </p:nvPr>
        </p:nvPicPr>
        <p:blipFill>
          <a:blip r:embed="rId3"/>
          <a:srcRect l="32501" r="27589"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14806400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C360B-00EC-C280-2DFA-7EADF3A7AC21}"/>
              </a:ext>
            </a:extLst>
          </p:cNvPr>
          <p:cNvSpPr>
            <a:spLocks noGrp="1"/>
          </p:cNvSpPr>
          <p:nvPr>
            <p:ph type="title"/>
          </p:nvPr>
        </p:nvSpPr>
        <p:spPr>
          <a:xfrm>
            <a:off x="612647" y="552478"/>
            <a:ext cx="6858000" cy="932688"/>
          </a:xfrm>
        </p:spPr>
        <p:txBody>
          <a:bodyPr anchor="b">
            <a:normAutofit/>
          </a:bodyPr>
          <a:lstStyle/>
          <a:p>
            <a:r>
              <a:rPr lang="en-US" sz="2800"/>
              <a:t>Artifact Types and Denoising Methods in EEGdenoiseNet</a:t>
            </a:r>
          </a:p>
        </p:txBody>
      </p:sp>
      <p:sp>
        <p:nvSpPr>
          <p:cNvPr id="3" name="Content Placeholder 2">
            <a:extLst>
              <a:ext uri="{FF2B5EF4-FFF2-40B4-BE49-F238E27FC236}">
                <a16:creationId xmlns:a16="http://schemas.microsoft.com/office/drawing/2014/main" id="{4F656D95-B084-F077-FF03-65E5729A6E8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Physiological Artifact Types</a:t>
            </a:r>
          </a:p>
          <a:p>
            <a:pPr marL="0" lvl="1" indent="0">
              <a:buFont typeface="Arial" panose="020B0604020202020204" pitchFamily="34" charset="0"/>
              <a:buNone/>
            </a:pPr>
            <a:r>
              <a:rPr lang="en-US" sz="1400"/>
              <a:t>Ocular artifacts arise from eye movements causing low-frequency EEG deflections. Muscular artifacts include high-frequency noise from facial and neck muscles.</a:t>
            </a:r>
          </a:p>
          <a:p>
            <a:pPr marL="0" indent="0">
              <a:spcBef>
                <a:spcPts val="2500"/>
              </a:spcBef>
              <a:buFont typeface="Arial" panose="020B0604020202020204" pitchFamily="34" charset="0"/>
              <a:buNone/>
            </a:pPr>
            <a:r>
              <a:rPr lang="en-US" sz="1400" b="1"/>
              <a:t>Traditional Denoising Methods</a:t>
            </a:r>
          </a:p>
          <a:p>
            <a:pPr marL="0" lvl="1" indent="0">
              <a:buFont typeface="Arial" panose="020B0604020202020204" pitchFamily="34" charset="0"/>
              <a:buNone/>
            </a:pPr>
            <a:r>
              <a:rPr lang="en-US" sz="1400"/>
              <a:t>Traditional methods involve regression-based correction, adaptive filtering, and blind source separation like ICA to remove EEG artifacts.</a:t>
            </a:r>
          </a:p>
          <a:p>
            <a:pPr marL="0" indent="0">
              <a:spcBef>
                <a:spcPts val="2500"/>
              </a:spcBef>
              <a:buFont typeface="Arial" panose="020B0604020202020204" pitchFamily="34" charset="0"/>
              <a:buNone/>
            </a:pPr>
            <a:r>
              <a:rPr lang="en-US" sz="1400" b="1"/>
              <a:t>Deep Learning Approaches</a:t>
            </a:r>
          </a:p>
          <a:p>
            <a:pPr marL="0" lvl="1" indent="0">
              <a:buFont typeface="Arial" panose="020B0604020202020204" pitchFamily="34" charset="0"/>
              <a:buNone/>
            </a:pPr>
            <a:r>
              <a:rPr lang="en-US" sz="1400"/>
              <a:t>Deep learning models such as CNNs and RNNs are trained to map contaminated EEG signals directly to clean signals with superior performance.</a:t>
            </a:r>
          </a:p>
          <a:p>
            <a:pPr marL="0" indent="0">
              <a:spcBef>
                <a:spcPts val="2500"/>
              </a:spcBef>
              <a:buFont typeface="Arial" panose="020B0604020202020204" pitchFamily="34" charset="0"/>
              <a:buNone/>
            </a:pPr>
            <a:r>
              <a:rPr lang="en-US" sz="1400" b="1"/>
              <a:t>Performance and Limitations</a:t>
            </a:r>
          </a:p>
          <a:p>
            <a:pPr marL="0" lvl="1" indent="0">
              <a:buFont typeface="Arial" panose="020B0604020202020204" pitchFamily="34" charset="0"/>
              <a:buNone/>
            </a:pPr>
            <a:r>
              <a:rPr lang="en-US" sz="1400"/>
              <a:t>Deep learning methods outperform traditional techniques given enough training data but require dataset quality and size matching model complexity.</a:t>
            </a:r>
          </a:p>
        </p:txBody>
      </p:sp>
      <p:pic>
        <p:nvPicPr>
          <p:cNvPr id="5" name="Content Placeholder 4" descr="Zigzag indicator line">
            <a:extLst>
              <a:ext uri="{FF2B5EF4-FFF2-40B4-BE49-F238E27FC236}">
                <a16:creationId xmlns:a16="http://schemas.microsoft.com/office/drawing/2014/main" id="{F8C730A9-FABB-4249-8360-F7E7F2C2F6DA}"/>
              </a:ext>
            </a:extLst>
          </p:cNvPr>
          <p:cNvPicPr>
            <a:picLocks noGrp="1" noChangeAspect="1"/>
          </p:cNvPicPr>
          <p:nvPr>
            <p:ph type="pic" sz="quarter" idx="13"/>
          </p:nvPr>
        </p:nvPicPr>
        <p:blipFill>
          <a:blip r:embed="rId3"/>
          <a:srcRect l="28404" r="31687"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31094912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CB530-C30A-CC35-350F-688F2685FFCB}"/>
              </a:ext>
            </a:extLst>
          </p:cNvPr>
          <p:cNvSpPr>
            <a:spLocks noGrp="1"/>
          </p:cNvSpPr>
          <p:nvPr>
            <p:ph type="ctrTitle"/>
          </p:nvPr>
        </p:nvSpPr>
        <p:spPr>
          <a:xfrm>
            <a:off x="1522013" y="1282325"/>
            <a:ext cx="8893834" cy="3988550"/>
          </a:xfrm>
        </p:spPr>
        <p:txBody>
          <a:bodyPr anchor="ctr">
            <a:normAutofit/>
          </a:bodyPr>
          <a:lstStyle/>
          <a:p>
            <a:r>
              <a:rPr lang="en-US"/>
              <a:t>Paper 2: Kumaravel et al. (2022) — NEAR Pipeline</a:t>
            </a:r>
          </a:p>
        </p:txBody>
      </p:sp>
    </p:spTree>
    <p:extLst>
      <p:ext uri="{BB962C8B-B14F-4D97-AF65-F5344CB8AC3E}">
        <p14:creationId xmlns:p14="http://schemas.microsoft.com/office/powerpoint/2010/main" val="37249102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3025E-5047-173D-18D3-0FB7640F8704}"/>
              </a:ext>
            </a:extLst>
          </p:cNvPr>
          <p:cNvSpPr>
            <a:spLocks noGrp="1"/>
          </p:cNvSpPr>
          <p:nvPr>
            <p:ph type="title"/>
          </p:nvPr>
        </p:nvSpPr>
        <p:spPr>
          <a:xfrm>
            <a:off x="612647" y="552478"/>
            <a:ext cx="6858000" cy="932688"/>
          </a:xfrm>
        </p:spPr>
        <p:txBody>
          <a:bodyPr anchor="b">
            <a:normAutofit/>
          </a:bodyPr>
          <a:lstStyle/>
          <a:p>
            <a:r>
              <a:rPr lang="en-US" sz="2800"/>
              <a:t>Challenges of Artifact Removal in Newborn EEG</a:t>
            </a:r>
          </a:p>
        </p:txBody>
      </p:sp>
      <p:sp>
        <p:nvSpPr>
          <p:cNvPr id="3" name="Content Placeholder 2">
            <a:extLst>
              <a:ext uri="{FF2B5EF4-FFF2-40B4-BE49-F238E27FC236}">
                <a16:creationId xmlns:a16="http://schemas.microsoft.com/office/drawing/2014/main" id="{A3732431-D28C-8E1D-567C-697684FAE1C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Unique Newborn EEG Challenges</a:t>
            </a:r>
          </a:p>
          <a:p>
            <a:pPr marL="0" lvl="1" indent="0">
              <a:buFont typeface="Arial" panose="020B0604020202020204" pitchFamily="34" charset="0"/>
              <a:buNone/>
            </a:pPr>
            <a:r>
              <a:rPr lang="en-US" sz="1400"/>
              <a:t>Newborn EEG recordings are short and affected by unpredictable infant movements causing diverse artifacts.</a:t>
            </a:r>
          </a:p>
          <a:p>
            <a:pPr marL="0" indent="0">
              <a:spcBef>
                <a:spcPts val="2500"/>
              </a:spcBef>
              <a:buFont typeface="Arial" panose="020B0604020202020204" pitchFamily="34" charset="0"/>
              <a:buNone/>
            </a:pPr>
            <a:r>
              <a:rPr lang="en-US" sz="1400" b="1"/>
              <a:t>Limitations of Adult EEG Methods</a:t>
            </a:r>
          </a:p>
          <a:p>
            <a:pPr marL="0" lvl="1" indent="0">
              <a:buFont typeface="Arial" panose="020B0604020202020204" pitchFamily="34" charset="0"/>
              <a:buNone/>
            </a:pPr>
            <a:r>
              <a:rPr lang="en-US" sz="1400"/>
              <a:t>Traditional adult EEG preprocessing methods often fail due to the variability and non-stereotyped nature of newborn artifacts.</a:t>
            </a:r>
          </a:p>
          <a:p>
            <a:pPr marL="0" indent="0">
              <a:spcBef>
                <a:spcPts val="2500"/>
              </a:spcBef>
              <a:buFont typeface="Arial" panose="020B0604020202020204" pitchFamily="34" charset="0"/>
              <a:buNone/>
            </a:pPr>
            <a:r>
              <a:rPr lang="en-US" sz="1400" b="1"/>
              <a:t>Need for Adaptive Pipelines</a:t>
            </a:r>
          </a:p>
          <a:p>
            <a:pPr marL="0" lvl="1" indent="0">
              <a:buFont typeface="Arial" panose="020B0604020202020204" pitchFamily="34" charset="0"/>
              <a:buNone/>
            </a:pPr>
            <a:r>
              <a:rPr lang="en-US" sz="1400"/>
              <a:t>Effective newborn EEG artifact removal requires robust, adaptive methods tailored to transient, high-amplitude disturbances.</a:t>
            </a:r>
          </a:p>
          <a:p>
            <a:pPr marL="0" indent="0">
              <a:spcBef>
                <a:spcPts val="2500"/>
              </a:spcBef>
              <a:buFont typeface="Arial" panose="020B0604020202020204" pitchFamily="34" charset="0"/>
              <a:buNone/>
            </a:pPr>
            <a:r>
              <a:rPr lang="en-US" sz="1400" b="1"/>
              <a:t>Development of NEAR Pipeline</a:t>
            </a:r>
          </a:p>
          <a:p>
            <a:pPr marL="0" lvl="1" indent="0">
              <a:buFont typeface="Arial" panose="020B0604020202020204" pitchFamily="34" charset="0"/>
              <a:buNone/>
            </a:pPr>
            <a:r>
              <a:rPr lang="en-US" sz="1400"/>
              <a:t>NEAR is a dedicated preprocessing pipeline designed specifically to address the unique characteristics of newborn EEG data.</a:t>
            </a:r>
          </a:p>
        </p:txBody>
      </p:sp>
      <p:pic>
        <p:nvPicPr>
          <p:cNvPr id="5" name="Content Placeholder 4" descr="Fetal Monitor in Hospital">
            <a:extLst>
              <a:ext uri="{FF2B5EF4-FFF2-40B4-BE49-F238E27FC236}">
                <a16:creationId xmlns:a16="http://schemas.microsoft.com/office/drawing/2014/main" id="{2F0AC264-5CDD-446F-B49D-7D011C9ABCF4}"/>
              </a:ext>
            </a:extLst>
          </p:cNvPr>
          <p:cNvPicPr>
            <a:picLocks noGrp="1" noChangeAspect="1"/>
          </p:cNvPicPr>
          <p:nvPr>
            <p:ph type="pic" sz="quarter" idx="13"/>
          </p:nvPr>
        </p:nvPicPr>
        <p:blipFill>
          <a:blip r:embed="rId3"/>
          <a:srcRect l="25044" r="35047"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23703356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97398-1921-69F6-5823-F7654F536FA9}"/>
              </a:ext>
            </a:extLst>
          </p:cNvPr>
          <p:cNvSpPr>
            <a:spLocks noGrp="1"/>
          </p:cNvSpPr>
          <p:nvPr>
            <p:ph type="title"/>
          </p:nvPr>
        </p:nvSpPr>
        <p:spPr>
          <a:xfrm>
            <a:off x="612647" y="552478"/>
            <a:ext cx="6858000" cy="932688"/>
          </a:xfrm>
        </p:spPr>
        <p:txBody>
          <a:bodyPr anchor="b">
            <a:normAutofit/>
          </a:bodyPr>
          <a:lstStyle/>
          <a:p>
            <a:r>
              <a:rPr lang="en-US" sz="2800"/>
              <a:t>NEAR Pipeline: LOF-Based Channel Detection and ASR</a:t>
            </a:r>
          </a:p>
        </p:txBody>
      </p:sp>
      <p:sp>
        <p:nvSpPr>
          <p:cNvPr id="3" name="Content Placeholder 2">
            <a:extLst>
              <a:ext uri="{FF2B5EF4-FFF2-40B4-BE49-F238E27FC236}">
                <a16:creationId xmlns:a16="http://schemas.microsoft.com/office/drawing/2014/main" id="{4395D7CF-9B4B-D34F-F3CD-7FB4C839DE1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LOF-Based Channel Detection</a:t>
            </a:r>
          </a:p>
          <a:p>
            <a:pPr marL="0" lvl="1" indent="0">
              <a:buFont typeface="Arial" panose="020B0604020202020204" pitchFamily="34" charset="0"/>
              <a:buNone/>
            </a:pPr>
            <a:r>
              <a:rPr lang="en-US" sz="1400"/>
              <a:t>LOF algorithm identifies abnormal EEG channels by detecting outliers with unusual amplitude and noise patterns.</a:t>
            </a:r>
          </a:p>
          <a:p>
            <a:pPr marL="0" indent="0">
              <a:spcBef>
                <a:spcPts val="2500"/>
              </a:spcBef>
              <a:buFont typeface="Arial" panose="020B0604020202020204" pitchFamily="34" charset="0"/>
              <a:buNone/>
            </a:pPr>
            <a:r>
              <a:rPr lang="en-US" sz="1400" b="1"/>
              <a:t>Artifact Subspace Reconstruction</a:t>
            </a:r>
          </a:p>
          <a:p>
            <a:pPr marL="0" lvl="1" indent="0">
              <a:buFont typeface="Arial" panose="020B0604020202020204" pitchFamily="34" charset="0"/>
              <a:buNone/>
            </a:pPr>
            <a:r>
              <a:rPr lang="en-US" sz="1400"/>
              <a:t>ASR identifies and corrects transient high-amplitude EEG artifacts by comparing to clean data statistics.</a:t>
            </a:r>
          </a:p>
          <a:p>
            <a:pPr marL="0" indent="0">
              <a:spcBef>
                <a:spcPts val="2500"/>
              </a:spcBef>
              <a:buFont typeface="Arial" panose="020B0604020202020204" pitchFamily="34" charset="0"/>
              <a:buNone/>
            </a:pPr>
            <a:r>
              <a:rPr lang="en-US" sz="1400" b="1"/>
              <a:t>Parameter Calibration</a:t>
            </a:r>
          </a:p>
          <a:p>
            <a:pPr marL="0" lvl="1" indent="0">
              <a:buFont typeface="Arial" panose="020B0604020202020204" pitchFamily="34" charset="0"/>
              <a:buNone/>
            </a:pPr>
            <a:r>
              <a:rPr lang="en-US" sz="1400"/>
              <a:t>Calibration of ASR cutoff parameter is crucial for newborn EEG to balance artifact removal and signal preservation.</a:t>
            </a:r>
          </a:p>
          <a:p>
            <a:pPr marL="0" indent="0">
              <a:spcBef>
                <a:spcPts val="2500"/>
              </a:spcBef>
              <a:buFont typeface="Arial" panose="020B0604020202020204" pitchFamily="34" charset="0"/>
              <a:buNone/>
            </a:pPr>
            <a:r>
              <a:rPr lang="en-US" sz="1400" b="1"/>
              <a:t>Signal Interpolation and Re-Referencing</a:t>
            </a:r>
          </a:p>
          <a:p>
            <a:pPr marL="0" lvl="1" indent="0">
              <a:buFont typeface="Arial" panose="020B0604020202020204" pitchFamily="34" charset="0"/>
              <a:buNone/>
            </a:pPr>
            <a:r>
              <a:rPr lang="en-US" sz="1400"/>
              <a:t>After artifact removal, bad channels are interpolated and EEG data are re-referenced to improve signal quality.</a:t>
            </a:r>
          </a:p>
        </p:txBody>
      </p:sp>
      <p:pic>
        <p:nvPicPr>
          <p:cNvPr id="5" name="Content Placeholder 4" descr="impulse on an abstract sound wave in cyan in front of a black background.">
            <a:extLst>
              <a:ext uri="{FF2B5EF4-FFF2-40B4-BE49-F238E27FC236}">
                <a16:creationId xmlns:a16="http://schemas.microsoft.com/office/drawing/2014/main" id="{377321E0-C9DF-4305-9FF3-39FFEBCCFA9F}"/>
              </a:ext>
            </a:extLst>
          </p:cNvPr>
          <p:cNvPicPr>
            <a:picLocks noGrp="1" noChangeAspect="1"/>
          </p:cNvPicPr>
          <p:nvPr>
            <p:ph type="pic" sz="quarter" idx="13"/>
          </p:nvPr>
        </p:nvPicPr>
        <p:blipFill>
          <a:blip r:embed="rId3"/>
          <a:srcRect l="28981" r="31110"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36698662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08D9B-9A38-B094-A3E9-649E199A41CF}"/>
              </a:ext>
            </a:extLst>
          </p:cNvPr>
          <p:cNvSpPr>
            <a:spLocks noGrp="1"/>
          </p:cNvSpPr>
          <p:nvPr>
            <p:ph type="ctrTitle"/>
          </p:nvPr>
        </p:nvSpPr>
        <p:spPr>
          <a:xfrm>
            <a:off x="1522013" y="1282325"/>
            <a:ext cx="8893834" cy="3988550"/>
          </a:xfrm>
        </p:spPr>
        <p:txBody>
          <a:bodyPr anchor="ctr">
            <a:normAutofit/>
          </a:bodyPr>
          <a:lstStyle/>
          <a:p>
            <a:r>
              <a:rPr lang="en-US"/>
              <a:t>Paper 3: Arpaia et al. (2025) — Wearable EEG Review</a:t>
            </a:r>
          </a:p>
        </p:txBody>
      </p:sp>
    </p:spTree>
    <p:extLst>
      <p:ext uri="{BB962C8B-B14F-4D97-AF65-F5344CB8AC3E}">
        <p14:creationId xmlns:p14="http://schemas.microsoft.com/office/powerpoint/2010/main" val="1123891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22419-4D11-9F86-99E3-ED53EE3FC6B7}"/>
              </a:ext>
            </a:extLst>
          </p:cNvPr>
          <p:cNvSpPr>
            <a:spLocks noGrp="1"/>
          </p:cNvSpPr>
          <p:nvPr>
            <p:ph type="title"/>
          </p:nvPr>
        </p:nvSpPr>
        <p:spPr>
          <a:xfrm>
            <a:off x="612647" y="552478"/>
            <a:ext cx="6858000" cy="932688"/>
          </a:xfrm>
        </p:spPr>
        <p:txBody>
          <a:bodyPr anchor="b">
            <a:normAutofit/>
          </a:bodyPr>
          <a:lstStyle/>
          <a:p>
            <a:r>
              <a:rPr lang="en-US" sz="2800"/>
              <a:t>Wearable EEG: Artifact Taxonomy and Challenges</a:t>
            </a:r>
          </a:p>
        </p:txBody>
      </p:sp>
      <p:sp>
        <p:nvSpPr>
          <p:cNvPr id="3" name="Content Placeholder 2">
            <a:extLst>
              <a:ext uri="{FF2B5EF4-FFF2-40B4-BE49-F238E27FC236}">
                <a16:creationId xmlns:a16="http://schemas.microsoft.com/office/drawing/2014/main" id="{BFDB8E6D-F959-9C5E-B366-213C4D10ACB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Wearable EEG Characteristics</a:t>
            </a:r>
          </a:p>
          <a:p>
            <a:pPr marL="0" lvl="1" indent="0">
              <a:buFont typeface="Arial" panose="020B0604020202020204" pitchFamily="34" charset="0"/>
              <a:buNone/>
            </a:pPr>
            <a:r>
              <a:rPr lang="en-US" sz="1400"/>
              <a:t>Wearable EEG uses fewer channels, dry or semi-wet electrodes, and operates in mobile environments, increasing artifact susceptibility.</a:t>
            </a:r>
          </a:p>
          <a:p>
            <a:pPr marL="0" indent="0">
              <a:spcBef>
                <a:spcPts val="2500"/>
              </a:spcBef>
              <a:buFont typeface="Arial" panose="020B0604020202020204" pitchFamily="34" charset="0"/>
              <a:buNone/>
            </a:pPr>
            <a:r>
              <a:rPr lang="en-US" sz="1400" b="1"/>
              <a:t>Artifact Taxonomy</a:t>
            </a:r>
          </a:p>
          <a:p>
            <a:pPr marL="0" lvl="1" indent="0">
              <a:buFont typeface="Arial" panose="020B0604020202020204" pitchFamily="34" charset="0"/>
              <a:buNone/>
            </a:pPr>
            <a:r>
              <a:rPr lang="en-US" sz="1400"/>
              <a:t>Artifacts include ocular, muscular, movement, instrumental, cardiac, and electromagnetic interference affecting data quality in wearable EEG.</a:t>
            </a:r>
          </a:p>
          <a:p>
            <a:pPr marL="0" indent="0">
              <a:spcBef>
                <a:spcPts val="2500"/>
              </a:spcBef>
              <a:buFont typeface="Arial" panose="020B0604020202020204" pitchFamily="34" charset="0"/>
              <a:buNone/>
            </a:pPr>
            <a:r>
              <a:rPr lang="en-US" sz="1400" b="1"/>
              <a:t>Artifact Detection Challenges</a:t>
            </a:r>
          </a:p>
          <a:p>
            <a:pPr marL="0" lvl="1" indent="0">
              <a:buFont typeface="Arial" panose="020B0604020202020204" pitchFamily="34" charset="0"/>
              <a:buNone/>
            </a:pPr>
            <a:r>
              <a:rPr lang="en-US" sz="1400"/>
              <a:t>Most methods detect contamination but few identify specific artifact categories, which are essential for targeted removal methods.</a:t>
            </a:r>
          </a:p>
          <a:p>
            <a:pPr marL="0" indent="0">
              <a:spcBef>
                <a:spcPts val="2500"/>
              </a:spcBef>
              <a:buFont typeface="Arial" panose="020B0604020202020204" pitchFamily="34" charset="0"/>
              <a:buNone/>
            </a:pPr>
            <a:r>
              <a:rPr lang="en-US" sz="1400" b="1"/>
              <a:t>Algorithmic Constraints</a:t>
            </a:r>
          </a:p>
          <a:p>
            <a:pPr marL="0" lvl="1" indent="0">
              <a:buFont typeface="Arial" panose="020B0604020202020204" pitchFamily="34" charset="0"/>
              <a:buNone/>
            </a:pPr>
            <a:r>
              <a:rPr lang="en-US" sz="1400"/>
              <a:t>Low channel count and mobile use limit traditional source separation, requiring adaptive, lightweight artifact removal algorithms.</a:t>
            </a:r>
          </a:p>
        </p:txBody>
      </p:sp>
      <p:pic>
        <p:nvPicPr>
          <p:cNvPr id="5" name="Content Placeholder 4" descr="Cable connecting with electronic brain. Neural linking, human-machine interaction concept. The figure has been designed with Smith Micro Poser.">
            <a:extLst>
              <a:ext uri="{FF2B5EF4-FFF2-40B4-BE49-F238E27FC236}">
                <a16:creationId xmlns:a16="http://schemas.microsoft.com/office/drawing/2014/main" id="{672C2A66-65A8-42B0-B0DE-EDC0F5D7E907}"/>
              </a:ext>
            </a:extLst>
          </p:cNvPr>
          <p:cNvPicPr>
            <a:picLocks noGrp="1" noChangeAspect="1"/>
          </p:cNvPicPr>
          <p:nvPr>
            <p:ph type="pic" sz="quarter" idx="13"/>
          </p:nvPr>
        </p:nvPicPr>
        <p:blipFill>
          <a:blip r:embed="rId3"/>
          <a:srcRect l="24498" r="15714"/>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5168535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1475D-745B-31C9-42E0-A00E340CC923}"/>
              </a:ext>
            </a:extLst>
          </p:cNvPr>
          <p:cNvSpPr>
            <a:spLocks noGrp="1"/>
          </p:cNvSpPr>
          <p:nvPr>
            <p:ph type="title"/>
          </p:nvPr>
        </p:nvSpPr>
        <p:spPr>
          <a:xfrm>
            <a:off x="612647" y="552478"/>
            <a:ext cx="6858000" cy="932688"/>
          </a:xfrm>
        </p:spPr>
        <p:txBody>
          <a:bodyPr anchor="b">
            <a:normAutofit/>
          </a:bodyPr>
          <a:lstStyle/>
          <a:p>
            <a:r>
              <a:rPr lang="en-US" sz="2800"/>
              <a:t>Methods and Evaluation Metrics in Wearable EEG Studies</a:t>
            </a:r>
          </a:p>
        </p:txBody>
      </p:sp>
      <p:sp>
        <p:nvSpPr>
          <p:cNvPr id="3" name="Content Placeholder 2">
            <a:extLst>
              <a:ext uri="{FF2B5EF4-FFF2-40B4-BE49-F238E27FC236}">
                <a16:creationId xmlns:a16="http://schemas.microsoft.com/office/drawing/2014/main" id="{5DDDD942-C2DB-E2A8-D951-1BB63F5F4A8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Algorithmic Methods Overview</a:t>
            </a:r>
          </a:p>
          <a:p>
            <a:pPr marL="0" lvl="1" indent="0">
              <a:buFont typeface="Arial" panose="020B0604020202020204" pitchFamily="34" charset="0"/>
              <a:buNone/>
            </a:pPr>
            <a:r>
              <a:rPr lang="en-US" sz="1400"/>
              <a:t>Wearable EEG artifact removal methods include filtering, blind source separation, signal decomposition, ASR, and machine learning models.</a:t>
            </a:r>
          </a:p>
          <a:p>
            <a:pPr marL="0" indent="0">
              <a:spcBef>
                <a:spcPts val="2500"/>
              </a:spcBef>
              <a:buFont typeface="Arial" panose="020B0604020202020204" pitchFamily="34" charset="0"/>
              <a:buNone/>
            </a:pPr>
            <a:r>
              <a:rPr lang="en-US" sz="1400" b="1"/>
              <a:t>Popular Artifact Handling Techniques</a:t>
            </a:r>
          </a:p>
          <a:p>
            <a:pPr marL="0" lvl="1" indent="0">
              <a:buFont typeface="Arial" panose="020B0604020202020204" pitchFamily="34" charset="0"/>
              <a:buNone/>
            </a:pPr>
            <a:r>
              <a:rPr lang="en-US" sz="1400"/>
              <a:t>ASR and wavelet-based methods are favored for managing movement and non-stationary artifacts in wearable EEG recordings.</a:t>
            </a:r>
          </a:p>
          <a:p>
            <a:pPr marL="0" indent="0">
              <a:spcBef>
                <a:spcPts val="2500"/>
              </a:spcBef>
              <a:buFont typeface="Arial" panose="020B0604020202020204" pitchFamily="34" charset="0"/>
              <a:buNone/>
            </a:pPr>
            <a:r>
              <a:rPr lang="en-US" sz="1400" b="1"/>
              <a:t>Evaluation Metrics Variability</a:t>
            </a:r>
          </a:p>
          <a:p>
            <a:pPr marL="0" lvl="1" indent="0">
              <a:buFont typeface="Arial" panose="020B0604020202020204" pitchFamily="34" charset="0"/>
              <a:buNone/>
            </a:pPr>
            <a:r>
              <a:rPr lang="en-US" sz="1400"/>
              <a:t>Studies use diverse accuracy, selectivity, classification, and operational metrics, lacking standardization for comparison.</a:t>
            </a:r>
          </a:p>
          <a:p>
            <a:pPr marL="0" indent="0">
              <a:spcBef>
                <a:spcPts val="2500"/>
              </a:spcBef>
              <a:buFont typeface="Arial" panose="020B0604020202020204" pitchFamily="34" charset="0"/>
              <a:buNone/>
            </a:pPr>
            <a:r>
              <a:rPr lang="en-US" sz="1400" b="1"/>
              <a:t>Need for Standard Benchmarks</a:t>
            </a:r>
          </a:p>
          <a:p>
            <a:pPr marL="0" lvl="1" indent="0">
              <a:buFont typeface="Arial" panose="020B0604020202020204" pitchFamily="34" charset="0"/>
              <a:buNone/>
            </a:pPr>
            <a:r>
              <a:rPr lang="en-US" sz="1400"/>
              <a:t>Inconsistent evaluation practices highlight the need for clear benchmarks and reporting standards in wearable EEG research.</a:t>
            </a:r>
          </a:p>
        </p:txBody>
      </p:sp>
      <p:pic>
        <p:nvPicPr>
          <p:cNvPr id="5" name="Content Placeholder 4" descr="Swimming goggles with drops of water.">
            <a:extLst>
              <a:ext uri="{FF2B5EF4-FFF2-40B4-BE49-F238E27FC236}">
                <a16:creationId xmlns:a16="http://schemas.microsoft.com/office/drawing/2014/main" id="{F2411DE1-9020-4670-AA48-BBF56E94D40E}"/>
              </a:ext>
            </a:extLst>
          </p:cNvPr>
          <p:cNvPicPr>
            <a:picLocks noGrp="1" noChangeAspect="1"/>
          </p:cNvPicPr>
          <p:nvPr>
            <p:ph type="pic" sz="quarter" idx="13"/>
          </p:nvPr>
        </p:nvPicPr>
        <p:blipFill>
          <a:blip r:embed="rId3"/>
          <a:srcRect l="25522" r="34568"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26605632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EB113-96E3-4F6D-B864-D526B5170B0B}"/>
              </a:ext>
            </a:extLst>
          </p:cNvPr>
          <p:cNvSpPr>
            <a:spLocks noGrp="1"/>
          </p:cNvSpPr>
          <p:nvPr>
            <p:ph type="ctrTitle"/>
          </p:nvPr>
        </p:nvSpPr>
        <p:spPr>
          <a:xfrm>
            <a:off x="1522013" y="1282325"/>
            <a:ext cx="8893834" cy="3988550"/>
          </a:xfrm>
        </p:spPr>
        <p:txBody>
          <a:bodyPr anchor="ctr">
            <a:normAutofit/>
          </a:bodyPr>
          <a:lstStyle/>
          <a:p>
            <a:r>
              <a:rPr lang="en-US"/>
              <a:t>Paper 4: Zangeneh Soroush et al. (2022) — Hybrid Artifact Removal</a:t>
            </a:r>
          </a:p>
        </p:txBody>
      </p:sp>
    </p:spTree>
    <p:extLst>
      <p:ext uri="{BB962C8B-B14F-4D97-AF65-F5344CB8AC3E}">
        <p14:creationId xmlns:p14="http://schemas.microsoft.com/office/powerpoint/2010/main" val="1979108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42EB4-3C1D-4F1D-D571-0A9F2B362366}"/>
              </a:ext>
            </a:extLst>
          </p:cNvPr>
          <p:cNvSpPr>
            <a:spLocks noGrp="1"/>
          </p:cNvSpPr>
          <p:nvPr>
            <p:ph type="title"/>
          </p:nvPr>
        </p:nvSpPr>
        <p:spPr>
          <a:xfrm>
            <a:off x="612647" y="552478"/>
            <a:ext cx="6858000" cy="932688"/>
          </a:xfrm>
        </p:spPr>
        <p:txBody>
          <a:bodyPr anchor="b">
            <a:normAutofit/>
          </a:bodyPr>
          <a:lstStyle/>
          <a:p>
            <a:r>
              <a:rPr lang="en-US" sz="2800"/>
              <a:t>Hybrid Pipeline Using SOBI, Nonlinear Dynamics, and Machine Learning</a:t>
            </a:r>
          </a:p>
        </p:txBody>
      </p:sp>
      <p:sp>
        <p:nvSpPr>
          <p:cNvPr id="3" name="Content Placeholder 2">
            <a:extLst>
              <a:ext uri="{FF2B5EF4-FFF2-40B4-BE49-F238E27FC236}">
                <a16:creationId xmlns:a16="http://schemas.microsoft.com/office/drawing/2014/main" id="{E0BB8E57-C388-F6E9-F3C9-15739340ADD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Source Separation with SOBI</a:t>
            </a:r>
          </a:p>
          <a:p>
            <a:pPr marL="0" lvl="1" indent="0">
              <a:buFont typeface="Arial" panose="020B0604020202020204" pitchFamily="34" charset="0"/>
              <a:buNone/>
            </a:pPr>
            <a:r>
              <a:rPr lang="en-US" sz="1400"/>
              <a:t>SOBI efficiently decomposes multi-channel EEG into source components using second-order statistics and time-lagged covariances.</a:t>
            </a:r>
          </a:p>
          <a:p>
            <a:pPr marL="0" indent="0">
              <a:spcBef>
                <a:spcPts val="2500"/>
              </a:spcBef>
              <a:buFont typeface="Arial" panose="020B0604020202020204" pitchFamily="34" charset="0"/>
              <a:buNone/>
            </a:pPr>
            <a:r>
              <a:rPr lang="en-US" sz="1400" b="1"/>
              <a:t>Nonlinear Dynamics Analysis</a:t>
            </a:r>
          </a:p>
          <a:p>
            <a:pPr marL="0" lvl="1" indent="0">
              <a:buFont typeface="Arial" panose="020B0604020202020204" pitchFamily="34" charset="0"/>
              <a:buNone/>
            </a:pPr>
            <a:r>
              <a:rPr lang="en-US" sz="1400"/>
              <a:t>Phase space reconstruction and angle-space representation capture nonlinear dynamical behavior of EEG components for feature extraction.</a:t>
            </a:r>
          </a:p>
          <a:p>
            <a:pPr marL="0" indent="0">
              <a:spcBef>
                <a:spcPts val="2500"/>
              </a:spcBef>
              <a:buFont typeface="Arial" panose="020B0604020202020204" pitchFamily="34" charset="0"/>
              <a:buNone/>
            </a:pPr>
            <a:r>
              <a:rPr lang="en-US" sz="1400" b="1"/>
              <a:t>Machine Learning Classification</a:t>
            </a:r>
          </a:p>
          <a:p>
            <a:pPr marL="0" lvl="1" indent="0">
              <a:buFont typeface="Arial" panose="020B0604020202020204" pitchFamily="34" charset="0"/>
              <a:buNone/>
            </a:pPr>
            <a:r>
              <a:rPr lang="en-US" sz="1400"/>
              <a:t>Extracted features are input into machine learning classifiers to distinguish neural from artifactual EEG components with high accuracy.</a:t>
            </a:r>
          </a:p>
          <a:p>
            <a:pPr marL="0" indent="0">
              <a:spcBef>
                <a:spcPts val="2500"/>
              </a:spcBef>
              <a:buFont typeface="Arial" panose="020B0604020202020204" pitchFamily="34" charset="0"/>
              <a:buNone/>
            </a:pPr>
            <a:r>
              <a:rPr lang="en-US" sz="1400" b="1"/>
              <a:t>Classification Performance</a:t>
            </a:r>
          </a:p>
          <a:p>
            <a:pPr marL="0" lvl="1" indent="0">
              <a:buFont typeface="Arial" panose="020B0604020202020204" pitchFamily="34" charset="0"/>
              <a:buNone/>
            </a:pPr>
            <a:r>
              <a:rPr lang="en-US" sz="1400"/>
              <a:t>Binary classification outperforms multi-class, reliably separating neural and artifact components in real and simulated EEG data.</a:t>
            </a:r>
          </a:p>
        </p:txBody>
      </p:sp>
      <p:pic>
        <p:nvPicPr>
          <p:cNvPr id="5" name="Content Placeholder 4" descr="Internet of Things Concept">
            <a:extLst>
              <a:ext uri="{FF2B5EF4-FFF2-40B4-BE49-F238E27FC236}">
                <a16:creationId xmlns:a16="http://schemas.microsoft.com/office/drawing/2014/main" id="{DC277083-798A-4AEF-B341-3AE18C0B96DA}"/>
              </a:ext>
            </a:extLst>
          </p:cNvPr>
          <p:cNvPicPr>
            <a:picLocks noGrp="1" noChangeAspect="1"/>
          </p:cNvPicPr>
          <p:nvPr>
            <p:ph type="pic" sz="quarter" idx="13"/>
          </p:nvPr>
        </p:nvPicPr>
        <p:blipFill>
          <a:blip r:embed="rId3"/>
          <a:srcRect l="25380" r="34711"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30817490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87515-9603-0353-B29A-C5C4BDC76C96}"/>
              </a:ext>
            </a:extLst>
          </p:cNvPr>
          <p:cNvSpPr>
            <a:spLocks noGrp="1"/>
          </p:cNvSpPr>
          <p:nvPr>
            <p:ph type="title"/>
          </p:nvPr>
        </p:nvSpPr>
        <p:spPr>
          <a:xfrm>
            <a:off x="612647" y="552478"/>
            <a:ext cx="6858000" cy="932688"/>
          </a:xfrm>
        </p:spPr>
        <p:txBody>
          <a:bodyPr anchor="b">
            <a:normAutofit/>
          </a:bodyPr>
          <a:lstStyle/>
          <a:p>
            <a:r>
              <a:rPr lang="en-US" sz="2800" dirty="0"/>
              <a:t>Stationary Wavelet Transform and Key Lessons</a:t>
            </a:r>
          </a:p>
        </p:txBody>
      </p:sp>
      <p:sp>
        <p:nvSpPr>
          <p:cNvPr id="3" name="Content Placeholder 2">
            <a:extLst>
              <a:ext uri="{FF2B5EF4-FFF2-40B4-BE49-F238E27FC236}">
                <a16:creationId xmlns:a16="http://schemas.microsoft.com/office/drawing/2014/main" id="{3452A918-EC68-FBEC-4D73-E0F725CD68A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Use of Stationary Wavelet Transform</a:t>
            </a:r>
          </a:p>
          <a:p>
            <a:pPr marL="0" lvl="1" indent="0">
              <a:buFont typeface="Arial" panose="020B0604020202020204" pitchFamily="34" charset="0"/>
              <a:buNone/>
            </a:pPr>
            <a:r>
              <a:rPr lang="en-US" sz="1400"/>
              <a:t>SWT decomposes signals without downsampling, preserving temporal alignment for effective artifact suppression.</a:t>
            </a:r>
          </a:p>
          <a:p>
            <a:pPr marL="0" indent="0">
              <a:spcBef>
                <a:spcPts val="2500"/>
              </a:spcBef>
              <a:buFont typeface="Arial" panose="020B0604020202020204" pitchFamily="34" charset="0"/>
              <a:buNone/>
            </a:pPr>
            <a:r>
              <a:rPr lang="en-US" sz="1400" b="1"/>
              <a:t>Artifact Suppression Technique</a:t>
            </a:r>
          </a:p>
          <a:p>
            <a:pPr marL="0" lvl="1" indent="0">
              <a:buFont typeface="Arial" panose="020B0604020202020204" pitchFamily="34" charset="0"/>
              <a:buNone/>
            </a:pPr>
            <a:r>
              <a:rPr lang="en-US" sz="1400"/>
              <a:t>Soft thresholding with Haar wavelets attenuates artifact subbands while retaining neural details in EEG data.</a:t>
            </a:r>
          </a:p>
          <a:p>
            <a:pPr marL="0" indent="0">
              <a:spcBef>
                <a:spcPts val="2500"/>
              </a:spcBef>
              <a:buFont typeface="Arial" panose="020B0604020202020204" pitchFamily="34" charset="0"/>
              <a:buNone/>
            </a:pPr>
            <a:r>
              <a:rPr lang="en-US" sz="1400" b="1"/>
              <a:t>Evaluation and Reconstruction</a:t>
            </a:r>
          </a:p>
          <a:p>
            <a:pPr marL="0" lvl="1" indent="0">
              <a:buFont typeface="Arial" panose="020B0604020202020204" pitchFamily="34" charset="0"/>
              <a:buNone/>
            </a:pPr>
            <a:r>
              <a:rPr lang="en-US" sz="1400"/>
              <a:t>Method reconstructs EEG after denoising and is evaluated on diverse data sets using multiple performance metrics.</a:t>
            </a:r>
          </a:p>
          <a:p>
            <a:pPr marL="0" indent="0">
              <a:spcBef>
                <a:spcPts val="2500"/>
              </a:spcBef>
              <a:buFont typeface="Arial" panose="020B0604020202020204" pitchFamily="34" charset="0"/>
              <a:buNone/>
            </a:pPr>
            <a:r>
              <a:rPr lang="en-US" sz="1400" b="1"/>
              <a:t>Key Lessons and Limitations</a:t>
            </a:r>
          </a:p>
          <a:p>
            <a:pPr marL="0" lvl="1" indent="0">
              <a:buFont typeface="Arial" panose="020B0604020202020204" pitchFamily="34" charset="0"/>
              <a:buNone/>
            </a:pPr>
            <a:r>
              <a:rPr lang="en-US" sz="1400"/>
              <a:t>Artifact removal should preserve neural info; method suits stereotyped artifacts and requires many channels.</a:t>
            </a:r>
          </a:p>
        </p:txBody>
      </p:sp>
      <p:pic>
        <p:nvPicPr>
          <p:cNvPr id="5" name="Content Placeholder 4" descr="Network Artificial Communication">
            <a:extLst>
              <a:ext uri="{FF2B5EF4-FFF2-40B4-BE49-F238E27FC236}">
                <a16:creationId xmlns:a16="http://schemas.microsoft.com/office/drawing/2014/main" id="{9F032F9D-D708-41C2-A610-67789E107E80}"/>
              </a:ext>
            </a:extLst>
          </p:cNvPr>
          <p:cNvPicPr>
            <a:picLocks noGrp="1" noChangeAspect="1"/>
          </p:cNvPicPr>
          <p:nvPr>
            <p:ph type="pic" sz="quarter" idx="13"/>
          </p:nvPr>
        </p:nvPicPr>
        <p:blipFill>
          <a:blip r:embed="rId3"/>
          <a:srcRect l="38252" r="28117"/>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17087574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Subtitle 2"/>
          <p:cNvSpPr>
            <a:spLocks noGrp="1"/>
          </p:cNvSpPr>
          <p:nvPr>
            <p:ph type="subTitle" idx="1"/>
          </p:nvPr>
        </p:nvSpPr>
        <p:spPr/>
        <p:txBody>
          <a:bodyPr/>
          <a:lstStyle/>
          <a:p>
            <a:endParaRPr dirty="0"/>
          </a:p>
        </p:txBody>
      </p:sp>
      <p:sp>
        <p:nvSpPr>
          <p:cNvPr id="4" name="Rectangle 3"/>
          <p:cNvSpPr/>
          <p:nvPr/>
        </p:nvSpPr>
        <p:spPr>
          <a:xfrm>
            <a:off x="0" y="0"/>
            <a:ext cx="12191695" cy="123444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874519"/>
            <a:ext cx="10789920" cy="502920"/>
          </a:xfrm>
          <a:prstGeom prst="rect">
            <a:avLst/>
          </a:prstGeom>
          <a:noFill/>
        </p:spPr>
        <p:txBody>
          <a:bodyPr wrap="square" lIns="45720" rIns="45720">
            <a:spAutoFit/>
          </a:bodyPr>
          <a:lstStyle/>
          <a:p>
            <a:pPr algn="ctr"/>
            <a:r>
              <a:rPr sz="3600" b="1">
                <a:solidFill>
                  <a:srgbClr val="14233C"/>
                </a:solidFill>
                <a:latin typeface="Aptos"/>
              </a:rPr>
              <a:t>Implementation</a:t>
            </a:r>
          </a:p>
        </p:txBody>
      </p:sp>
      <p:sp>
        <p:nvSpPr>
          <p:cNvPr id="6" name="TextBox 5"/>
          <p:cNvSpPr txBox="1"/>
          <p:nvPr/>
        </p:nvSpPr>
        <p:spPr>
          <a:xfrm>
            <a:off x="731520" y="2487168"/>
            <a:ext cx="10789920" cy="365760"/>
          </a:xfrm>
          <a:prstGeom prst="rect">
            <a:avLst/>
          </a:prstGeom>
          <a:noFill/>
        </p:spPr>
        <p:txBody>
          <a:bodyPr wrap="square" lIns="45720" rIns="45720">
            <a:spAutoFit/>
          </a:bodyPr>
          <a:lstStyle/>
          <a:p>
            <a:pPr algn="ctr"/>
            <a:r>
              <a:rPr sz="2200" b="0">
                <a:solidFill>
                  <a:srgbClr val="2962FF"/>
                </a:solidFill>
                <a:latin typeface="Aptos"/>
              </a:rPr>
              <a:t>Simple Python/MNE EEG Noise-Removal Pipeline</a:t>
            </a:r>
          </a:p>
        </p:txBody>
      </p:sp>
      <p:sp>
        <p:nvSpPr>
          <p:cNvPr id="7" name="Rounded Rectangle 6"/>
          <p:cNvSpPr/>
          <p:nvPr/>
        </p:nvSpPr>
        <p:spPr>
          <a:xfrm>
            <a:off x="1920240" y="3703320"/>
            <a:ext cx="8321040" cy="1234440"/>
          </a:xfrm>
          <a:prstGeom prst="roundRect">
            <a:avLst/>
          </a:prstGeom>
          <a:solidFill>
            <a:srgbClr val="E8F0FE"/>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920240" y="3703320"/>
            <a:ext cx="73152" cy="1234440"/>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84832" y="3794759"/>
            <a:ext cx="8046719" cy="292608"/>
          </a:xfrm>
          <a:prstGeom prst="rect">
            <a:avLst/>
          </a:prstGeom>
          <a:noFill/>
        </p:spPr>
        <p:txBody>
          <a:bodyPr wrap="square" lIns="45720" rIns="45720">
            <a:spAutoFit/>
          </a:bodyPr>
          <a:lstStyle/>
          <a:p>
            <a:r>
              <a:rPr sz="1500" b="1">
                <a:solidFill>
                  <a:srgbClr val="14233C"/>
                </a:solidFill>
                <a:latin typeface="Aptos"/>
              </a:rPr>
              <a:t>Focus of this section</a:t>
            </a:r>
          </a:p>
        </p:txBody>
      </p:sp>
      <p:sp>
        <p:nvSpPr>
          <p:cNvPr id="10" name="TextBox 9"/>
          <p:cNvSpPr txBox="1"/>
          <p:nvPr/>
        </p:nvSpPr>
        <p:spPr>
          <a:xfrm>
            <a:off x="2084832" y="4160520"/>
            <a:ext cx="8046719" cy="704088"/>
          </a:xfrm>
          <a:prstGeom prst="rect">
            <a:avLst/>
          </a:prstGeom>
          <a:noFill/>
        </p:spPr>
        <p:txBody>
          <a:bodyPr wrap="square">
            <a:spAutoFit/>
          </a:bodyPr>
          <a:lstStyle/>
          <a:p>
            <a:pPr>
              <a:spcAft>
                <a:spcPts val="500"/>
              </a:spcAft>
              <a:defRPr sz="1400">
                <a:solidFill>
                  <a:srgbClr val="1E1E1E"/>
                </a:solidFill>
                <a:latin typeface="Aptos"/>
              </a:defRPr>
            </a:pPr>
            <a:r>
              <a:t>1. General preprocessing pipeline stages</a:t>
            </a:r>
          </a:p>
          <a:p>
            <a:pPr>
              <a:spcAft>
                <a:spcPts val="500"/>
              </a:spcAft>
              <a:defRPr sz="1400">
                <a:solidFill>
                  <a:srgbClr val="1E1E1E"/>
                </a:solidFill>
                <a:latin typeface="Aptos"/>
              </a:defRPr>
            </a:pPr>
            <a:r>
              <a:t>2. Input EEG recording and metadata</a:t>
            </a:r>
          </a:p>
          <a:p>
            <a:pPr>
              <a:spcAft>
                <a:spcPts val="500"/>
              </a:spcAft>
              <a:defRPr sz="1400">
                <a:solidFill>
                  <a:srgbClr val="1E1E1E"/>
                </a:solidFill>
                <a:latin typeface="Aptos"/>
              </a:defRPr>
            </a:pPr>
            <a:r>
              <a:t>3. Generated output files and example results</a:t>
            </a:r>
          </a:p>
        </p:txBody>
      </p:sp>
      <p:sp>
        <p:nvSpPr>
          <p:cNvPr id="11" name="TextBox 10"/>
          <p:cNvSpPr txBox="1"/>
          <p:nvPr/>
        </p:nvSpPr>
        <p:spPr>
          <a:xfrm>
            <a:off x="502920" y="6473952"/>
            <a:ext cx="6583680" cy="164592"/>
          </a:xfrm>
          <a:prstGeom prst="rect">
            <a:avLst/>
          </a:prstGeom>
          <a:noFill/>
        </p:spPr>
        <p:txBody>
          <a:bodyPr wrap="square" lIns="45720" rIns="45720">
            <a:spAutoFit/>
          </a:bodyPr>
          <a:lstStyle/>
          <a:p>
            <a:r>
              <a:rPr sz="800" b="0">
                <a:solidFill>
                  <a:srgbClr val="5F6368"/>
                </a:solidFill>
                <a:latin typeface="Aptos"/>
              </a:rPr>
              <a:t>LP Praktikum Informatik 1 | Implementation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Subtitle 2"/>
          <p:cNvSpPr>
            <a:spLocks noGrp="1"/>
          </p:cNvSpPr>
          <p:nvPr>
            <p:ph type="subTitle" idx="1"/>
          </p:nvPr>
        </p:nvSpPr>
        <p:spPr/>
        <p:txBody>
          <a:bodyPr/>
          <a:lstStyle/>
          <a:p>
            <a:endParaRPr/>
          </a:p>
        </p:txBody>
      </p:sp>
      <p:sp>
        <p:nvSpPr>
          <p:cNvPr id="4" name="TextBox 3"/>
          <p:cNvSpPr txBox="1"/>
          <p:nvPr/>
        </p:nvSpPr>
        <p:spPr>
          <a:xfrm>
            <a:off x="585216" y="478004"/>
            <a:ext cx="11155680" cy="457200"/>
          </a:xfrm>
          <a:prstGeom prst="rect">
            <a:avLst/>
          </a:prstGeom>
          <a:noFill/>
        </p:spPr>
        <p:txBody>
          <a:bodyPr wrap="square" lIns="45720" rIns="45720">
            <a:spAutoFit/>
          </a:bodyPr>
          <a:lstStyle/>
          <a:p>
            <a:r>
              <a:rPr sz="2700" b="1" dirty="0">
                <a:solidFill>
                  <a:srgbClr val="14233C"/>
                </a:solidFill>
                <a:latin typeface="Aptos"/>
              </a:rPr>
              <a:t>Implementation: General Pipeline Stages</a:t>
            </a:r>
          </a:p>
        </p:txBody>
      </p:sp>
      <p:sp>
        <p:nvSpPr>
          <p:cNvPr id="5" name="TextBox 4"/>
          <p:cNvSpPr txBox="1"/>
          <p:nvPr/>
        </p:nvSpPr>
        <p:spPr>
          <a:xfrm>
            <a:off x="897255" y="852305"/>
            <a:ext cx="10972800" cy="292608"/>
          </a:xfrm>
          <a:prstGeom prst="rect">
            <a:avLst/>
          </a:prstGeom>
          <a:noFill/>
        </p:spPr>
        <p:txBody>
          <a:bodyPr wrap="square" lIns="45720" rIns="45720">
            <a:spAutoFit/>
          </a:bodyPr>
          <a:lstStyle/>
          <a:p>
            <a:r>
              <a:rPr sz="1200" b="0" dirty="0">
                <a:solidFill>
                  <a:srgbClr val="5F6368"/>
                </a:solidFill>
                <a:latin typeface="Aptos"/>
              </a:rPr>
              <a:t>Python/MNE baseline pipeline inspired by the reviewed literature</a:t>
            </a:r>
          </a:p>
        </p:txBody>
      </p:sp>
      <p:sp>
        <p:nvSpPr>
          <p:cNvPr id="6" name="Rectangle 5"/>
          <p:cNvSpPr/>
          <p:nvPr/>
        </p:nvSpPr>
        <p:spPr>
          <a:xfrm>
            <a:off x="548640" y="1078992"/>
            <a:ext cx="2148840" cy="36576"/>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hevron 6"/>
          <p:cNvSpPr/>
          <p:nvPr/>
        </p:nvSpPr>
        <p:spPr>
          <a:xfrm>
            <a:off x="548640" y="1508760"/>
            <a:ext cx="1327023" cy="777240"/>
          </a:xfrm>
          <a:prstGeom prst="chevron">
            <a:avLst/>
          </a:prstGeom>
          <a:solidFill>
            <a:srgbClr val="E8F0FE"/>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85216" y="1673351"/>
            <a:ext cx="1253870" cy="548640"/>
          </a:xfrm>
          <a:prstGeom prst="rect">
            <a:avLst/>
          </a:prstGeom>
          <a:noFill/>
        </p:spPr>
        <p:txBody>
          <a:bodyPr wrap="square" lIns="45720" rIns="45720">
            <a:spAutoFit/>
          </a:bodyPr>
          <a:lstStyle/>
          <a:p>
            <a:pPr algn="ctr"/>
            <a:r>
              <a:rPr sz="900" b="1">
                <a:solidFill>
                  <a:srgbClr val="14233C"/>
                </a:solidFill>
                <a:latin typeface="Aptos"/>
              </a:rPr>
              <a:t>Load EEG</a:t>
            </a:r>
          </a:p>
        </p:txBody>
      </p:sp>
      <p:sp>
        <p:nvSpPr>
          <p:cNvPr id="9" name="Chevron 8"/>
          <p:cNvSpPr/>
          <p:nvPr/>
        </p:nvSpPr>
        <p:spPr>
          <a:xfrm>
            <a:off x="1939670" y="1508760"/>
            <a:ext cx="1327023" cy="777240"/>
          </a:xfrm>
          <a:prstGeom prst="chevron">
            <a:avLst/>
          </a:prstGeom>
          <a:solidFill>
            <a:srgbClr val="E8F5E9"/>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976247" y="1673351"/>
            <a:ext cx="1253870" cy="548640"/>
          </a:xfrm>
          <a:prstGeom prst="rect">
            <a:avLst/>
          </a:prstGeom>
          <a:noFill/>
        </p:spPr>
        <p:txBody>
          <a:bodyPr wrap="square" lIns="45720" rIns="45720">
            <a:spAutoFit/>
          </a:bodyPr>
          <a:lstStyle/>
          <a:p>
            <a:pPr algn="ctr"/>
            <a:r>
              <a:rPr sz="900" b="1">
                <a:solidFill>
                  <a:srgbClr val="14233C"/>
                </a:solidFill>
                <a:latin typeface="Aptos"/>
              </a:rPr>
              <a:t>Inspect metadata</a:t>
            </a:r>
          </a:p>
        </p:txBody>
      </p:sp>
      <p:sp>
        <p:nvSpPr>
          <p:cNvPr id="11" name="Chevron 10"/>
          <p:cNvSpPr/>
          <p:nvPr/>
        </p:nvSpPr>
        <p:spPr>
          <a:xfrm>
            <a:off x="3330702" y="1508760"/>
            <a:ext cx="1327023" cy="777240"/>
          </a:xfrm>
          <a:prstGeom prst="chevron">
            <a:avLst/>
          </a:prstGeom>
          <a:solidFill>
            <a:srgbClr val="FFF3E0"/>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67278" y="1673351"/>
            <a:ext cx="1253870" cy="548640"/>
          </a:xfrm>
          <a:prstGeom prst="rect">
            <a:avLst/>
          </a:prstGeom>
          <a:noFill/>
        </p:spPr>
        <p:txBody>
          <a:bodyPr wrap="square" lIns="45720" rIns="45720">
            <a:spAutoFit/>
          </a:bodyPr>
          <a:lstStyle/>
          <a:p>
            <a:pPr algn="ctr"/>
            <a:r>
              <a:rPr sz="900" b="1">
                <a:solidFill>
                  <a:srgbClr val="14233C"/>
                </a:solidFill>
                <a:latin typeface="Aptos"/>
              </a:rPr>
              <a:t>Raw time plot</a:t>
            </a:r>
          </a:p>
        </p:txBody>
      </p:sp>
      <p:sp>
        <p:nvSpPr>
          <p:cNvPr id="13" name="Chevron 12"/>
          <p:cNvSpPr/>
          <p:nvPr/>
        </p:nvSpPr>
        <p:spPr>
          <a:xfrm>
            <a:off x="4721732" y="1508760"/>
            <a:ext cx="1327023" cy="777240"/>
          </a:xfrm>
          <a:prstGeom prst="chevron">
            <a:avLst/>
          </a:prstGeom>
          <a:solidFill>
            <a:srgbClr val="E8F0FE"/>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58308" y="1673351"/>
            <a:ext cx="1253870" cy="548640"/>
          </a:xfrm>
          <a:prstGeom prst="rect">
            <a:avLst/>
          </a:prstGeom>
          <a:noFill/>
        </p:spPr>
        <p:txBody>
          <a:bodyPr wrap="square" lIns="45720" rIns="45720">
            <a:spAutoFit/>
          </a:bodyPr>
          <a:lstStyle/>
          <a:p>
            <a:pPr algn="ctr"/>
            <a:r>
              <a:rPr sz="900" b="1">
                <a:solidFill>
                  <a:srgbClr val="14233C"/>
                </a:solidFill>
                <a:latin typeface="Aptos"/>
              </a:rPr>
              <a:t>Raw PSD</a:t>
            </a:r>
          </a:p>
        </p:txBody>
      </p:sp>
      <p:sp>
        <p:nvSpPr>
          <p:cNvPr id="15" name="Chevron 14"/>
          <p:cNvSpPr/>
          <p:nvPr/>
        </p:nvSpPr>
        <p:spPr>
          <a:xfrm>
            <a:off x="6112764" y="1508760"/>
            <a:ext cx="1327023" cy="777240"/>
          </a:xfrm>
          <a:prstGeom prst="chevron">
            <a:avLst/>
          </a:prstGeom>
          <a:solidFill>
            <a:srgbClr val="E8F5E9"/>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49340" y="1673351"/>
            <a:ext cx="1253870" cy="548640"/>
          </a:xfrm>
          <a:prstGeom prst="rect">
            <a:avLst/>
          </a:prstGeom>
          <a:noFill/>
        </p:spPr>
        <p:txBody>
          <a:bodyPr wrap="square" lIns="45720" rIns="45720">
            <a:spAutoFit/>
          </a:bodyPr>
          <a:lstStyle/>
          <a:p>
            <a:pPr algn="ctr"/>
            <a:r>
              <a:rPr sz="900" b="1">
                <a:solidFill>
                  <a:srgbClr val="14233C"/>
                </a:solidFill>
                <a:latin typeface="Aptos"/>
              </a:rPr>
              <a:t>Band-pass 1–40 Hz</a:t>
            </a:r>
          </a:p>
        </p:txBody>
      </p:sp>
      <p:sp>
        <p:nvSpPr>
          <p:cNvPr id="17" name="Chevron 16"/>
          <p:cNvSpPr/>
          <p:nvPr/>
        </p:nvSpPr>
        <p:spPr>
          <a:xfrm>
            <a:off x="7503795" y="1508760"/>
            <a:ext cx="1327023" cy="777240"/>
          </a:xfrm>
          <a:prstGeom prst="chevron">
            <a:avLst/>
          </a:prstGeom>
          <a:solidFill>
            <a:srgbClr val="FFF3E0"/>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40371" y="1673351"/>
            <a:ext cx="1253870" cy="548640"/>
          </a:xfrm>
          <a:prstGeom prst="rect">
            <a:avLst/>
          </a:prstGeom>
          <a:noFill/>
        </p:spPr>
        <p:txBody>
          <a:bodyPr wrap="square" lIns="45720" rIns="45720">
            <a:spAutoFit/>
          </a:bodyPr>
          <a:lstStyle/>
          <a:p>
            <a:pPr algn="ctr"/>
            <a:r>
              <a:rPr sz="900" b="1">
                <a:solidFill>
                  <a:srgbClr val="14233C"/>
                </a:solidFill>
                <a:latin typeface="Aptos"/>
              </a:rPr>
              <a:t>Notch 50 Hz</a:t>
            </a:r>
          </a:p>
        </p:txBody>
      </p:sp>
      <p:sp>
        <p:nvSpPr>
          <p:cNvPr id="19" name="Chevron 18"/>
          <p:cNvSpPr/>
          <p:nvPr/>
        </p:nvSpPr>
        <p:spPr>
          <a:xfrm>
            <a:off x="8894826" y="1508760"/>
            <a:ext cx="1327023" cy="777240"/>
          </a:xfrm>
          <a:prstGeom prst="chevron">
            <a:avLst/>
          </a:prstGeom>
          <a:solidFill>
            <a:srgbClr val="E8F0FE"/>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31401" y="1673351"/>
            <a:ext cx="1253870" cy="548640"/>
          </a:xfrm>
          <a:prstGeom prst="rect">
            <a:avLst/>
          </a:prstGeom>
          <a:noFill/>
        </p:spPr>
        <p:txBody>
          <a:bodyPr wrap="square" lIns="45720" rIns="45720">
            <a:spAutoFit/>
          </a:bodyPr>
          <a:lstStyle/>
          <a:p>
            <a:pPr algn="ctr"/>
            <a:r>
              <a:rPr sz="900" b="1">
                <a:solidFill>
                  <a:srgbClr val="14233C"/>
                </a:solidFill>
                <a:latin typeface="Aptos"/>
              </a:rPr>
              <a:t>Optional ICA</a:t>
            </a:r>
          </a:p>
        </p:txBody>
      </p:sp>
      <p:sp>
        <p:nvSpPr>
          <p:cNvPr id="21" name="Chevron 20"/>
          <p:cNvSpPr/>
          <p:nvPr/>
        </p:nvSpPr>
        <p:spPr>
          <a:xfrm>
            <a:off x="10285857" y="1508760"/>
            <a:ext cx="1327023" cy="777240"/>
          </a:xfrm>
          <a:prstGeom prst="chevron">
            <a:avLst/>
          </a:prstGeom>
          <a:solidFill>
            <a:srgbClr val="E8F5E9"/>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322432" y="1673351"/>
            <a:ext cx="1253870" cy="548640"/>
          </a:xfrm>
          <a:prstGeom prst="rect">
            <a:avLst/>
          </a:prstGeom>
          <a:noFill/>
        </p:spPr>
        <p:txBody>
          <a:bodyPr wrap="square" lIns="45720" rIns="45720">
            <a:spAutoFit/>
          </a:bodyPr>
          <a:lstStyle/>
          <a:p>
            <a:pPr algn="ctr"/>
            <a:r>
              <a:rPr sz="900" b="1">
                <a:solidFill>
                  <a:srgbClr val="14233C"/>
                </a:solidFill>
                <a:latin typeface="Aptos"/>
              </a:rPr>
              <a:t>Save outputs</a:t>
            </a:r>
          </a:p>
        </p:txBody>
      </p:sp>
      <p:sp>
        <p:nvSpPr>
          <p:cNvPr id="23" name="Rounded Rectangle 22"/>
          <p:cNvSpPr/>
          <p:nvPr/>
        </p:nvSpPr>
        <p:spPr>
          <a:xfrm>
            <a:off x="777240" y="2788920"/>
            <a:ext cx="5120640" cy="1874519"/>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77240" y="2788920"/>
            <a:ext cx="73152" cy="1874519"/>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1832" y="2880360"/>
            <a:ext cx="4846320" cy="292608"/>
          </a:xfrm>
          <a:prstGeom prst="rect">
            <a:avLst/>
          </a:prstGeom>
          <a:noFill/>
        </p:spPr>
        <p:txBody>
          <a:bodyPr wrap="square" lIns="45720" rIns="45720">
            <a:spAutoFit/>
          </a:bodyPr>
          <a:lstStyle/>
          <a:p>
            <a:r>
              <a:rPr sz="1500" b="1">
                <a:solidFill>
                  <a:srgbClr val="14233C"/>
                </a:solidFill>
                <a:latin typeface="Aptos"/>
              </a:rPr>
              <a:t>Purpose</a:t>
            </a:r>
          </a:p>
        </p:txBody>
      </p:sp>
      <p:sp>
        <p:nvSpPr>
          <p:cNvPr id="26" name="TextBox 25"/>
          <p:cNvSpPr txBox="1"/>
          <p:nvPr/>
        </p:nvSpPr>
        <p:spPr>
          <a:xfrm>
            <a:off x="941832" y="3246120"/>
            <a:ext cx="4846320" cy="1344167"/>
          </a:xfrm>
          <a:prstGeom prst="rect">
            <a:avLst/>
          </a:prstGeom>
          <a:noFill/>
        </p:spPr>
        <p:txBody>
          <a:bodyPr wrap="square">
            <a:spAutoFit/>
          </a:bodyPr>
          <a:lstStyle/>
          <a:p>
            <a:pPr>
              <a:spcAft>
                <a:spcPts val="500"/>
              </a:spcAft>
              <a:defRPr sz="1200">
                <a:solidFill>
                  <a:srgbClr val="1E1E1E"/>
                </a:solidFill>
                <a:latin typeface="Aptos"/>
              </a:defRPr>
            </a:pPr>
            <a:r>
              <a:t>Implement a simple and explainable EEG preprocessing workflow.</a:t>
            </a:r>
          </a:p>
          <a:p>
            <a:pPr>
              <a:spcAft>
                <a:spcPts val="500"/>
              </a:spcAft>
              <a:defRPr sz="1200">
                <a:solidFill>
                  <a:srgbClr val="1E1E1E"/>
                </a:solidFill>
                <a:latin typeface="Aptos"/>
              </a:defRPr>
            </a:pPr>
            <a:r>
              <a:t>Use time-domain and frequency-domain plots to inspect the effect of cleaning.</a:t>
            </a:r>
          </a:p>
          <a:p>
            <a:pPr>
              <a:spcAft>
                <a:spcPts val="500"/>
              </a:spcAft>
              <a:defRPr sz="1200">
                <a:solidFill>
                  <a:srgbClr val="1E1E1E"/>
                </a:solidFill>
                <a:latin typeface="Aptos"/>
              </a:defRPr>
            </a:pPr>
            <a:r>
              <a:t>Keep the pipeline reproducible using saved figures and JSON reports.</a:t>
            </a:r>
          </a:p>
        </p:txBody>
      </p:sp>
      <p:sp>
        <p:nvSpPr>
          <p:cNvPr id="27" name="Rounded Rectangle 26"/>
          <p:cNvSpPr/>
          <p:nvPr/>
        </p:nvSpPr>
        <p:spPr>
          <a:xfrm>
            <a:off x="6263640" y="2788920"/>
            <a:ext cx="5074920" cy="1874519"/>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63640" y="2788920"/>
            <a:ext cx="73152" cy="1874519"/>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28231" y="2880360"/>
            <a:ext cx="4800600" cy="292608"/>
          </a:xfrm>
          <a:prstGeom prst="rect">
            <a:avLst/>
          </a:prstGeom>
          <a:noFill/>
        </p:spPr>
        <p:txBody>
          <a:bodyPr wrap="square" lIns="45720" rIns="45720">
            <a:spAutoFit/>
          </a:bodyPr>
          <a:lstStyle/>
          <a:p>
            <a:r>
              <a:rPr sz="1500" b="1">
                <a:solidFill>
                  <a:srgbClr val="14233C"/>
                </a:solidFill>
                <a:latin typeface="Aptos"/>
              </a:rPr>
              <a:t>Implemented operations</a:t>
            </a:r>
          </a:p>
        </p:txBody>
      </p:sp>
      <p:sp>
        <p:nvSpPr>
          <p:cNvPr id="30" name="TextBox 29"/>
          <p:cNvSpPr txBox="1"/>
          <p:nvPr/>
        </p:nvSpPr>
        <p:spPr>
          <a:xfrm>
            <a:off x="6428231" y="3246120"/>
            <a:ext cx="4800600" cy="1344167"/>
          </a:xfrm>
          <a:prstGeom prst="rect">
            <a:avLst/>
          </a:prstGeom>
          <a:noFill/>
        </p:spPr>
        <p:txBody>
          <a:bodyPr wrap="square">
            <a:spAutoFit/>
          </a:bodyPr>
          <a:lstStyle/>
          <a:p>
            <a:pPr>
              <a:spcAft>
                <a:spcPts val="500"/>
              </a:spcAft>
              <a:defRPr sz="1200">
                <a:solidFill>
                  <a:srgbClr val="1E1E1E"/>
                </a:solidFill>
                <a:latin typeface="Aptos"/>
              </a:defRPr>
            </a:pPr>
            <a:r>
              <a:t>Band-pass filter: 1–40 Hz</a:t>
            </a:r>
          </a:p>
          <a:p>
            <a:pPr>
              <a:spcAft>
                <a:spcPts val="500"/>
              </a:spcAft>
              <a:defRPr sz="1200">
                <a:solidFill>
                  <a:srgbClr val="1E1E1E"/>
                </a:solidFill>
                <a:latin typeface="Aptos"/>
              </a:defRPr>
            </a:pPr>
            <a:r>
              <a:t>Notch filter: 50 Hz</a:t>
            </a:r>
          </a:p>
          <a:p>
            <a:pPr>
              <a:spcAft>
                <a:spcPts val="500"/>
              </a:spcAft>
              <a:defRPr sz="1200">
                <a:solidFill>
                  <a:srgbClr val="1E1E1E"/>
                </a:solidFill>
                <a:latin typeface="Aptos"/>
              </a:defRPr>
            </a:pPr>
            <a:r>
              <a:t>Optional ICA inspection/removal</a:t>
            </a:r>
          </a:p>
          <a:p>
            <a:pPr>
              <a:spcAft>
                <a:spcPts val="500"/>
              </a:spcAft>
              <a:defRPr sz="1200">
                <a:solidFill>
                  <a:srgbClr val="1E1E1E"/>
                </a:solidFill>
                <a:latin typeface="Aptos"/>
              </a:defRPr>
            </a:pPr>
            <a:r>
              <a:t>PSD comparison: raw vs cleaned EEG</a:t>
            </a:r>
          </a:p>
        </p:txBody>
      </p:sp>
      <p:sp>
        <p:nvSpPr>
          <p:cNvPr id="31" name="TextBox 30"/>
          <p:cNvSpPr txBox="1"/>
          <p:nvPr/>
        </p:nvSpPr>
        <p:spPr>
          <a:xfrm>
            <a:off x="914400" y="5257800"/>
            <a:ext cx="10332720" cy="320040"/>
          </a:xfrm>
          <a:prstGeom prst="rect">
            <a:avLst/>
          </a:prstGeom>
          <a:noFill/>
        </p:spPr>
        <p:txBody>
          <a:bodyPr wrap="square" lIns="45720" rIns="45720">
            <a:spAutoFit/>
          </a:bodyPr>
          <a:lstStyle/>
          <a:p>
            <a:pPr algn="ctr"/>
            <a:r>
              <a:rPr sz="1500" b="1">
                <a:solidFill>
                  <a:srgbClr val="14233C"/>
                </a:solidFill>
                <a:latin typeface="Aptos"/>
              </a:rPr>
              <a:t>This is a baseline implementation, not a full reproduction of NEAR, EEGdenoiseNet, or the SOBI–SWT method.</a:t>
            </a:r>
          </a:p>
        </p:txBody>
      </p:sp>
      <p:sp>
        <p:nvSpPr>
          <p:cNvPr id="32" name="TextBox 31"/>
          <p:cNvSpPr txBox="1"/>
          <p:nvPr/>
        </p:nvSpPr>
        <p:spPr>
          <a:xfrm>
            <a:off x="502920" y="6473952"/>
            <a:ext cx="6583680" cy="164592"/>
          </a:xfrm>
          <a:prstGeom prst="rect">
            <a:avLst/>
          </a:prstGeom>
          <a:noFill/>
        </p:spPr>
        <p:txBody>
          <a:bodyPr wrap="square" lIns="45720" rIns="45720">
            <a:spAutoFit/>
          </a:bodyPr>
          <a:lstStyle/>
          <a:p>
            <a:r>
              <a:rPr sz="800" b="0">
                <a:solidFill>
                  <a:srgbClr val="5F6368"/>
                </a:solidFill>
                <a:latin typeface="Aptos"/>
              </a:rPr>
              <a:t>LP Praktikum Informatik 1 | Implementation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Subtitle 2"/>
          <p:cNvSpPr>
            <a:spLocks noGrp="1"/>
          </p:cNvSpPr>
          <p:nvPr>
            <p:ph type="subTitle" idx="1"/>
          </p:nvPr>
        </p:nvSpPr>
        <p:spPr/>
        <p:txBody>
          <a:bodyPr/>
          <a:lstStyle/>
          <a:p>
            <a:endParaRPr/>
          </a:p>
        </p:txBody>
      </p:sp>
      <p:sp>
        <p:nvSpPr>
          <p:cNvPr id="4" name="TextBox 3"/>
          <p:cNvSpPr txBox="1"/>
          <p:nvPr/>
        </p:nvSpPr>
        <p:spPr>
          <a:xfrm>
            <a:off x="685800" y="514904"/>
            <a:ext cx="11155680" cy="457200"/>
          </a:xfrm>
          <a:prstGeom prst="rect">
            <a:avLst/>
          </a:prstGeom>
          <a:noFill/>
        </p:spPr>
        <p:txBody>
          <a:bodyPr wrap="square" lIns="45720" rIns="45720">
            <a:spAutoFit/>
          </a:bodyPr>
          <a:lstStyle/>
          <a:p>
            <a:r>
              <a:rPr sz="2700" b="1" dirty="0">
                <a:solidFill>
                  <a:srgbClr val="14233C"/>
                </a:solidFill>
                <a:latin typeface="Aptos"/>
              </a:rPr>
              <a:t>Input EEG Data: S001R01.edf</a:t>
            </a:r>
          </a:p>
        </p:txBody>
      </p:sp>
      <p:sp>
        <p:nvSpPr>
          <p:cNvPr id="5" name="Rectangle 4"/>
          <p:cNvSpPr/>
          <p:nvPr/>
        </p:nvSpPr>
        <p:spPr>
          <a:xfrm>
            <a:off x="548640" y="1078992"/>
            <a:ext cx="2148840" cy="36576"/>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7240" y="1325880"/>
            <a:ext cx="5212080" cy="310896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325880"/>
            <a:ext cx="73152" cy="3108960"/>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1832" y="1417320"/>
            <a:ext cx="4937760" cy="292608"/>
          </a:xfrm>
          <a:prstGeom prst="rect">
            <a:avLst/>
          </a:prstGeom>
          <a:noFill/>
        </p:spPr>
        <p:txBody>
          <a:bodyPr wrap="square" lIns="45720" rIns="45720">
            <a:spAutoFit/>
          </a:bodyPr>
          <a:lstStyle/>
          <a:p>
            <a:r>
              <a:rPr sz="1500" b="1">
                <a:solidFill>
                  <a:srgbClr val="14233C"/>
                </a:solidFill>
                <a:latin typeface="Aptos"/>
              </a:rPr>
              <a:t>Recording metadata</a:t>
            </a:r>
          </a:p>
        </p:txBody>
      </p:sp>
      <p:sp>
        <p:nvSpPr>
          <p:cNvPr id="9" name="TextBox 8"/>
          <p:cNvSpPr txBox="1"/>
          <p:nvPr/>
        </p:nvSpPr>
        <p:spPr>
          <a:xfrm>
            <a:off x="941832" y="1783080"/>
            <a:ext cx="4937760" cy="2578608"/>
          </a:xfrm>
          <a:prstGeom prst="rect">
            <a:avLst/>
          </a:prstGeom>
          <a:noFill/>
        </p:spPr>
        <p:txBody>
          <a:bodyPr wrap="square">
            <a:spAutoFit/>
          </a:bodyPr>
          <a:lstStyle/>
          <a:p>
            <a:pPr>
              <a:spcAft>
                <a:spcPts val="500"/>
              </a:spcAft>
              <a:defRPr sz="1200">
                <a:solidFill>
                  <a:srgbClr val="1E1E1E"/>
                </a:solidFill>
                <a:latin typeface="Aptos"/>
              </a:defRPr>
            </a:pPr>
            <a:r>
              <a:t>Input file: data/S001R01.edf</a:t>
            </a:r>
          </a:p>
          <a:p>
            <a:pPr>
              <a:spcAft>
                <a:spcPts val="500"/>
              </a:spcAft>
              <a:defRPr sz="1200">
                <a:solidFill>
                  <a:srgbClr val="1E1E1E"/>
                </a:solidFill>
                <a:latin typeface="Aptos"/>
              </a:defRPr>
            </a:pPr>
            <a:r>
              <a:t>Number of channels: 64</a:t>
            </a:r>
          </a:p>
          <a:p>
            <a:pPr>
              <a:spcAft>
                <a:spcPts val="500"/>
              </a:spcAft>
              <a:defRPr sz="1200">
                <a:solidFill>
                  <a:srgbClr val="1E1E1E"/>
                </a:solidFill>
                <a:latin typeface="Aptos"/>
              </a:defRPr>
            </a:pPr>
            <a:r>
              <a:t>Channel type: EEG for all channels</a:t>
            </a:r>
          </a:p>
          <a:p>
            <a:pPr>
              <a:spcAft>
                <a:spcPts val="500"/>
              </a:spcAft>
              <a:defRPr sz="1200">
                <a:solidFill>
                  <a:srgbClr val="1E1E1E"/>
                </a:solidFill>
                <a:latin typeface="Aptos"/>
              </a:defRPr>
            </a:pPr>
            <a:r>
              <a:t>Sampling frequency: 160.0 Hz</a:t>
            </a:r>
          </a:p>
          <a:p>
            <a:pPr>
              <a:spcAft>
                <a:spcPts val="500"/>
              </a:spcAft>
              <a:defRPr sz="1200">
                <a:solidFill>
                  <a:srgbClr val="1E1E1E"/>
                </a:solidFill>
                <a:latin typeface="Aptos"/>
              </a:defRPr>
            </a:pPr>
            <a:r>
              <a:t>Duration: 60.99 seconds</a:t>
            </a:r>
          </a:p>
          <a:p>
            <a:pPr>
              <a:spcAft>
                <a:spcPts val="500"/>
              </a:spcAft>
              <a:defRPr sz="1200">
                <a:solidFill>
                  <a:srgbClr val="1E1E1E"/>
                </a:solidFill>
                <a:latin typeface="Aptos"/>
              </a:defRPr>
            </a:pPr>
            <a:r>
              <a:t>Reference: 0 (FIFFV_MNE_CUSTOM_REF_OFF)</a:t>
            </a:r>
          </a:p>
        </p:txBody>
      </p:sp>
      <p:sp>
        <p:nvSpPr>
          <p:cNvPr id="10" name="Rounded Rectangle 9"/>
          <p:cNvSpPr/>
          <p:nvPr/>
        </p:nvSpPr>
        <p:spPr>
          <a:xfrm>
            <a:off x="6263640" y="1325880"/>
            <a:ext cx="5074920" cy="310896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63640" y="1325880"/>
            <a:ext cx="73152" cy="310896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8231" y="1417320"/>
            <a:ext cx="4800600" cy="292608"/>
          </a:xfrm>
          <a:prstGeom prst="rect">
            <a:avLst/>
          </a:prstGeom>
          <a:noFill/>
        </p:spPr>
        <p:txBody>
          <a:bodyPr wrap="square" lIns="45720" rIns="45720">
            <a:spAutoFit/>
          </a:bodyPr>
          <a:lstStyle/>
          <a:p>
            <a:r>
              <a:rPr sz="1500" b="1">
                <a:solidFill>
                  <a:srgbClr val="14233C"/>
                </a:solidFill>
                <a:latin typeface="Aptos"/>
              </a:rPr>
              <a:t>Spatial channel coverage</a:t>
            </a:r>
          </a:p>
        </p:txBody>
      </p:sp>
      <p:sp>
        <p:nvSpPr>
          <p:cNvPr id="13" name="TextBox 12"/>
          <p:cNvSpPr txBox="1"/>
          <p:nvPr/>
        </p:nvSpPr>
        <p:spPr>
          <a:xfrm>
            <a:off x="6428231" y="1783080"/>
            <a:ext cx="4800600" cy="2578608"/>
          </a:xfrm>
          <a:prstGeom prst="rect">
            <a:avLst/>
          </a:prstGeom>
          <a:noFill/>
        </p:spPr>
        <p:txBody>
          <a:bodyPr wrap="square">
            <a:spAutoFit/>
          </a:bodyPr>
          <a:lstStyle/>
          <a:p>
            <a:pPr>
              <a:spcAft>
                <a:spcPts val="500"/>
              </a:spcAft>
              <a:defRPr sz="1200">
                <a:solidFill>
                  <a:srgbClr val="1E1E1E"/>
                </a:solidFill>
                <a:latin typeface="Aptos"/>
              </a:defRPr>
            </a:pPr>
            <a:r>
              <a:t>Frontal/frontopolar: Fp, AF, F</a:t>
            </a:r>
          </a:p>
          <a:p>
            <a:pPr>
              <a:spcAft>
                <a:spcPts val="500"/>
              </a:spcAft>
              <a:defRPr sz="1200">
                <a:solidFill>
                  <a:srgbClr val="1E1E1E"/>
                </a:solidFill>
                <a:latin typeface="Aptos"/>
              </a:defRPr>
            </a:pPr>
            <a:r>
              <a:t>Frontocentral/central: FC, C</a:t>
            </a:r>
          </a:p>
          <a:p>
            <a:pPr>
              <a:spcAft>
                <a:spcPts val="500"/>
              </a:spcAft>
              <a:defRPr sz="1200">
                <a:solidFill>
                  <a:srgbClr val="1E1E1E"/>
                </a:solidFill>
                <a:latin typeface="Aptos"/>
              </a:defRPr>
            </a:pPr>
            <a:r>
              <a:t>Centro-parietal/parietal: CP, P</a:t>
            </a:r>
          </a:p>
          <a:p>
            <a:pPr>
              <a:spcAft>
                <a:spcPts val="500"/>
              </a:spcAft>
              <a:defRPr sz="1200">
                <a:solidFill>
                  <a:srgbClr val="1E1E1E"/>
                </a:solidFill>
                <a:latin typeface="Aptos"/>
              </a:defRPr>
            </a:pPr>
            <a:r>
              <a:t>Temporal: FT, T, TP</a:t>
            </a:r>
          </a:p>
          <a:p>
            <a:pPr>
              <a:spcAft>
                <a:spcPts val="500"/>
              </a:spcAft>
              <a:defRPr sz="1200">
                <a:solidFill>
                  <a:srgbClr val="1E1E1E"/>
                </a:solidFill>
                <a:latin typeface="Aptos"/>
              </a:defRPr>
            </a:pPr>
            <a:r>
              <a:t>Parieto-occipital/occipital: PO, O, Iz</a:t>
            </a:r>
          </a:p>
          <a:p>
            <a:pPr>
              <a:spcAft>
                <a:spcPts val="500"/>
              </a:spcAft>
              <a:defRPr sz="1200">
                <a:solidFill>
                  <a:srgbClr val="1E1E1E"/>
                </a:solidFill>
                <a:latin typeface="Aptos"/>
              </a:defRPr>
            </a:pPr>
            <a:r>
              <a:t>Full channel list stored in metadata_report.json</a:t>
            </a:r>
          </a:p>
        </p:txBody>
      </p:sp>
      <p:sp>
        <p:nvSpPr>
          <p:cNvPr id="14" name="TextBox 13"/>
          <p:cNvSpPr txBox="1"/>
          <p:nvPr/>
        </p:nvSpPr>
        <p:spPr>
          <a:xfrm>
            <a:off x="914400" y="5074920"/>
            <a:ext cx="10241280" cy="320040"/>
          </a:xfrm>
          <a:prstGeom prst="rect">
            <a:avLst/>
          </a:prstGeom>
          <a:noFill/>
        </p:spPr>
        <p:txBody>
          <a:bodyPr wrap="square" lIns="45720" rIns="45720">
            <a:spAutoFit/>
          </a:bodyPr>
          <a:lstStyle/>
          <a:p>
            <a:pPr algn="ctr"/>
            <a:r>
              <a:rPr sz="1500" b="1">
                <a:solidFill>
                  <a:srgbClr val="14233C"/>
                </a:solidFill>
                <a:latin typeface="Aptos"/>
              </a:rPr>
              <a:t>The recording provides a short 64-channel EEG example suitable for demonstrating a basic preprocessing pipeline.</a:t>
            </a:r>
          </a:p>
        </p:txBody>
      </p:sp>
      <p:sp>
        <p:nvSpPr>
          <p:cNvPr id="15" name="TextBox 14"/>
          <p:cNvSpPr txBox="1"/>
          <p:nvPr/>
        </p:nvSpPr>
        <p:spPr>
          <a:xfrm>
            <a:off x="502920" y="6473952"/>
            <a:ext cx="6583680" cy="164592"/>
          </a:xfrm>
          <a:prstGeom prst="rect">
            <a:avLst/>
          </a:prstGeom>
          <a:noFill/>
        </p:spPr>
        <p:txBody>
          <a:bodyPr wrap="square" lIns="45720" rIns="45720">
            <a:spAutoFit/>
          </a:bodyPr>
          <a:lstStyle/>
          <a:p>
            <a:r>
              <a:rPr sz="800" b="0">
                <a:solidFill>
                  <a:srgbClr val="5F6368"/>
                </a:solidFill>
                <a:latin typeface="Aptos"/>
              </a:rPr>
              <a:t>LP Praktikum Informatik 1 | Implementation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Subtitle 2"/>
          <p:cNvSpPr>
            <a:spLocks noGrp="1"/>
          </p:cNvSpPr>
          <p:nvPr>
            <p:ph type="subTitle" idx="1"/>
          </p:nvPr>
        </p:nvSpPr>
        <p:spPr/>
        <p:txBody>
          <a:bodyPr/>
          <a:lstStyle/>
          <a:p>
            <a:endParaRPr/>
          </a:p>
        </p:txBody>
      </p:sp>
      <p:sp>
        <p:nvSpPr>
          <p:cNvPr id="4" name="TextBox 3"/>
          <p:cNvSpPr txBox="1"/>
          <p:nvPr/>
        </p:nvSpPr>
        <p:spPr>
          <a:xfrm>
            <a:off x="685800" y="502920"/>
            <a:ext cx="11155680" cy="457200"/>
          </a:xfrm>
          <a:prstGeom prst="rect">
            <a:avLst/>
          </a:prstGeom>
          <a:noFill/>
        </p:spPr>
        <p:txBody>
          <a:bodyPr wrap="square" lIns="45720" rIns="45720">
            <a:spAutoFit/>
          </a:bodyPr>
          <a:lstStyle/>
          <a:p>
            <a:r>
              <a:rPr sz="2700" b="1" dirty="0">
                <a:solidFill>
                  <a:srgbClr val="14233C"/>
                </a:solidFill>
                <a:latin typeface="Aptos"/>
              </a:rPr>
              <a:t>Generated Output Files</a:t>
            </a:r>
          </a:p>
        </p:txBody>
      </p:sp>
      <p:sp>
        <p:nvSpPr>
          <p:cNvPr id="5" name="Rectangle 4"/>
          <p:cNvSpPr/>
          <p:nvPr/>
        </p:nvSpPr>
        <p:spPr>
          <a:xfrm>
            <a:off x="548640" y="1078992"/>
            <a:ext cx="2148840" cy="36576"/>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325880"/>
            <a:ext cx="5074920" cy="269748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325880"/>
            <a:ext cx="73152" cy="26974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1417320"/>
            <a:ext cx="4800600" cy="292608"/>
          </a:xfrm>
          <a:prstGeom prst="rect">
            <a:avLst/>
          </a:prstGeom>
          <a:noFill/>
        </p:spPr>
        <p:txBody>
          <a:bodyPr wrap="square" lIns="45720" rIns="45720">
            <a:spAutoFit/>
          </a:bodyPr>
          <a:lstStyle/>
          <a:p>
            <a:r>
              <a:rPr sz="1500" b="1">
                <a:solidFill>
                  <a:srgbClr val="14233C"/>
                </a:solidFill>
                <a:latin typeface="Aptos"/>
              </a:rPr>
              <a:t>Visualization outputs</a:t>
            </a:r>
          </a:p>
        </p:txBody>
      </p:sp>
      <p:sp>
        <p:nvSpPr>
          <p:cNvPr id="9" name="TextBox 8"/>
          <p:cNvSpPr txBox="1"/>
          <p:nvPr/>
        </p:nvSpPr>
        <p:spPr>
          <a:xfrm>
            <a:off x="896112" y="1783080"/>
            <a:ext cx="4800600" cy="2167128"/>
          </a:xfrm>
          <a:prstGeom prst="rect">
            <a:avLst/>
          </a:prstGeom>
          <a:noFill/>
        </p:spPr>
        <p:txBody>
          <a:bodyPr wrap="square">
            <a:spAutoFit/>
          </a:bodyPr>
          <a:lstStyle/>
          <a:p>
            <a:pPr>
              <a:spcAft>
                <a:spcPts val="500"/>
              </a:spcAft>
              <a:defRPr sz="1200">
                <a:solidFill>
                  <a:srgbClr val="1E1E1E"/>
                </a:solidFill>
                <a:latin typeface="Aptos"/>
              </a:defRPr>
            </a:pPr>
            <a:r>
              <a:t>01_raw_time_domain.png</a:t>
            </a:r>
          </a:p>
          <a:p>
            <a:pPr>
              <a:spcAft>
                <a:spcPts val="500"/>
              </a:spcAft>
              <a:defRPr sz="1200">
                <a:solidFill>
                  <a:srgbClr val="1E1E1E"/>
                </a:solidFill>
                <a:latin typeface="Aptos"/>
              </a:defRPr>
            </a:pPr>
            <a:r>
              <a:t>02_raw_psd.png</a:t>
            </a:r>
          </a:p>
          <a:p>
            <a:pPr>
              <a:spcAft>
                <a:spcPts val="500"/>
              </a:spcAft>
              <a:defRPr sz="1200">
                <a:solidFill>
                  <a:srgbClr val="1E1E1E"/>
                </a:solidFill>
                <a:latin typeface="Aptos"/>
              </a:defRPr>
            </a:pPr>
            <a:r>
              <a:t>03_cleaned_time_domain.png</a:t>
            </a:r>
          </a:p>
          <a:p>
            <a:pPr>
              <a:spcAft>
                <a:spcPts val="500"/>
              </a:spcAft>
              <a:defRPr sz="1200">
                <a:solidFill>
                  <a:srgbClr val="1E1E1E"/>
                </a:solidFill>
                <a:latin typeface="Aptos"/>
              </a:defRPr>
            </a:pPr>
            <a:r>
              <a:t>04_cleaned_psd.png</a:t>
            </a:r>
          </a:p>
          <a:p>
            <a:pPr>
              <a:spcAft>
                <a:spcPts val="500"/>
              </a:spcAft>
              <a:defRPr sz="1200">
                <a:solidFill>
                  <a:srgbClr val="1E1E1E"/>
                </a:solidFill>
                <a:latin typeface="Aptos"/>
              </a:defRPr>
            </a:pPr>
            <a:r>
              <a:t>05_psd_raw_vs_cleaned.png</a:t>
            </a:r>
          </a:p>
        </p:txBody>
      </p:sp>
      <p:sp>
        <p:nvSpPr>
          <p:cNvPr id="10" name="Rounded Rectangle 9"/>
          <p:cNvSpPr/>
          <p:nvPr/>
        </p:nvSpPr>
        <p:spPr>
          <a:xfrm>
            <a:off x="6263640" y="1325880"/>
            <a:ext cx="5074920" cy="269748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63640" y="1325880"/>
            <a:ext cx="73152" cy="2697480"/>
          </a:xfrm>
          <a:prstGeom prst="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8231" y="1417320"/>
            <a:ext cx="4800600" cy="292608"/>
          </a:xfrm>
          <a:prstGeom prst="rect">
            <a:avLst/>
          </a:prstGeom>
          <a:noFill/>
        </p:spPr>
        <p:txBody>
          <a:bodyPr wrap="square" lIns="45720" rIns="45720">
            <a:spAutoFit/>
          </a:bodyPr>
          <a:lstStyle/>
          <a:p>
            <a:r>
              <a:rPr sz="1500" b="1">
                <a:solidFill>
                  <a:srgbClr val="14233C"/>
                </a:solidFill>
                <a:latin typeface="Aptos"/>
              </a:rPr>
              <a:t>Report and data outputs</a:t>
            </a:r>
          </a:p>
        </p:txBody>
      </p:sp>
      <p:sp>
        <p:nvSpPr>
          <p:cNvPr id="13" name="TextBox 12"/>
          <p:cNvSpPr txBox="1"/>
          <p:nvPr/>
        </p:nvSpPr>
        <p:spPr>
          <a:xfrm>
            <a:off x="6428231" y="1783080"/>
            <a:ext cx="4800600" cy="2167128"/>
          </a:xfrm>
          <a:prstGeom prst="rect">
            <a:avLst/>
          </a:prstGeom>
          <a:noFill/>
        </p:spPr>
        <p:txBody>
          <a:bodyPr wrap="square">
            <a:spAutoFit/>
          </a:bodyPr>
          <a:lstStyle/>
          <a:p>
            <a:pPr>
              <a:spcAft>
                <a:spcPts val="500"/>
              </a:spcAft>
              <a:defRPr sz="1200">
                <a:solidFill>
                  <a:srgbClr val="1E1E1E"/>
                </a:solidFill>
                <a:latin typeface="Aptos"/>
              </a:defRPr>
            </a:pPr>
            <a:r>
              <a:t>metadata_report.json</a:t>
            </a:r>
          </a:p>
          <a:p>
            <a:pPr>
              <a:spcAft>
                <a:spcPts val="500"/>
              </a:spcAft>
              <a:defRPr sz="1200">
                <a:solidFill>
                  <a:srgbClr val="1E1E1E"/>
                </a:solidFill>
                <a:latin typeface="Aptos"/>
              </a:defRPr>
            </a:pPr>
            <a:r>
              <a:t>pipeline_report.json</a:t>
            </a:r>
          </a:p>
          <a:p>
            <a:pPr>
              <a:spcAft>
                <a:spcPts val="500"/>
              </a:spcAft>
              <a:defRPr sz="1200">
                <a:solidFill>
                  <a:srgbClr val="1E1E1E"/>
                </a:solidFill>
                <a:latin typeface="Aptos"/>
              </a:defRPr>
            </a:pPr>
            <a:r>
              <a:t>cleaned_eeg_raw.fif</a:t>
            </a:r>
          </a:p>
        </p:txBody>
      </p:sp>
      <p:sp>
        <p:nvSpPr>
          <p:cNvPr id="14" name="Rounded Rectangle 13"/>
          <p:cNvSpPr/>
          <p:nvPr/>
        </p:nvSpPr>
        <p:spPr>
          <a:xfrm>
            <a:off x="1280160" y="4389120"/>
            <a:ext cx="9692640" cy="1143000"/>
          </a:xfrm>
          <a:prstGeom prst="roundRect">
            <a:avLst/>
          </a:prstGeom>
          <a:solidFill>
            <a:srgbClr val="E8F0FE"/>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280160" y="4389120"/>
            <a:ext cx="73152" cy="1143000"/>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444751" y="4480559"/>
            <a:ext cx="9418319" cy="292608"/>
          </a:xfrm>
          <a:prstGeom prst="rect">
            <a:avLst/>
          </a:prstGeom>
          <a:noFill/>
        </p:spPr>
        <p:txBody>
          <a:bodyPr wrap="square" lIns="45720" rIns="45720">
            <a:spAutoFit/>
          </a:bodyPr>
          <a:lstStyle/>
          <a:p>
            <a:r>
              <a:rPr sz="1500" b="1">
                <a:solidFill>
                  <a:srgbClr val="14233C"/>
                </a:solidFill>
                <a:latin typeface="Aptos"/>
              </a:rPr>
              <a:t>Pipeline report summary</a:t>
            </a:r>
          </a:p>
        </p:txBody>
      </p:sp>
      <p:sp>
        <p:nvSpPr>
          <p:cNvPr id="17" name="TextBox 16"/>
          <p:cNvSpPr txBox="1"/>
          <p:nvPr/>
        </p:nvSpPr>
        <p:spPr>
          <a:xfrm>
            <a:off x="1444751" y="4846320"/>
            <a:ext cx="9418319" cy="612648"/>
          </a:xfrm>
          <a:prstGeom prst="rect">
            <a:avLst/>
          </a:prstGeom>
          <a:noFill/>
        </p:spPr>
        <p:txBody>
          <a:bodyPr wrap="square">
            <a:spAutoFit/>
          </a:bodyPr>
          <a:lstStyle/>
          <a:p>
            <a:pPr>
              <a:spcAft>
                <a:spcPts val="500"/>
              </a:spcAft>
              <a:defRPr sz="1200">
                <a:solidFill>
                  <a:srgbClr val="1E1E1E"/>
                </a:solidFill>
                <a:latin typeface="Aptos"/>
              </a:defRPr>
            </a:pPr>
            <a:r>
              <a:rPr dirty="0"/>
              <a:t>Input: data\S001R01.edf</a:t>
            </a:r>
          </a:p>
          <a:p>
            <a:pPr>
              <a:spcAft>
                <a:spcPts val="500"/>
              </a:spcAft>
              <a:defRPr sz="1200">
                <a:solidFill>
                  <a:srgbClr val="1E1E1E"/>
                </a:solidFill>
                <a:latin typeface="Aptos"/>
              </a:defRPr>
            </a:pPr>
            <a:r>
              <a:rPr dirty="0"/>
              <a:t>Band-pass: 1.0–40.0 Hz</a:t>
            </a:r>
          </a:p>
          <a:p>
            <a:pPr>
              <a:spcAft>
                <a:spcPts val="500"/>
              </a:spcAft>
              <a:defRPr sz="1200">
                <a:solidFill>
                  <a:srgbClr val="1E1E1E"/>
                </a:solidFill>
                <a:latin typeface="Aptos"/>
              </a:defRPr>
            </a:pPr>
            <a:r>
              <a:rPr dirty="0"/>
              <a:t>Notch: 50.0 Hz</a:t>
            </a:r>
          </a:p>
          <a:p>
            <a:pPr>
              <a:spcAft>
                <a:spcPts val="500"/>
              </a:spcAft>
              <a:defRPr sz="1200">
                <a:solidFill>
                  <a:srgbClr val="1E1E1E"/>
                </a:solidFill>
                <a:latin typeface="Aptos"/>
              </a:defRPr>
            </a:pPr>
            <a:r>
              <a:rPr dirty="0"/>
              <a:t>ICA was not applied automatically: no EOG/ECG components detected</a:t>
            </a:r>
          </a:p>
        </p:txBody>
      </p:sp>
      <p:sp>
        <p:nvSpPr>
          <p:cNvPr id="18" name="TextBox 17"/>
          <p:cNvSpPr txBox="1"/>
          <p:nvPr/>
        </p:nvSpPr>
        <p:spPr>
          <a:xfrm>
            <a:off x="502920" y="6473952"/>
            <a:ext cx="6583680" cy="164592"/>
          </a:xfrm>
          <a:prstGeom prst="rect">
            <a:avLst/>
          </a:prstGeom>
          <a:noFill/>
        </p:spPr>
        <p:txBody>
          <a:bodyPr wrap="square" lIns="45720" rIns="45720">
            <a:spAutoFit/>
          </a:bodyPr>
          <a:lstStyle/>
          <a:p>
            <a:r>
              <a:rPr sz="800" b="0">
                <a:solidFill>
                  <a:srgbClr val="5F6368"/>
                </a:solidFill>
                <a:latin typeface="Aptos"/>
              </a:rPr>
              <a:t>LP Praktikum Informatik 1 | Implementation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Subtitle 2"/>
          <p:cNvSpPr>
            <a:spLocks noGrp="1"/>
          </p:cNvSpPr>
          <p:nvPr>
            <p:ph type="subTitle" idx="1"/>
          </p:nvPr>
        </p:nvSpPr>
        <p:spPr>
          <a:xfrm>
            <a:off x="974845" y="4698103"/>
            <a:ext cx="10036005" cy="834015"/>
          </a:xfrm>
        </p:spPr>
        <p:txBody>
          <a:bodyPr/>
          <a:lstStyle/>
          <a:p>
            <a:endParaRPr dirty="0"/>
          </a:p>
        </p:txBody>
      </p:sp>
      <p:sp>
        <p:nvSpPr>
          <p:cNvPr id="4" name="TextBox 3"/>
          <p:cNvSpPr txBox="1"/>
          <p:nvPr/>
        </p:nvSpPr>
        <p:spPr>
          <a:xfrm>
            <a:off x="548640" y="521208"/>
            <a:ext cx="11155680" cy="457200"/>
          </a:xfrm>
          <a:prstGeom prst="rect">
            <a:avLst/>
          </a:prstGeom>
          <a:noFill/>
        </p:spPr>
        <p:txBody>
          <a:bodyPr wrap="square" lIns="45720" rIns="45720">
            <a:spAutoFit/>
          </a:bodyPr>
          <a:lstStyle/>
          <a:p>
            <a:r>
              <a:rPr sz="2700" b="1" dirty="0">
                <a:solidFill>
                  <a:srgbClr val="14233C"/>
                </a:solidFill>
                <a:latin typeface="Aptos"/>
              </a:rPr>
              <a:t>Time-Domain Results: Raw vs Cleaned EEG</a:t>
            </a:r>
          </a:p>
        </p:txBody>
      </p:sp>
      <p:sp>
        <p:nvSpPr>
          <p:cNvPr id="5" name="Rectangle 4"/>
          <p:cNvSpPr/>
          <p:nvPr/>
        </p:nvSpPr>
        <p:spPr>
          <a:xfrm>
            <a:off x="548640" y="1078992"/>
            <a:ext cx="2148840" cy="36576"/>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234440"/>
            <a:ext cx="5349240" cy="68580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234440"/>
            <a:ext cx="73152" cy="685800"/>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2" y="1325880"/>
            <a:ext cx="5074920" cy="292608"/>
          </a:xfrm>
          <a:prstGeom prst="rect">
            <a:avLst/>
          </a:prstGeom>
          <a:noFill/>
        </p:spPr>
        <p:txBody>
          <a:bodyPr wrap="square" lIns="45720" rIns="45720">
            <a:spAutoFit/>
          </a:bodyPr>
          <a:lstStyle/>
          <a:p>
            <a:r>
              <a:rPr sz="1500" b="1">
                <a:solidFill>
                  <a:srgbClr val="14233C"/>
                </a:solidFill>
                <a:latin typeface="Aptos"/>
              </a:rPr>
              <a:t>Raw EEG segment</a:t>
            </a:r>
          </a:p>
        </p:txBody>
      </p:sp>
      <p:sp>
        <p:nvSpPr>
          <p:cNvPr id="9" name="TextBox 8"/>
          <p:cNvSpPr txBox="1"/>
          <p:nvPr/>
        </p:nvSpPr>
        <p:spPr>
          <a:xfrm>
            <a:off x="758952" y="1691640"/>
            <a:ext cx="5074920" cy="155448"/>
          </a:xfrm>
          <a:prstGeom prst="rect">
            <a:avLst/>
          </a:prstGeom>
          <a:noFill/>
        </p:spPr>
        <p:txBody>
          <a:bodyPr wrap="square">
            <a:spAutoFit/>
          </a:bodyPr>
          <a:lstStyle/>
          <a:p>
            <a:pPr>
              <a:spcAft>
                <a:spcPts val="500"/>
              </a:spcAft>
              <a:defRPr sz="1000">
                <a:solidFill>
                  <a:srgbClr val="1E1E1E"/>
                </a:solidFill>
                <a:latin typeface="Aptos"/>
              </a:defRPr>
            </a:pPr>
            <a:r>
              <a:t>First 10 seconds of selected EEG channels</a:t>
            </a:r>
          </a:p>
          <a:p>
            <a:pPr>
              <a:spcAft>
                <a:spcPts val="500"/>
              </a:spcAft>
              <a:defRPr sz="1000">
                <a:solidFill>
                  <a:srgbClr val="1E1E1E"/>
                </a:solidFill>
                <a:latin typeface="Aptos"/>
              </a:defRPr>
            </a:pPr>
            <a:r>
              <a:t>Used for visual inspection of waveform-level artifacts</a:t>
            </a:r>
          </a:p>
        </p:txBody>
      </p:sp>
      <p:sp>
        <p:nvSpPr>
          <p:cNvPr id="10" name="Rounded Rectangle 9"/>
          <p:cNvSpPr/>
          <p:nvPr/>
        </p:nvSpPr>
        <p:spPr>
          <a:xfrm>
            <a:off x="6263640" y="1234440"/>
            <a:ext cx="5349240" cy="68580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63640" y="1234440"/>
            <a:ext cx="73152" cy="6858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8231" y="1325880"/>
            <a:ext cx="5074920" cy="292608"/>
          </a:xfrm>
          <a:prstGeom prst="rect">
            <a:avLst/>
          </a:prstGeom>
          <a:noFill/>
        </p:spPr>
        <p:txBody>
          <a:bodyPr wrap="square" lIns="45720" rIns="45720">
            <a:spAutoFit/>
          </a:bodyPr>
          <a:lstStyle/>
          <a:p>
            <a:r>
              <a:rPr sz="1500" b="1">
                <a:solidFill>
                  <a:srgbClr val="14233C"/>
                </a:solidFill>
                <a:latin typeface="Aptos"/>
              </a:rPr>
              <a:t>Cleaned EEG segment</a:t>
            </a:r>
          </a:p>
        </p:txBody>
      </p:sp>
      <p:sp>
        <p:nvSpPr>
          <p:cNvPr id="13" name="TextBox 12"/>
          <p:cNvSpPr txBox="1"/>
          <p:nvPr/>
        </p:nvSpPr>
        <p:spPr>
          <a:xfrm>
            <a:off x="6428231" y="1691640"/>
            <a:ext cx="5074920" cy="155448"/>
          </a:xfrm>
          <a:prstGeom prst="rect">
            <a:avLst/>
          </a:prstGeom>
          <a:noFill/>
        </p:spPr>
        <p:txBody>
          <a:bodyPr wrap="square">
            <a:spAutoFit/>
          </a:bodyPr>
          <a:lstStyle/>
          <a:p>
            <a:pPr>
              <a:spcAft>
                <a:spcPts val="500"/>
              </a:spcAft>
              <a:defRPr sz="1000">
                <a:solidFill>
                  <a:srgbClr val="1E1E1E"/>
                </a:solidFill>
                <a:latin typeface="Aptos"/>
              </a:defRPr>
            </a:pPr>
            <a:r>
              <a:t>Same style of visualization after filtering</a:t>
            </a:r>
          </a:p>
          <a:p>
            <a:pPr>
              <a:spcAft>
                <a:spcPts val="500"/>
              </a:spcAft>
              <a:defRPr sz="1000">
                <a:solidFill>
                  <a:srgbClr val="1E1E1E"/>
                </a:solidFill>
                <a:latin typeface="Aptos"/>
              </a:defRPr>
            </a:pPr>
            <a:r>
              <a:t>Used to check whether waveform behavior remains plausible</a:t>
            </a:r>
          </a:p>
        </p:txBody>
      </p:sp>
      <p:pic>
        <p:nvPicPr>
          <p:cNvPr id="14" name="Picture 13" descr="01_raw_time_domain.png"/>
          <p:cNvPicPr>
            <a:picLocks noChangeAspect="1"/>
          </p:cNvPicPr>
          <p:nvPr/>
        </p:nvPicPr>
        <p:blipFill>
          <a:blip r:embed="rId2"/>
          <a:stretch>
            <a:fillRect/>
          </a:stretch>
        </p:blipFill>
        <p:spPr>
          <a:xfrm>
            <a:off x="502920" y="2320289"/>
            <a:ext cx="5623560" cy="2811780"/>
          </a:xfrm>
          <a:prstGeom prst="rect">
            <a:avLst/>
          </a:prstGeom>
        </p:spPr>
      </p:pic>
      <p:pic>
        <p:nvPicPr>
          <p:cNvPr id="15" name="Picture 14" descr="03_cleaned_time_domain.png"/>
          <p:cNvPicPr>
            <a:picLocks noChangeAspect="1"/>
          </p:cNvPicPr>
          <p:nvPr/>
        </p:nvPicPr>
        <p:blipFill>
          <a:blip r:embed="rId3"/>
          <a:stretch>
            <a:fillRect/>
          </a:stretch>
        </p:blipFill>
        <p:spPr>
          <a:xfrm>
            <a:off x="6172200" y="2320289"/>
            <a:ext cx="5623560" cy="2811780"/>
          </a:xfrm>
          <a:prstGeom prst="rect">
            <a:avLst/>
          </a:prstGeom>
        </p:spPr>
      </p:pic>
      <p:sp>
        <p:nvSpPr>
          <p:cNvPr id="16" name="TextBox 15"/>
          <p:cNvSpPr txBox="1"/>
          <p:nvPr/>
        </p:nvSpPr>
        <p:spPr>
          <a:xfrm>
            <a:off x="758952" y="5565229"/>
            <a:ext cx="10515600" cy="274320"/>
          </a:xfrm>
          <a:prstGeom prst="rect">
            <a:avLst/>
          </a:prstGeom>
          <a:noFill/>
        </p:spPr>
        <p:txBody>
          <a:bodyPr wrap="square" lIns="45720" rIns="45720">
            <a:spAutoFit/>
          </a:bodyPr>
          <a:lstStyle/>
          <a:p>
            <a:pPr algn="ctr"/>
            <a:r>
              <a:rPr sz="1200" b="0" dirty="0">
                <a:solidFill>
                  <a:srgbClr val="5F6368"/>
                </a:solidFill>
                <a:latin typeface="Aptos"/>
              </a:rPr>
              <a:t>Time-domain plots are useful for visually checking large fluctuations, sudden jumps, noisy channels, and whether preprocessing changes the waveform structure.</a:t>
            </a:r>
          </a:p>
        </p:txBody>
      </p:sp>
      <p:sp>
        <p:nvSpPr>
          <p:cNvPr id="17" name="TextBox 16"/>
          <p:cNvSpPr txBox="1"/>
          <p:nvPr/>
        </p:nvSpPr>
        <p:spPr>
          <a:xfrm>
            <a:off x="502920" y="6473952"/>
            <a:ext cx="6583680" cy="164592"/>
          </a:xfrm>
          <a:prstGeom prst="rect">
            <a:avLst/>
          </a:prstGeom>
          <a:noFill/>
        </p:spPr>
        <p:txBody>
          <a:bodyPr wrap="square" lIns="45720" rIns="45720">
            <a:spAutoFit/>
          </a:bodyPr>
          <a:lstStyle/>
          <a:p>
            <a:r>
              <a:rPr sz="800" b="0">
                <a:solidFill>
                  <a:srgbClr val="5F6368"/>
                </a:solidFill>
                <a:latin typeface="Aptos"/>
              </a:rPr>
              <a:t>LP Praktikum Informatik 1 | Implementation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Subtitle 2"/>
          <p:cNvSpPr>
            <a:spLocks noGrp="1"/>
          </p:cNvSpPr>
          <p:nvPr>
            <p:ph type="subTitle" idx="1"/>
          </p:nvPr>
        </p:nvSpPr>
        <p:spPr/>
        <p:txBody>
          <a:bodyPr/>
          <a:lstStyle/>
          <a:p>
            <a:endParaRPr/>
          </a:p>
        </p:txBody>
      </p:sp>
      <p:sp>
        <p:nvSpPr>
          <p:cNvPr id="4" name="TextBox 3"/>
          <p:cNvSpPr txBox="1"/>
          <p:nvPr/>
        </p:nvSpPr>
        <p:spPr>
          <a:xfrm>
            <a:off x="590797" y="502920"/>
            <a:ext cx="11155680" cy="457200"/>
          </a:xfrm>
          <a:prstGeom prst="rect">
            <a:avLst/>
          </a:prstGeom>
          <a:noFill/>
        </p:spPr>
        <p:txBody>
          <a:bodyPr wrap="square" lIns="45720" rIns="45720">
            <a:spAutoFit/>
          </a:bodyPr>
          <a:lstStyle/>
          <a:p>
            <a:r>
              <a:rPr sz="2700" b="1" dirty="0">
                <a:solidFill>
                  <a:srgbClr val="14233C"/>
                </a:solidFill>
                <a:latin typeface="Aptos"/>
              </a:rPr>
              <a:t>Frequency-Domain Results: PSD Before and After Cleaning</a:t>
            </a:r>
          </a:p>
        </p:txBody>
      </p:sp>
      <p:sp>
        <p:nvSpPr>
          <p:cNvPr id="5" name="Rectangle 4"/>
          <p:cNvSpPr/>
          <p:nvPr/>
        </p:nvSpPr>
        <p:spPr>
          <a:xfrm>
            <a:off x="548640" y="1078992"/>
            <a:ext cx="2148840" cy="36576"/>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02_raw_psd.png"/>
          <p:cNvPicPr>
            <a:picLocks noChangeAspect="1"/>
          </p:cNvPicPr>
          <p:nvPr/>
        </p:nvPicPr>
        <p:blipFill>
          <a:blip r:embed="rId2"/>
          <a:stretch>
            <a:fillRect/>
          </a:stretch>
        </p:blipFill>
        <p:spPr>
          <a:xfrm>
            <a:off x="845820" y="1234440"/>
            <a:ext cx="4846320" cy="2423160"/>
          </a:xfrm>
          <a:prstGeom prst="rect">
            <a:avLst/>
          </a:prstGeom>
        </p:spPr>
      </p:pic>
      <p:pic>
        <p:nvPicPr>
          <p:cNvPr id="7" name="Picture 6" descr="04_cleaned_psd.png"/>
          <p:cNvPicPr>
            <a:picLocks noChangeAspect="1"/>
          </p:cNvPicPr>
          <p:nvPr/>
        </p:nvPicPr>
        <p:blipFill>
          <a:blip r:embed="rId3"/>
          <a:stretch>
            <a:fillRect/>
          </a:stretch>
        </p:blipFill>
        <p:spPr>
          <a:xfrm>
            <a:off x="6515100" y="1234440"/>
            <a:ext cx="4846320" cy="2423160"/>
          </a:xfrm>
          <a:prstGeom prst="rect">
            <a:avLst/>
          </a:prstGeom>
        </p:spPr>
      </p:pic>
      <p:sp>
        <p:nvSpPr>
          <p:cNvPr id="8" name="Rounded Rectangle 7"/>
          <p:cNvSpPr/>
          <p:nvPr/>
        </p:nvSpPr>
        <p:spPr>
          <a:xfrm>
            <a:off x="1005840" y="4160520"/>
            <a:ext cx="10149840" cy="114300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05840" y="4160520"/>
            <a:ext cx="73152" cy="1143000"/>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70432" y="4251959"/>
            <a:ext cx="9875519" cy="292608"/>
          </a:xfrm>
          <a:prstGeom prst="rect">
            <a:avLst/>
          </a:prstGeom>
          <a:noFill/>
        </p:spPr>
        <p:txBody>
          <a:bodyPr wrap="square" lIns="45720" rIns="45720">
            <a:spAutoFit/>
          </a:bodyPr>
          <a:lstStyle/>
          <a:p>
            <a:r>
              <a:rPr sz="1500" b="1">
                <a:solidFill>
                  <a:srgbClr val="14233C"/>
                </a:solidFill>
                <a:latin typeface="Aptos"/>
              </a:rPr>
              <a:t>Interpretation</a:t>
            </a:r>
          </a:p>
        </p:txBody>
      </p:sp>
      <p:sp>
        <p:nvSpPr>
          <p:cNvPr id="11" name="TextBox 10"/>
          <p:cNvSpPr txBox="1"/>
          <p:nvPr/>
        </p:nvSpPr>
        <p:spPr>
          <a:xfrm>
            <a:off x="1170432" y="4617720"/>
            <a:ext cx="9875519" cy="612648"/>
          </a:xfrm>
          <a:prstGeom prst="rect">
            <a:avLst/>
          </a:prstGeom>
          <a:noFill/>
        </p:spPr>
        <p:txBody>
          <a:bodyPr wrap="square">
            <a:spAutoFit/>
          </a:bodyPr>
          <a:lstStyle/>
          <a:p>
            <a:pPr>
              <a:spcAft>
                <a:spcPts val="500"/>
              </a:spcAft>
              <a:defRPr sz="1200">
                <a:solidFill>
                  <a:srgbClr val="1E1E1E"/>
                </a:solidFill>
                <a:latin typeface="Aptos"/>
              </a:defRPr>
            </a:pPr>
            <a:r>
              <a:rPr dirty="0"/>
              <a:t>PSD shows signal power across frequencies.</a:t>
            </a:r>
          </a:p>
          <a:p>
            <a:pPr>
              <a:spcAft>
                <a:spcPts val="500"/>
              </a:spcAft>
              <a:defRPr sz="1200">
                <a:solidFill>
                  <a:srgbClr val="1E1E1E"/>
                </a:solidFill>
                <a:latin typeface="Aptos"/>
              </a:defRPr>
            </a:pPr>
            <a:r>
              <a:rPr dirty="0"/>
              <a:t>After filtering, power drops strongly above the selected pass band.</a:t>
            </a:r>
          </a:p>
          <a:p>
            <a:pPr>
              <a:spcAft>
                <a:spcPts val="500"/>
              </a:spcAft>
              <a:defRPr sz="1200">
                <a:solidFill>
                  <a:srgbClr val="1E1E1E"/>
                </a:solidFill>
                <a:latin typeface="Aptos"/>
              </a:defRPr>
            </a:pPr>
            <a:r>
              <a:rPr dirty="0"/>
              <a:t>The PSD comparison is the clearest evidence of the frequency-domain effect of preprocessing.</a:t>
            </a:r>
          </a:p>
        </p:txBody>
      </p:sp>
      <p:sp>
        <p:nvSpPr>
          <p:cNvPr id="12" name="TextBox 11"/>
          <p:cNvSpPr txBox="1"/>
          <p:nvPr/>
        </p:nvSpPr>
        <p:spPr>
          <a:xfrm>
            <a:off x="502920" y="6473952"/>
            <a:ext cx="6583680" cy="164592"/>
          </a:xfrm>
          <a:prstGeom prst="rect">
            <a:avLst/>
          </a:prstGeom>
          <a:noFill/>
        </p:spPr>
        <p:txBody>
          <a:bodyPr wrap="square" lIns="45720" rIns="45720">
            <a:spAutoFit/>
          </a:bodyPr>
          <a:lstStyle/>
          <a:p>
            <a:r>
              <a:rPr sz="800" b="0">
                <a:solidFill>
                  <a:srgbClr val="5F6368"/>
                </a:solidFill>
                <a:latin typeface="Aptos"/>
              </a:rPr>
              <a:t>LP Praktikum Informatik 1 | Implementation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Subtitle 2"/>
          <p:cNvSpPr>
            <a:spLocks noGrp="1"/>
          </p:cNvSpPr>
          <p:nvPr>
            <p:ph type="subTitle" idx="1"/>
          </p:nvPr>
        </p:nvSpPr>
        <p:spPr/>
        <p:txBody>
          <a:bodyPr/>
          <a:lstStyle/>
          <a:p>
            <a:endParaRPr/>
          </a:p>
        </p:txBody>
      </p:sp>
      <p:sp>
        <p:nvSpPr>
          <p:cNvPr id="4" name="TextBox 3"/>
          <p:cNvSpPr txBox="1"/>
          <p:nvPr/>
        </p:nvSpPr>
        <p:spPr>
          <a:xfrm>
            <a:off x="630936" y="463505"/>
            <a:ext cx="11155680" cy="457200"/>
          </a:xfrm>
          <a:prstGeom prst="rect">
            <a:avLst/>
          </a:prstGeom>
          <a:noFill/>
        </p:spPr>
        <p:txBody>
          <a:bodyPr wrap="square" lIns="45720" rIns="45720">
            <a:spAutoFit/>
          </a:bodyPr>
          <a:lstStyle/>
          <a:p>
            <a:r>
              <a:rPr sz="2700" b="1" dirty="0">
                <a:solidFill>
                  <a:srgbClr val="14233C"/>
                </a:solidFill>
                <a:latin typeface="Aptos"/>
              </a:rPr>
              <a:t>Raw vs Cleaned PSD Comparison</a:t>
            </a:r>
          </a:p>
        </p:txBody>
      </p:sp>
      <p:sp>
        <p:nvSpPr>
          <p:cNvPr id="5" name="Rectangle 4"/>
          <p:cNvSpPr/>
          <p:nvPr/>
        </p:nvSpPr>
        <p:spPr>
          <a:xfrm>
            <a:off x="548640" y="1078992"/>
            <a:ext cx="2148840" cy="36576"/>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05_psd_raw_vs_cleaned.png"/>
          <p:cNvPicPr>
            <a:picLocks noChangeAspect="1"/>
          </p:cNvPicPr>
          <p:nvPr/>
        </p:nvPicPr>
        <p:blipFill>
          <a:blip r:embed="rId2"/>
          <a:stretch>
            <a:fillRect/>
          </a:stretch>
        </p:blipFill>
        <p:spPr>
          <a:xfrm>
            <a:off x="1805939" y="1234440"/>
            <a:ext cx="8595360" cy="4297680"/>
          </a:xfrm>
          <a:prstGeom prst="rect">
            <a:avLst/>
          </a:prstGeom>
        </p:spPr>
      </p:pic>
      <p:sp>
        <p:nvSpPr>
          <p:cNvPr id="7" name="TextBox 6"/>
          <p:cNvSpPr txBox="1"/>
          <p:nvPr/>
        </p:nvSpPr>
        <p:spPr>
          <a:xfrm>
            <a:off x="826487" y="5682039"/>
            <a:ext cx="10332720" cy="274320"/>
          </a:xfrm>
          <a:prstGeom prst="rect">
            <a:avLst/>
          </a:prstGeom>
          <a:noFill/>
        </p:spPr>
        <p:txBody>
          <a:bodyPr wrap="square" lIns="45720" rIns="45720">
            <a:spAutoFit/>
          </a:bodyPr>
          <a:lstStyle/>
          <a:p>
            <a:pPr algn="ctr"/>
            <a:r>
              <a:rPr sz="1400" b="1" dirty="0">
                <a:solidFill>
                  <a:srgbClr val="14233C"/>
                </a:solidFill>
                <a:latin typeface="Aptos"/>
              </a:rPr>
              <a:t>The cleaned spectrum shows the expected attenuation after filtering, especially around and above the high-frequency cutoff region.</a:t>
            </a:r>
          </a:p>
        </p:txBody>
      </p:sp>
      <p:sp>
        <p:nvSpPr>
          <p:cNvPr id="8" name="TextBox 7"/>
          <p:cNvSpPr txBox="1"/>
          <p:nvPr/>
        </p:nvSpPr>
        <p:spPr>
          <a:xfrm>
            <a:off x="502920" y="6473952"/>
            <a:ext cx="6583680" cy="164592"/>
          </a:xfrm>
          <a:prstGeom prst="rect">
            <a:avLst/>
          </a:prstGeom>
          <a:noFill/>
        </p:spPr>
        <p:txBody>
          <a:bodyPr wrap="square" lIns="45720" rIns="45720">
            <a:spAutoFit/>
          </a:bodyPr>
          <a:lstStyle/>
          <a:p>
            <a:r>
              <a:rPr sz="800" b="0">
                <a:solidFill>
                  <a:srgbClr val="5F6368"/>
                </a:solidFill>
                <a:latin typeface="Aptos"/>
              </a:rPr>
              <a:t>LP Praktikum Informatik 1 | Implementation |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Subtitle 2"/>
          <p:cNvSpPr>
            <a:spLocks noGrp="1"/>
          </p:cNvSpPr>
          <p:nvPr>
            <p:ph type="subTitle" idx="1"/>
          </p:nvPr>
        </p:nvSpPr>
        <p:spPr/>
        <p:txBody>
          <a:bodyPr/>
          <a:lstStyle/>
          <a:p>
            <a:endParaRPr/>
          </a:p>
        </p:txBody>
      </p:sp>
      <p:sp>
        <p:nvSpPr>
          <p:cNvPr id="4" name="TextBox 3"/>
          <p:cNvSpPr txBox="1"/>
          <p:nvPr/>
        </p:nvSpPr>
        <p:spPr>
          <a:xfrm>
            <a:off x="704088" y="466344"/>
            <a:ext cx="11155680" cy="457200"/>
          </a:xfrm>
          <a:prstGeom prst="rect">
            <a:avLst/>
          </a:prstGeom>
          <a:noFill/>
        </p:spPr>
        <p:txBody>
          <a:bodyPr wrap="square" lIns="45720" rIns="45720">
            <a:spAutoFit/>
          </a:bodyPr>
          <a:lstStyle/>
          <a:p>
            <a:r>
              <a:rPr sz="2700" b="1" dirty="0">
                <a:solidFill>
                  <a:srgbClr val="14233C"/>
                </a:solidFill>
                <a:latin typeface="Aptos"/>
              </a:rPr>
              <a:t>Implementation Takeaway</a:t>
            </a:r>
          </a:p>
        </p:txBody>
      </p:sp>
      <p:sp>
        <p:nvSpPr>
          <p:cNvPr id="5" name="Rectangle 4"/>
          <p:cNvSpPr/>
          <p:nvPr/>
        </p:nvSpPr>
        <p:spPr>
          <a:xfrm>
            <a:off x="548640" y="1078992"/>
            <a:ext cx="2148840" cy="36576"/>
          </a:xfrm>
          <a:prstGeom prst="rect">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7240" y="1325880"/>
            <a:ext cx="5166360" cy="324612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325880"/>
            <a:ext cx="73152" cy="32461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1832" y="1417320"/>
            <a:ext cx="4892040" cy="292608"/>
          </a:xfrm>
          <a:prstGeom prst="rect">
            <a:avLst/>
          </a:prstGeom>
          <a:noFill/>
        </p:spPr>
        <p:txBody>
          <a:bodyPr wrap="square" lIns="45720" rIns="45720">
            <a:spAutoFit/>
          </a:bodyPr>
          <a:lstStyle/>
          <a:p>
            <a:r>
              <a:rPr sz="1500" b="1">
                <a:solidFill>
                  <a:srgbClr val="14233C"/>
                </a:solidFill>
                <a:latin typeface="Aptos"/>
              </a:rPr>
              <a:t>What was implemented</a:t>
            </a:r>
          </a:p>
        </p:txBody>
      </p:sp>
      <p:sp>
        <p:nvSpPr>
          <p:cNvPr id="9" name="TextBox 8"/>
          <p:cNvSpPr txBox="1"/>
          <p:nvPr/>
        </p:nvSpPr>
        <p:spPr>
          <a:xfrm>
            <a:off x="941832" y="1783080"/>
            <a:ext cx="4892040" cy="2715768"/>
          </a:xfrm>
          <a:prstGeom prst="rect">
            <a:avLst/>
          </a:prstGeom>
          <a:noFill/>
        </p:spPr>
        <p:txBody>
          <a:bodyPr wrap="square">
            <a:spAutoFit/>
          </a:bodyPr>
          <a:lstStyle/>
          <a:p>
            <a:pPr>
              <a:spcAft>
                <a:spcPts val="500"/>
              </a:spcAft>
              <a:defRPr sz="1200">
                <a:solidFill>
                  <a:srgbClr val="1E1E1E"/>
                </a:solidFill>
                <a:latin typeface="Aptos"/>
              </a:defRPr>
            </a:pPr>
            <a:r>
              <a:t>A reusable Python/MNE preprocessing pipeline</a:t>
            </a:r>
          </a:p>
          <a:p>
            <a:pPr>
              <a:spcAft>
                <a:spcPts val="500"/>
              </a:spcAft>
              <a:defRPr sz="1200">
                <a:solidFill>
                  <a:srgbClr val="1E1E1E"/>
                </a:solidFill>
                <a:latin typeface="Aptos"/>
              </a:defRPr>
            </a:pPr>
            <a:r>
              <a:t>Input handling for EEG recordings</a:t>
            </a:r>
          </a:p>
          <a:p>
            <a:pPr>
              <a:spcAft>
                <a:spcPts val="500"/>
              </a:spcAft>
              <a:defRPr sz="1200">
                <a:solidFill>
                  <a:srgbClr val="1E1E1E"/>
                </a:solidFill>
                <a:latin typeface="Aptos"/>
              </a:defRPr>
            </a:pPr>
            <a:r>
              <a:t>Time-domain inspection</a:t>
            </a:r>
          </a:p>
          <a:p>
            <a:pPr>
              <a:spcAft>
                <a:spcPts val="500"/>
              </a:spcAft>
              <a:defRPr sz="1200">
                <a:solidFill>
                  <a:srgbClr val="1E1E1E"/>
                </a:solidFill>
                <a:latin typeface="Aptos"/>
              </a:defRPr>
            </a:pPr>
            <a:r>
              <a:t>PSD/frequency-domain inspection</a:t>
            </a:r>
          </a:p>
          <a:p>
            <a:pPr>
              <a:spcAft>
                <a:spcPts val="500"/>
              </a:spcAft>
              <a:defRPr sz="1200">
                <a:solidFill>
                  <a:srgbClr val="1E1E1E"/>
                </a:solidFill>
                <a:latin typeface="Aptos"/>
              </a:defRPr>
            </a:pPr>
            <a:r>
              <a:t>Band-pass and notch filtering</a:t>
            </a:r>
          </a:p>
          <a:p>
            <a:pPr>
              <a:spcAft>
                <a:spcPts val="500"/>
              </a:spcAft>
              <a:defRPr sz="1200">
                <a:solidFill>
                  <a:srgbClr val="1E1E1E"/>
                </a:solidFill>
                <a:latin typeface="Aptos"/>
              </a:defRPr>
            </a:pPr>
            <a:r>
              <a:t>Result export for presentation and reporting</a:t>
            </a:r>
          </a:p>
        </p:txBody>
      </p:sp>
      <p:sp>
        <p:nvSpPr>
          <p:cNvPr id="10" name="Rounded Rectangle 9"/>
          <p:cNvSpPr/>
          <p:nvPr/>
        </p:nvSpPr>
        <p:spPr>
          <a:xfrm>
            <a:off x="6263640" y="1325880"/>
            <a:ext cx="5074920" cy="324612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63640" y="1325880"/>
            <a:ext cx="73152" cy="324612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8231" y="1417320"/>
            <a:ext cx="4800600" cy="292608"/>
          </a:xfrm>
          <a:prstGeom prst="rect">
            <a:avLst/>
          </a:prstGeom>
          <a:noFill/>
        </p:spPr>
        <p:txBody>
          <a:bodyPr wrap="square" lIns="45720" rIns="45720">
            <a:spAutoFit/>
          </a:bodyPr>
          <a:lstStyle/>
          <a:p>
            <a:r>
              <a:rPr sz="1500" b="1">
                <a:solidFill>
                  <a:srgbClr val="14233C"/>
                </a:solidFill>
                <a:latin typeface="Aptos"/>
              </a:rPr>
              <a:t>How it connects to the literature</a:t>
            </a:r>
          </a:p>
        </p:txBody>
      </p:sp>
      <p:sp>
        <p:nvSpPr>
          <p:cNvPr id="13" name="TextBox 12"/>
          <p:cNvSpPr txBox="1"/>
          <p:nvPr/>
        </p:nvSpPr>
        <p:spPr>
          <a:xfrm>
            <a:off x="6428231" y="1783080"/>
            <a:ext cx="4800600" cy="2715768"/>
          </a:xfrm>
          <a:prstGeom prst="rect">
            <a:avLst/>
          </a:prstGeom>
          <a:noFill/>
        </p:spPr>
        <p:txBody>
          <a:bodyPr wrap="square">
            <a:spAutoFit/>
          </a:bodyPr>
          <a:lstStyle/>
          <a:p>
            <a:pPr>
              <a:spcAft>
                <a:spcPts val="500"/>
              </a:spcAft>
              <a:defRPr sz="1200">
                <a:solidFill>
                  <a:srgbClr val="1E1E1E"/>
                </a:solidFill>
                <a:latin typeface="Aptos"/>
              </a:defRPr>
            </a:pPr>
            <a:r>
              <a:t>Uses filtering and PSD validation discussed across the reviewed papers</a:t>
            </a:r>
          </a:p>
          <a:p>
            <a:pPr>
              <a:spcAft>
                <a:spcPts val="500"/>
              </a:spcAft>
              <a:defRPr sz="1200">
                <a:solidFill>
                  <a:srgbClr val="1E1E1E"/>
                </a:solidFill>
                <a:latin typeface="Aptos"/>
              </a:defRPr>
            </a:pPr>
            <a:r>
              <a:t>Follows the pipeline-based idea emphasized by NEAR</a:t>
            </a:r>
          </a:p>
          <a:p>
            <a:pPr>
              <a:spcAft>
                <a:spcPts val="500"/>
              </a:spcAft>
              <a:defRPr sz="1200">
                <a:solidFill>
                  <a:srgbClr val="1E1E1E"/>
                </a:solidFill>
                <a:latin typeface="Aptos"/>
              </a:defRPr>
            </a:pPr>
            <a:r>
              <a:t>Keeps advanced methods such as ASR, deep learning, and SOBI–SWT as future extensions</a:t>
            </a:r>
          </a:p>
        </p:txBody>
      </p:sp>
      <p:sp>
        <p:nvSpPr>
          <p:cNvPr id="14" name="TextBox 13"/>
          <p:cNvSpPr txBox="1"/>
          <p:nvPr/>
        </p:nvSpPr>
        <p:spPr>
          <a:xfrm>
            <a:off x="914400" y="5166360"/>
            <a:ext cx="10332720" cy="365760"/>
          </a:xfrm>
          <a:prstGeom prst="rect">
            <a:avLst/>
          </a:prstGeom>
          <a:noFill/>
        </p:spPr>
        <p:txBody>
          <a:bodyPr wrap="square" lIns="45720" rIns="45720">
            <a:spAutoFit/>
          </a:bodyPr>
          <a:lstStyle/>
          <a:p>
            <a:pPr algn="ctr"/>
            <a:r>
              <a:rPr sz="1800" b="1">
                <a:solidFill>
                  <a:srgbClr val="14233C"/>
                </a:solidFill>
                <a:latin typeface="Aptos"/>
              </a:rPr>
              <a:t>Main conclusion: the implementation is a simple, transparent baseline pipeline for EEG noise reduction and visualization.</a:t>
            </a:r>
          </a:p>
        </p:txBody>
      </p:sp>
      <p:sp>
        <p:nvSpPr>
          <p:cNvPr id="15" name="TextBox 14"/>
          <p:cNvSpPr txBox="1"/>
          <p:nvPr/>
        </p:nvSpPr>
        <p:spPr>
          <a:xfrm>
            <a:off x="502920" y="6473952"/>
            <a:ext cx="6583680" cy="164592"/>
          </a:xfrm>
          <a:prstGeom prst="rect">
            <a:avLst/>
          </a:prstGeom>
          <a:noFill/>
        </p:spPr>
        <p:txBody>
          <a:bodyPr wrap="square" lIns="45720" rIns="45720">
            <a:spAutoFit/>
          </a:bodyPr>
          <a:lstStyle/>
          <a:p>
            <a:r>
              <a:rPr sz="800" b="0">
                <a:solidFill>
                  <a:srgbClr val="5F6368"/>
                </a:solidFill>
                <a:latin typeface="Aptos"/>
              </a:rPr>
              <a:t>LP Praktikum Informatik 1 | Implementation | 24</a:t>
            </a:r>
          </a:p>
        </p:txBody>
      </p:sp>
    </p:spTree>
  </p:cSld>
  <p:clrMapOvr>
    <a:masterClrMapping/>
  </p:clrMapOvr>
</p:sld>
</file>

<file path=ppt/theme/theme1.xml><?xml version="1.0" encoding="utf-8"?>
<a:theme xmlns:a="http://schemas.openxmlformats.org/drawingml/2006/main" name="Chalcot">
  <a:themeElements>
    <a:clrScheme name="Custom 2">
      <a:dk1>
        <a:srgbClr val="000000"/>
      </a:dk1>
      <a:lt1>
        <a:srgbClr val="F3EBE8"/>
      </a:lt1>
      <a:dk2>
        <a:srgbClr val="264653"/>
      </a:dk2>
      <a:lt2>
        <a:srgbClr val="FFFFFF"/>
      </a:lt2>
      <a:accent1>
        <a:srgbClr val="E9939D"/>
      </a:accent1>
      <a:accent2>
        <a:srgbClr val="E9C369"/>
      </a:accent2>
      <a:accent3>
        <a:srgbClr val="2A9D8F"/>
      </a:accent3>
      <a:accent4>
        <a:srgbClr val="F3D6CD"/>
      </a:accent4>
      <a:accent5>
        <a:srgbClr val="8CBA8F"/>
      </a:accent5>
      <a:accent6>
        <a:srgbClr val="919FA9"/>
      </a:accent6>
      <a:hlink>
        <a:srgbClr val="8F45C7"/>
      </a:hlink>
      <a:folHlink>
        <a:srgbClr val="D08A55"/>
      </a:folHlink>
    </a:clrScheme>
    <a:fontScheme name="Custom 362">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alcot_Copilot Layouts_win32_LW_V5" id="{BB83E610-C1CA-49EC-A787-4EFEA8456B79}" vid="{40FB1116-6983-46AA-9CD7-BA42C7965D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4491</Words>
  <Application>Microsoft Office PowerPoint</Application>
  <PresentationFormat>Widescreen</PresentationFormat>
  <Paragraphs>224</Paragraphs>
  <Slides>24</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Aptos</vt:lpstr>
      <vt:lpstr>Arial</vt:lpstr>
      <vt:lpstr>Calibri</vt:lpstr>
      <vt:lpstr>Century Gothic</vt:lpstr>
      <vt:lpstr>Karla</vt:lpstr>
      <vt:lpstr>Univers Condensed Light</vt:lpstr>
      <vt:lpstr>Chalcot</vt:lpstr>
      <vt:lpstr>Literature Overview: EEG Noise and Artifact Removal</vt:lpstr>
      <vt:lpstr>Motivation and Context for EEG Artifact Removal</vt:lpstr>
      <vt:lpstr>Why EEG Recordings Require Careful Preprocessing</vt:lpstr>
      <vt:lpstr>General Categories of EEG Noise and Artifacts</vt:lpstr>
      <vt:lpstr>Paper 1: Zhang et al. (2021) — EEGdenoiseNet</vt:lpstr>
      <vt:lpstr>EEGdenoiseNet: Motivation and Dataset Design</vt:lpstr>
      <vt:lpstr>Artifact Types and Denoising Methods in EEGdenoiseNet</vt:lpstr>
      <vt:lpstr>Paper 2: Kumaravel et al. (2022) — NEAR Pipeline</vt:lpstr>
      <vt:lpstr>Challenges of Artifact Removal in Newborn EEG</vt:lpstr>
      <vt:lpstr>NEAR Pipeline: LOF-Based Channel Detection and ASR</vt:lpstr>
      <vt:lpstr>Paper 3: Arpaia et al. (2025) — Wearable EEG Review</vt:lpstr>
      <vt:lpstr>Wearable EEG: Artifact Taxonomy and Challenges</vt:lpstr>
      <vt:lpstr>Methods and Evaluation Metrics in Wearable EEG Studies</vt:lpstr>
      <vt:lpstr>Paper 4: Zangeneh Soroush et al. (2022) — Hybrid Artifact Removal</vt:lpstr>
      <vt:lpstr>Hybrid Pipeline Using SOBI, Nonlinear Dynamics, and Machine Learning</vt:lpstr>
      <vt:lpstr>Stationary Wavelet Transform and Key Lessons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gholizades21@univie.ac.at</dc:creator>
  <cp:lastModifiedBy>Soroush Gholizadeh</cp:lastModifiedBy>
  <cp:revision>4</cp:revision>
  <dcterms:modified xsi:type="dcterms:W3CDTF">2026-05-31T20:59:09Z</dcterms:modified>
</cp:coreProperties>
</file>