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1" r:id="rId2"/>
    <p:sldId id="2562" r:id="rId3"/>
    <p:sldId id="2563" r:id="rId4"/>
    <p:sldId id="2564" r:id="rId5"/>
    <p:sldId id="2565" r:id="rId6"/>
    <p:sldId id="2572" r:id="rId7"/>
    <p:sldId id="2568" r:id="rId8"/>
    <p:sldId id="2567" r:id="rId9"/>
    <p:sldId id="2571" r:id="rId10"/>
    <p:sldId id="2570" r:id="rId11"/>
    <p:sldId id="2574" r:id="rId12"/>
    <p:sldId id="2569" r:id="rId13"/>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BBBD3EF-6F0C-42E7-A524-E8425B11024D}" type="datetimeFigureOut">
              <a:rPr lang="fa-IR" smtClean="0"/>
              <a:t>03/01/1448</a:t>
            </a:fld>
            <a:endParaRPr lang="fa-I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4BF335EB-804F-4B34-8690-EAB3541046BD}" type="slidenum">
              <a:rPr lang="fa-IR" smtClean="0"/>
              <a:t>‹#›</a:t>
            </a:fld>
            <a:endParaRPr lang="fa-IR"/>
          </a:p>
        </p:txBody>
      </p:sp>
    </p:spTree>
    <p:extLst>
      <p:ext uri="{BB962C8B-B14F-4D97-AF65-F5344CB8AC3E}">
        <p14:creationId xmlns:p14="http://schemas.microsoft.com/office/powerpoint/2010/main" val="871302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Tree>
    <p:extLst>
      <p:ext uri="{BB962C8B-B14F-4D97-AF65-F5344CB8AC3E}">
        <p14:creationId xmlns:p14="http://schemas.microsoft.com/office/powerpoint/2010/main" val="100275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EEG Recordings Require Careful Preprocessing, General Categories of EEG Noise and Artifacts</a:t>
            </a:r>
          </a:p>
        </p:txBody>
      </p:sp>
    </p:spTree>
    <p:extLst>
      <p:ext uri="{BB962C8B-B14F-4D97-AF65-F5344CB8AC3E}">
        <p14:creationId xmlns:p14="http://schemas.microsoft.com/office/powerpoint/2010/main" val="2686564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Electroencephalography (EEG) measures very small electrical potentials generated by neural activity and recorded at the scalp, typically in the range of only a few microvolts. Because these signals are weak and measured non-invasively, EEG recordings are highly susceptible to contamination from non-neural sources. As a result, raw EEG data are almost never a pure representation of brain activity; instead, they are a mixture of neural signals, physiological artifacts, and environmental or instrumental noise. This makes preprocessing and artifact removal a fundamental step before any meaningful analysis can be performed. Without proper cleaning, artifacts can dominate the signal, distort its temporal waveform, alter its frequency spectrum, and create misleading spatial patterns across electrodes. For example, a large eye blink can appear as a slow, high-amplitude deflection in frontal channels, masking genuine neural responses, while muscle activity can introduce high-frequency components that resemble cognitive-related beta or gamma activity. These effects can severely bias downstream analyses such as brain–computer interface (BCI) classification, event-related potential (ERP) studies, frequency-tagging or steady-state visual evoked potential (SSVEP) analysis, and clinical interpretation. Another important challenge is that, in real EEG recordings, the true underlying “clean” brain signal is unknown. This lack of ground truth makes it difficult to objectively evaluate how well a given artifact-removal method performs. Researchers must therefore rely on indirect metrics, expert visual inspection, or controlled simulations. The literature consistently emphasizes that EEG preprocessing is not optional but a necessary prerequisite for reliable results. Across laboratory, clinical, and wearable EEG settings, artifact removal is best understood as a systematic effort to improve signal quality while preserving as much genuine neural information as possible, rather than as a single optional filtering step. This motivation underpins all the papers reviewed in this presentation.</a:t>
            </a:r>
          </a:p>
        </p:txBody>
      </p:sp>
    </p:spTree>
    <p:extLst>
      <p:ext uri="{BB962C8B-B14F-4D97-AF65-F5344CB8AC3E}">
        <p14:creationId xmlns:p14="http://schemas.microsoft.com/office/powerpoint/2010/main" val="1242289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EEG artifacts are commonly divided into physiological and non-physiological categories, a distinction that helps clarify their origins and appropriate removal strategies. Physiological artifacts arise from biological processes other than cortical brain activity. The most prominent examples are ocular artifacts, produced by eye blinks and eye movements, which generate large electrical potentials that spread across the scalp. Muscular or myogenic artifacts originate from facial, jaw, neck, or scalp muscles and often have a broad frequency spectrum, overlapping with neural EEG bands. Cardiac artifacts, related to the electrocardiogram (ECG), can appear as rhythmic components synchronized with the heartbeat. Movement-related artifacts, such as head or body motion, are also physiological in nature and can be particularly problematic in populations like infants or in mobile EEG recordings. Non-physiological artifacts stem from the recording setup or environment rather than the body. These include instrumental artifacts such as bad or flat channels caused by poor electrode contact, electrode displacement, cable movement, amplifier saturation, or impedance imbalance. Environmental noise, especially electromagnetic interference, is another major category; a classic example is power-line noise at 50 Hz in Europe or 60 Hz in other regions. Each artifact category has distinct temporal, spectral, and spatial characteristics, which is why no single removal method works optimally for all cases. The reviewed literature shows that understanding the type of artifact present is crucial, because it determines whether simple filtering is sufficient or whether more advanced techniques such as source separation, wavelet decomposition, or machine learning are required. This taxonomy provides the conceptual foundation for evaluating and comparing artifact-removal pipelines across different EEG applications.</a:t>
            </a:r>
          </a:p>
        </p:txBody>
      </p:sp>
    </p:spTree>
    <p:extLst>
      <p:ext uri="{BB962C8B-B14F-4D97-AF65-F5344CB8AC3E}">
        <p14:creationId xmlns:p14="http://schemas.microsoft.com/office/powerpoint/2010/main" val="3201574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EEGdenoiseNet: Motivation and Dataset Design, Artifact Types and Denoising Methods in EEGdenoiseNet</a:t>
            </a:r>
          </a:p>
        </p:txBody>
      </p:sp>
    </p:spTree>
    <p:extLst>
      <p:ext uri="{BB962C8B-B14F-4D97-AF65-F5344CB8AC3E}">
        <p14:creationId xmlns:p14="http://schemas.microsoft.com/office/powerpoint/2010/main" val="1095582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Arpaia et al. (2025) present a systematic review of artifact detection and artifact category identification in wearable EEG systems. Wearable EEG differs from traditional laboratory EEG in several fundamental ways. It often relies on dry or semi-wet electrodes, uses fewer channels, and is designed for mobile or real-world environments rather than controlled laboratory settings. These characteristics make wearable EEG more susceptible to artifacts and noise. The review provides a comprehensive taxonomy of artifact types encountered in wearable EEG, including ocular artifacts, muscular artifacts, movement artifacts, instrumental artifacts, cardiac artifacts, and electromagnetic interference such as power-line noise. Ocular artifacts are reported as the most frequently studied category, followed by muscular and movement-related artifacts. Instrumental artifacts, such as electrode displacement or cable movement, are also common in wearable systems due to user motion and less stable electrode attachment. A key insight from the review is that many methods focus on detecting whether data are contaminated, but relatively few attempt to identify the specific artifact category. This distinction is important because knowing the artifact type can inform the choice of removal method. For example, power-line noise can be addressed with a notch filter, while movement artifacts may require ASR or sensor-assisted approaches. The paper emphasizes that wearable EEG introduces constraints—such as low channel count—that limit the applicability of traditional source separation techniques, motivating the need for adaptive and lightweight algorithms.</a:t>
            </a:r>
          </a:p>
        </p:txBody>
      </p:sp>
    </p:spTree>
    <p:extLst>
      <p:ext uri="{BB962C8B-B14F-4D97-AF65-F5344CB8AC3E}">
        <p14:creationId xmlns:p14="http://schemas.microsoft.com/office/powerpoint/2010/main" val="2268081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of Artifact Removal in Newborn EEG, NEAR Pipeline: LOF-Based Channel Detection and ASR</a:t>
            </a:r>
          </a:p>
        </p:txBody>
      </p:sp>
    </p:spTree>
    <p:extLst>
      <p:ext uri="{BB962C8B-B14F-4D97-AF65-F5344CB8AC3E}">
        <p14:creationId xmlns:p14="http://schemas.microsoft.com/office/powerpoint/2010/main" val="204225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EEGdenoiseNet paper focuses primarily on two major physiological artifact types: ocular artifacts and muscular, or myogenic, artifacts. Ocular artifacts are caused by eye blinks and eye movements, which generate strong electrical potentials due to the dipole formed by the cornea and retina. These artifacts typically appear as large-amplitude, low-frequency deflections, most prominently in frontal EEG channels such as Fp1 and Fp2. Muscular artifacts, on the other hand, originate from electrical activity in muscles of the face, jaw, neck, or scalp. They tend to have a broad frequency spectrum and often contribute high-frequency components that overlap with neural beta and gamma bands, making them particularly difficult to remove using simple frequency-based filters. Zhang et al. review several traditional artifact-removal approaches, including regression-based correction using reference channels, adaptive filtering techniques that adjust filter parameters over time, and blind source separation (BSS) methods such as independent component analysis (ICA). However, the main emphasis of the paper is on deep learning approaches. The authors benchmark multiple neural network architectures, including fully connected neural networks, convolutional neural networks, residual convolutional networks, and recurrent neural networks with long short-term memory units. These models learn a direct mapping from contaminated EEG to clean EEG in a supervised manner. The results demonstrate that deep learning methods can outperform traditional techniques under controlled conditions, particularly when sufficient training data are available. This paper therefore illustrates both the potential and the limitations of data-driven EEG denoising, highlighting the importance of matching algorithm complexity with dataset quality and size.</a:t>
            </a:r>
          </a:p>
        </p:txBody>
      </p:sp>
    </p:spTree>
    <p:extLst>
      <p:ext uri="{BB962C8B-B14F-4D97-AF65-F5344CB8AC3E}">
        <p14:creationId xmlns:p14="http://schemas.microsoft.com/office/powerpoint/2010/main" val="4185829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Wearable EEG: Artifact Taxonomy and Challenges, Methods and Evaluation Metrics in Wearable EEG Studies</a:t>
            </a:r>
          </a:p>
        </p:txBody>
      </p:sp>
    </p:spTree>
    <p:extLst>
      <p:ext uri="{BB962C8B-B14F-4D97-AF65-F5344CB8AC3E}">
        <p14:creationId xmlns:p14="http://schemas.microsoft.com/office/powerpoint/2010/main" val="4294041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NEAR pipeline, which stands for Newborn EEG Artifact Removal, is designed as a complete, multi-step preprocessing workflow rather than a single algorithm. A central component of NEAR is automatic bad-channel detection using the Local Outlier Factor (LOF) algorithm. LOF is an unsupervised, density-based outlier detection method that identifies data points—or, in this case, EEG channels—that behave very differently from their neighbors. Channels with abnormal amplitude distributions, excessive noise, or flat signals are flagged as outliers and marked as bad. This approach is more adaptive than simple global thresholding, which can be too strict or too lenient in noisy newborn recordings. After bad channels are identified, NEAR applies Artifact Subspace Reconstruction (ASR) to address transient, high-amplitude artifacts. ASR works by learning the statistical properties of relatively clean EEG data and then identifying time windows or subspaces that deviate strongly from this reference. These contaminated segments can be corrected or removed, depending on parameter settings. A critical parameter in ASR is the cutoff value, often denoted as k, which controls how aggressively artifacts are removed. Kumaravel et al. emphasize that this parameter must be calibrated for the specific dataset and population, as default values may not be appropriate for newborn EEG. Following ASR, bad channels are interpolated using neighboring electrodes, and the data are re-referenced. The NEAR pipeline demonstrates that effective artifact removal requires coordinated handling of channel quality, transient artifacts, and signal reconstruction.</a:t>
            </a:r>
          </a:p>
        </p:txBody>
      </p:sp>
    </p:spTree>
    <p:extLst>
      <p:ext uri="{BB962C8B-B14F-4D97-AF65-F5344CB8AC3E}">
        <p14:creationId xmlns:p14="http://schemas.microsoft.com/office/powerpoint/2010/main" val="920327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Pipeline Using SOBI, Nonlinear Dynamics, and Machine Learning, Stationary Wavelet Transform and Key Lessons</a:t>
            </a:r>
          </a:p>
        </p:txBody>
      </p:sp>
    </p:spTree>
    <p:extLst>
      <p:ext uri="{BB962C8B-B14F-4D97-AF65-F5344CB8AC3E}">
        <p14:creationId xmlns:p14="http://schemas.microsoft.com/office/powerpoint/2010/main" val="2194640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Kumaravel et al. (2022) focus on a particularly challenging EEG application: recordings from human newborns. Newborn EEG differs substantially from adult laboratory EEG in several important ways. First, recordings are typically short because infants cannot remain still or attentive for long periods. Second, newborns move unpredictably, producing frequent and often severe artifacts due to head movement, limb movement, frowning, sucking, or changes in posture. Third, electrode contact is often unstable, leading to bad or flat channels and sudden amplitude jumps. A key concept emphasized in this paper is that many newborn artifacts are non-stereotyped. Unlike eye blinks in adults, which tend to have a consistent shape and spatial distribution, newborn movement artifacts can vary widely from event to event. This variability reduces the effectiveness of traditional ICA-based methods, which rely on repeated, statistically independent sources. As a result, standard adult EEG preprocessing pipelines often perform poorly on newborn data. The authors argue that artifact removal in this context must be robust, adaptive, and capable of handling transient, high-amplitude disturbances without relying heavily on assumptions about artifact structure. This motivation leads to the development of NEAR, a dedicated preprocessing pipeline tailored specifically to the characteristics of newborn EEG. In the broader literature overview, this paper highlights the importance of adapting artifact-removal strategies to the population and recording conditions, rather than assuming that a single adult-oriented pipeline will generalize to all EEG scenarios.</a:t>
            </a:r>
          </a:p>
        </p:txBody>
      </p:sp>
    </p:spTree>
    <p:extLst>
      <p:ext uri="{BB962C8B-B14F-4D97-AF65-F5344CB8AC3E}">
        <p14:creationId xmlns:p14="http://schemas.microsoft.com/office/powerpoint/2010/main" val="1755701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4BF335EB-804F-4B34-8690-EAB3541046BD}" type="slidenum">
              <a:rPr lang="fa-IR" smtClean="0"/>
              <a:t>18</a:t>
            </a:fld>
            <a:endParaRPr lang="fa-IR"/>
          </a:p>
        </p:txBody>
      </p:sp>
    </p:spTree>
    <p:extLst>
      <p:ext uri="{BB962C8B-B14F-4D97-AF65-F5344CB8AC3E}">
        <p14:creationId xmlns:p14="http://schemas.microsoft.com/office/powerpoint/2010/main" val="3223408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8139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r>
              <a:rPr lang="en-US"/>
              <a:t>LP Praktikum Informatik 1 | </a:t>
            </a:r>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933325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r>
              <a:rPr lang="en-US"/>
              <a:t>LP Praktikum Informatik 1 |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7230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32C40-3260-9539-C9A0-3980DB766EEE}"/>
              </a:ext>
            </a:extLst>
          </p:cNvPr>
          <p:cNvSpPr>
            <a:spLocks noGrp="1"/>
          </p:cNvSpPr>
          <p:nvPr>
            <p:ph type="title"/>
          </p:nvPr>
        </p:nvSpPr>
        <p:spPr>
          <a:xfrm>
            <a:off x="593541" y="996695"/>
            <a:ext cx="4235820" cy="2624329"/>
          </a:xfrm>
        </p:spPr>
        <p:txBody>
          <a:bodyPr anchor="t">
            <a:normAutofit/>
          </a:bodyPr>
          <a:lstStyle/>
          <a:p>
            <a:r>
              <a:rPr lang="en-US" dirty="0"/>
              <a:t>EEG Noise and Artifact Removal</a:t>
            </a:r>
          </a:p>
        </p:txBody>
      </p:sp>
      <p:sp>
        <p:nvSpPr>
          <p:cNvPr id="3" name="Subtitle 2">
            <a:extLst>
              <a:ext uri="{FF2B5EF4-FFF2-40B4-BE49-F238E27FC236}">
                <a16:creationId xmlns:a16="http://schemas.microsoft.com/office/drawing/2014/main" id="{098D548D-9260-C4B8-931C-25831E5E16CA}"/>
              </a:ext>
            </a:extLst>
          </p:cNvPr>
          <p:cNvSpPr>
            <a:spLocks noGrp="1"/>
          </p:cNvSpPr>
          <p:nvPr>
            <p:ph type="subTitle" idx="1"/>
          </p:nvPr>
        </p:nvSpPr>
        <p:spPr>
          <a:xfrm>
            <a:off x="593541" y="3557014"/>
            <a:ext cx="4235820" cy="1698601"/>
          </a:xfrm>
        </p:spPr>
        <p:txBody>
          <a:bodyPr anchor="b">
            <a:noAutofit/>
          </a:bodyPr>
          <a:lstStyle/>
          <a:p>
            <a:r>
              <a:rPr lang="en-US" b="1" dirty="0"/>
              <a:t>Key methods to improve EEG signal quality effectively</a:t>
            </a:r>
          </a:p>
          <a:p>
            <a:r>
              <a:rPr lang="en-US" b="1" u="sng" dirty="0"/>
              <a:t>Soroush Gholizadeh </a:t>
            </a:r>
            <a:r>
              <a:rPr lang="en-US" b="1" u="sng" dirty="0" err="1"/>
              <a:t>jouryabi</a:t>
            </a:r>
            <a:r>
              <a:rPr lang="en-US" b="1" u="sng" dirty="0"/>
              <a:t> / 12454591</a:t>
            </a:r>
          </a:p>
        </p:txBody>
      </p:sp>
      <p:pic>
        <p:nvPicPr>
          <p:cNvPr id="4" name="Picture 3" descr="&quot;Close up of Electrocardiogram. One graph with selective focus, perspective. Isolated.&quot;">
            <a:extLst>
              <a:ext uri="{FF2B5EF4-FFF2-40B4-BE49-F238E27FC236}">
                <a16:creationId xmlns:a16="http://schemas.microsoft.com/office/drawing/2014/main" id="{7D768DDA-92AC-4685-9684-2D3DDFBFF6A5}"/>
              </a:ext>
            </a:extLst>
          </p:cNvPr>
          <p:cNvPicPr>
            <a:picLocks noChangeAspect="1"/>
          </p:cNvPicPr>
          <p:nvPr/>
        </p:nvPicPr>
        <p:blipFill>
          <a:blip r:embed="rId3"/>
          <a:srcRect l="8681" r="57748" b="1"/>
          <a:stretch>
            <a:fillRect/>
          </a:stretch>
        </p:blipFill>
        <p:spPr>
          <a:xfrm>
            <a:off x="5613962" y="10"/>
            <a:ext cx="6578038" cy="6857990"/>
          </a:xfrm>
          <a:prstGeom prst="rect">
            <a:avLst/>
          </a:prstGeom>
        </p:spPr>
      </p:pic>
    </p:spTree>
    <p:extLst>
      <p:ext uri="{BB962C8B-B14F-4D97-AF65-F5344CB8AC3E}">
        <p14:creationId xmlns:p14="http://schemas.microsoft.com/office/powerpoint/2010/main" val="304209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par>
                                <p:cTn id="16" presetID="42"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C2001-A5C1-8D87-34D8-33C1DA15D599}"/>
              </a:ext>
            </a:extLst>
          </p:cNvPr>
          <p:cNvSpPr>
            <a:spLocks noGrp="1"/>
          </p:cNvSpPr>
          <p:nvPr>
            <p:ph type="ctrTitle"/>
          </p:nvPr>
        </p:nvSpPr>
        <p:spPr>
          <a:xfrm>
            <a:off x="1522013" y="1282325"/>
            <a:ext cx="8893834" cy="3988550"/>
          </a:xfrm>
        </p:spPr>
        <p:txBody>
          <a:bodyPr anchor="ctr">
            <a:normAutofit/>
          </a:bodyPr>
          <a:lstStyle/>
          <a:p>
            <a:r>
              <a:rPr lang="en-US"/>
              <a:t>Motivation and Context for EEG Artifact Removal</a:t>
            </a:r>
          </a:p>
        </p:txBody>
      </p:sp>
      <p:sp>
        <p:nvSpPr>
          <p:cNvPr id="5" name="Footer Placeholder 4">
            <a:extLst>
              <a:ext uri="{FF2B5EF4-FFF2-40B4-BE49-F238E27FC236}">
                <a16:creationId xmlns:a16="http://schemas.microsoft.com/office/drawing/2014/main" id="{8B56089D-40D0-B4B4-4A37-22D7675AEE5E}"/>
              </a:ext>
            </a:extLst>
          </p:cNvPr>
          <p:cNvSpPr>
            <a:spLocks noGrp="1"/>
          </p:cNvSpPr>
          <p:nvPr>
            <p:ph type="ftr" sz="quarter" idx="3"/>
          </p:nvPr>
        </p:nvSpPr>
        <p:spPr/>
        <p:txBody>
          <a:bodyPr/>
          <a:lstStyle/>
          <a:p>
            <a:r>
              <a:rPr lang="en-US"/>
              <a:t>LP Praktikum Informatik 1 | </a:t>
            </a:r>
          </a:p>
        </p:txBody>
      </p:sp>
      <p:sp>
        <p:nvSpPr>
          <p:cNvPr id="6" name="Slide Number Placeholder 5">
            <a:extLst>
              <a:ext uri="{FF2B5EF4-FFF2-40B4-BE49-F238E27FC236}">
                <a16:creationId xmlns:a16="http://schemas.microsoft.com/office/drawing/2014/main" id="{28279E61-605E-8823-E181-928995C3228C}"/>
              </a:ext>
            </a:extLst>
          </p:cNvPr>
          <p:cNvSpPr>
            <a:spLocks noGrp="1"/>
          </p:cNvSpPr>
          <p:nvPr>
            <p:ph type="sldNum" sz="quarter" idx="4"/>
          </p:nvPr>
        </p:nvSpPr>
        <p:spPr/>
        <p:txBody>
          <a:bodyPr/>
          <a:lstStyle/>
          <a:p>
            <a:fld id="{AEAA3239-9EA4-4A65-A281-97F994456D9F}" type="slidenum">
              <a:rPr lang="en-US" smtClean="0"/>
              <a:pPr/>
              <a:t>2</a:t>
            </a:fld>
            <a:endParaRPr lang="en-US"/>
          </a:p>
        </p:txBody>
      </p:sp>
    </p:spTree>
    <p:extLst>
      <p:ext uri="{BB962C8B-B14F-4D97-AF65-F5344CB8AC3E}">
        <p14:creationId xmlns:p14="http://schemas.microsoft.com/office/powerpoint/2010/main" val="3217223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D86CB-5B5A-7761-73D1-290C5A1810A0}"/>
              </a:ext>
            </a:extLst>
          </p:cNvPr>
          <p:cNvSpPr>
            <a:spLocks noGrp="1"/>
          </p:cNvSpPr>
          <p:nvPr>
            <p:ph type="title"/>
          </p:nvPr>
        </p:nvSpPr>
        <p:spPr>
          <a:xfrm>
            <a:off x="612647" y="369598"/>
            <a:ext cx="6858000" cy="932688"/>
          </a:xfrm>
        </p:spPr>
        <p:txBody>
          <a:bodyPr anchor="b">
            <a:normAutofit fontScale="90000"/>
          </a:bodyPr>
          <a:lstStyle/>
          <a:p>
            <a:r>
              <a:rPr lang="en-US" sz="2800" dirty="0"/>
              <a:t>Why EEG Recordings Require Careful Preprocessing</a:t>
            </a:r>
          </a:p>
        </p:txBody>
      </p:sp>
      <p:sp>
        <p:nvSpPr>
          <p:cNvPr id="3" name="Content Placeholder 2">
            <a:extLst>
              <a:ext uri="{FF2B5EF4-FFF2-40B4-BE49-F238E27FC236}">
                <a16:creationId xmlns:a16="http://schemas.microsoft.com/office/drawing/2014/main" id="{EC1BF040-80F3-534F-289E-F5D79BA663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dirty="0"/>
              <a:t>Susceptibility to Noise</a:t>
            </a:r>
          </a:p>
          <a:p>
            <a:pPr marL="0" lvl="1" indent="0">
              <a:buFont typeface="Arial" panose="020B0604020202020204" pitchFamily="34" charset="0"/>
              <a:buNone/>
            </a:pPr>
            <a:r>
              <a:rPr lang="en-US" sz="1400" dirty="0"/>
              <a:t>EEG signals are weak and easily contaminated by physiological and environmental noise sources.</a:t>
            </a:r>
          </a:p>
          <a:p>
            <a:pPr marL="0" indent="0">
              <a:spcBef>
                <a:spcPts val="2500"/>
              </a:spcBef>
              <a:buFont typeface="Arial" panose="020B0604020202020204" pitchFamily="34" charset="0"/>
              <a:buNone/>
            </a:pPr>
            <a:r>
              <a:rPr lang="en-US" sz="1400" b="1" dirty="0"/>
              <a:t>Artifacts Distort Signal</a:t>
            </a:r>
          </a:p>
          <a:p>
            <a:pPr marL="0" lvl="1" indent="0">
              <a:buFont typeface="Arial" panose="020B0604020202020204" pitchFamily="34" charset="0"/>
              <a:buNone/>
            </a:pPr>
            <a:r>
              <a:rPr lang="en-US" sz="1400" dirty="0"/>
              <a:t>Artifacts like eye blinks and muscle activity distort EEG waveforms and can mask true brain signals.</a:t>
            </a:r>
          </a:p>
          <a:p>
            <a:pPr marL="0" indent="0">
              <a:spcBef>
                <a:spcPts val="2500"/>
              </a:spcBef>
              <a:buFont typeface="Arial" panose="020B0604020202020204" pitchFamily="34" charset="0"/>
              <a:buNone/>
            </a:pPr>
            <a:r>
              <a:rPr lang="en-US" sz="1400" b="1" dirty="0"/>
              <a:t>Importance of Preprocessing</a:t>
            </a:r>
          </a:p>
          <a:p>
            <a:pPr marL="0" lvl="1" indent="0">
              <a:buFont typeface="Arial" panose="020B0604020202020204" pitchFamily="34" charset="0"/>
              <a:buNone/>
            </a:pPr>
            <a:r>
              <a:rPr lang="en-US" sz="1400" dirty="0"/>
              <a:t>Preprocessing removes artifacts to preserve genuine neural information for accurate analysis and interpretation.</a:t>
            </a:r>
          </a:p>
          <a:p>
            <a:pPr marL="0" indent="0">
              <a:spcBef>
                <a:spcPts val="2500"/>
              </a:spcBef>
              <a:buFont typeface="Arial" panose="020B0604020202020204" pitchFamily="34" charset="0"/>
              <a:buNone/>
            </a:pPr>
            <a:r>
              <a:rPr lang="en-US" sz="1400" b="1" dirty="0"/>
              <a:t>Challenges in Validation</a:t>
            </a:r>
          </a:p>
          <a:p>
            <a:pPr marL="0" lvl="1" indent="0">
              <a:buFont typeface="Arial" panose="020B0604020202020204" pitchFamily="34" charset="0"/>
              <a:buNone/>
            </a:pPr>
            <a:r>
              <a:rPr lang="en-US" sz="1400" dirty="0"/>
              <a:t>True clean EEG signals are unknown, making artifact removal evaluation reliant on indirect measures and expert review.</a:t>
            </a:r>
          </a:p>
        </p:txBody>
      </p:sp>
      <p:pic>
        <p:nvPicPr>
          <p:cNvPr id="5" name="Content Placeholder 4" descr="Artificial Intelligence digital concept with brain shape">
            <a:extLst>
              <a:ext uri="{FF2B5EF4-FFF2-40B4-BE49-F238E27FC236}">
                <a16:creationId xmlns:a16="http://schemas.microsoft.com/office/drawing/2014/main" id="{487D6649-29AB-44B5-902F-2D434B8B32AD}"/>
              </a:ext>
            </a:extLst>
          </p:cNvPr>
          <p:cNvPicPr>
            <a:picLocks noGrp="1" noChangeAspect="1"/>
          </p:cNvPicPr>
          <p:nvPr>
            <p:ph type="pic" sz="quarter" idx="13"/>
          </p:nvPr>
        </p:nvPicPr>
        <p:blipFill>
          <a:blip r:embed="rId3"/>
          <a:srcRect l="32037" r="34332"/>
          <a:stretch>
            <a:fillRect/>
          </a:stretch>
        </p:blipFill>
        <p:spPr>
          <a:xfrm>
            <a:off x="8091732" y="10"/>
            <a:ext cx="4100267" cy="6857990"/>
          </a:xfrm>
          <a:solidFill>
            <a:srgbClr val="F3EBE8"/>
          </a:solidFill>
        </p:spPr>
      </p:pic>
      <p:sp>
        <p:nvSpPr>
          <p:cNvPr id="7" name="Footer Placeholder 6">
            <a:extLst>
              <a:ext uri="{FF2B5EF4-FFF2-40B4-BE49-F238E27FC236}">
                <a16:creationId xmlns:a16="http://schemas.microsoft.com/office/drawing/2014/main" id="{E79892BC-7B48-6AB6-F754-2B6C69681F74}"/>
              </a:ext>
            </a:extLst>
          </p:cNvPr>
          <p:cNvSpPr>
            <a:spLocks noGrp="1"/>
          </p:cNvSpPr>
          <p:nvPr>
            <p:ph type="ftr" sz="quarter" idx="16"/>
          </p:nvPr>
        </p:nvSpPr>
        <p:spPr/>
        <p:txBody>
          <a:bodyPr/>
          <a:lstStyle/>
          <a:p>
            <a:r>
              <a:rPr lang="en-US"/>
              <a:t>LP Praktikum Informatik 1 | </a:t>
            </a:r>
          </a:p>
        </p:txBody>
      </p:sp>
      <p:sp>
        <p:nvSpPr>
          <p:cNvPr id="8" name="Slide Number Placeholder 7">
            <a:extLst>
              <a:ext uri="{FF2B5EF4-FFF2-40B4-BE49-F238E27FC236}">
                <a16:creationId xmlns:a16="http://schemas.microsoft.com/office/drawing/2014/main" id="{41020F59-CFEA-5607-2F2C-DBFE991443A9}"/>
              </a:ext>
            </a:extLst>
          </p:cNvPr>
          <p:cNvSpPr>
            <a:spLocks noGrp="1"/>
          </p:cNvSpPr>
          <p:nvPr>
            <p:ph type="sldNum" sz="quarter" idx="17"/>
          </p:nvPr>
        </p:nvSpPr>
        <p:spPr/>
        <p:txBody>
          <a:bodyPr/>
          <a:lstStyle/>
          <a:p>
            <a:fld id="{AEAA3239-9EA4-4A65-A281-97F994456D9F}" type="slidenum">
              <a:rPr lang="en-US" smtClean="0"/>
              <a:t>3</a:t>
            </a:fld>
            <a:endParaRPr lang="en-US"/>
          </a:p>
        </p:txBody>
      </p:sp>
    </p:spTree>
    <p:extLst>
      <p:ext uri="{BB962C8B-B14F-4D97-AF65-F5344CB8AC3E}">
        <p14:creationId xmlns:p14="http://schemas.microsoft.com/office/powerpoint/2010/main" val="2944912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AEC2-DC8E-B298-93C9-6E98416A5BC7}"/>
              </a:ext>
            </a:extLst>
          </p:cNvPr>
          <p:cNvSpPr>
            <a:spLocks noGrp="1"/>
          </p:cNvSpPr>
          <p:nvPr>
            <p:ph type="title"/>
          </p:nvPr>
        </p:nvSpPr>
        <p:spPr>
          <a:xfrm>
            <a:off x="612647" y="433606"/>
            <a:ext cx="6858000" cy="932688"/>
          </a:xfrm>
        </p:spPr>
        <p:txBody>
          <a:bodyPr anchor="b">
            <a:normAutofit/>
          </a:bodyPr>
          <a:lstStyle/>
          <a:p>
            <a:r>
              <a:rPr lang="en-US" sz="2800" dirty="0"/>
              <a:t>General Categories of EEG Noise and Artifacts</a:t>
            </a:r>
          </a:p>
        </p:txBody>
      </p:sp>
      <p:sp>
        <p:nvSpPr>
          <p:cNvPr id="3" name="Content Placeholder 2">
            <a:extLst>
              <a:ext uri="{FF2B5EF4-FFF2-40B4-BE49-F238E27FC236}">
                <a16:creationId xmlns:a16="http://schemas.microsoft.com/office/drawing/2014/main" id="{C7702E0F-FA05-DF67-34AA-81D8D3986C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dirty="0"/>
              <a:t>Physiological Artifacts</a:t>
            </a:r>
          </a:p>
          <a:p>
            <a:pPr marL="0" lvl="1" indent="0">
              <a:buFont typeface="Arial" panose="020B0604020202020204" pitchFamily="34" charset="0"/>
              <a:buNone/>
            </a:pPr>
            <a:r>
              <a:rPr lang="en-US" sz="1400" dirty="0"/>
              <a:t>Physiological artifacts originate from non-brain biological activities like eye blinks, muscle movement, heartbeats, and body motion.</a:t>
            </a:r>
          </a:p>
          <a:p>
            <a:pPr marL="0" indent="0">
              <a:spcBef>
                <a:spcPts val="2500"/>
              </a:spcBef>
              <a:buFont typeface="Arial" panose="020B0604020202020204" pitchFamily="34" charset="0"/>
              <a:buNone/>
            </a:pPr>
            <a:r>
              <a:rPr lang="en-US" sz="1400" b="1" dirty="0"/>
              <a:t>Non-Physiological Artifacts</a:t>
            </a:r>
          </a:p>
          <a:p>
            <a:pPr marL="0" lvl="1" indent="0">
              <a:buFont typeface="Arial" panose="020B0604020202020204" pitchFamily="34" charset="0"/>
              <a:buNone/>
            </a:pPr>
            <a:r>
              <a:rPr lang="en-US" sz="1400" dirty="0"/>
              <a:t>Non-physiological artifacts arise from recording setup issues and environmental noise, such as electrode problems and electromagnetic interference.</a:t>
            </a:r>
          </a:p>
          <a:p>
            <a:pPr marL="0" indent="0">
              <a:spcBef>
                <a:spcPts val="2500"/>
              </a:spcBef>
              <a:buFont typeface="Arial" panose="020B0604020202020204" pitchFamily="34" charset="0"/>
              <a:buNone/>
            </a:pPr>
            <a:r>
              <a:rPr lang="en-US" sz="1400" b="1" dirty="0"/>
              <a:t>Artifact Characteristics</a:t>
            </a:r>
          </a:p>
          <a:p>
            <a:pPr marL="0" lvl="1" indent="0">
              <a:buFont typeface="Arial" panose="020B0604020202020204" pitchFamily="34" charset="0"/>
              <a:buNone/>
            </a:pPr>
            <a:r>
              <a:rPr lang="en-US" sz="1400" dirty="0"/>
              <a:t>Artifacts have unique temporal, spectral, and spatial properties that influence the choice of removal techniques in EEG analysis.</a:t>
            </a:r>
          </a:p>
          <a:p>
            <a:pPr marL="0" indent="0">
              <a:spcBef>
                <a:spcPts val="2500"/>
              </a:spcBef>
              <a:buFont typeface="Arial" panose="020B0604020202020204" pitchFamily="34" charset="0"/>
              <a:buNone/>
            </a:pPr>
            <a:r>
              <a:rPr lang="en-US" sz="1400" b="1" dirty="0"/>
              <a:t>Artifact Removal Techniques</a:t>
            </a:r>
          </a:p>
          <a:p>
            <a:pPr marL="0" lvl="1" indent="0">
              <a:buFont typeface="Arial" panose="020B0604020202020204" pitchFamily="34" charset="0"/>
              <a:buNone/>
            </a:pPr>
            <a:r>
              <a:rPr lang="en-US" sz="1400" dirty="0"/>
              <a:t>Understanding artifact types guides the use of methods like filtering, source separation, wavelet decomposition, and machine learning.</a:t>
            </a:r>
          </a:p>
        </p:txBody>
      </p:sp>
      <p:pic>
        <p:nvPicPr>
          <p:cNvPr id="5" name="Content Placeholder 4" descr="Stethoscope with a heart pulse, isolated on white with clipping path.">
            <a:extLst>
              <a:ext uri="{FF2B5EF4-FFF2-40B4-BE49-F238E27FC236}">
                <a16:creationId xmlns:a16="http://schemas.microsoft.com/office/drawing/2014/main" id="{49274F12-D134-4BAB-8142-EAC4B7C7B420}"/>
              </a:ext>
            </a:extLst>
          </p:cNvPr>
          <p:cNvPicPr>
            <a:picLocks noGrp="1" noChangeAspect="1"/>
          </p:cNvPicPr>
          <p:nvPr>
            <p:ph type="pic" sz="quarter" idx="13"/>
          </p:nvPr>
        </p:nvPicPr>
        <p:blipFill>
          <a:blip r:embed="rId3"/>
          <a:srcRect l="26855" r="28453" b="-2"/>
          <a:stretch>
            <a:fillRect/>
          </a:stretch>
        </p:blipFill>
        <p:spPr>
          <a:xfrm>
            <a:off x="8091732" y="10"/>
            <a:ext cx="4100267" cy="6857990"/>
          </a:xfrm>
          <a:solidFill>
            <a:srgbClr val="F3EBE8"/>
          </a:solidFill>
        </p:spPr>
      </p:pic>
      <p:sp>
        <p:nvSpPr>
          <p:cNvPr id="7" name="Footer Placeholder 6">
            <a:extLst>
              <a:ext uri="{FF2B5EF4-FFF2-40B4-BE49-F238E27FC236}">
                <a16:creationId xmlns:a16="http://schemas.microsoft.com/office/drawing/2014/main" id="{38D38A02-6639-C541-6733-F2599250A08D}"/>
              </a:ext>
            </a:extLst>
          </p:cNvPr>
          <p:cNvSpPr>
            <a:spLocks noGrp="1"/>
          </p:cNvSpPr>
          <p:nvPr>
            <p:ph type="ftr" sz="quarter" idx="16"/>
          </p:nvPr>
        </p:nvSpPr>
        <p:spPr/>
        <p:txBody>
          <a:bodyPr/>
          <a:lstStyle/>
          <a:p>
            <a:r>
              <a:rPr lang="en-US"/>
              <a:t>LP Praktikum Informatik 1 | </a:t>
            </a:r>
          </a:p>
        </p:txBody>
      </p:sp>
      <p:sp>
        <p:nvSpPr>
          <p:cNvPr id="8" name="Slide Number Placeholder 7">
            <a:extLst>
              <a:ext uri="{FF2B5EF4-FFF2-40B4-BE49-F238E27FC236}">
                <a16:creationId xmlns:a16="http://schemas.microsoft.com/office/drawing/2014/main" id="{862C7B6F-166D-476A-9183-7E1F0B07DCFE}"/>
              </a:ext>
            </a:extLst>
          </p:cNvPr>
          <p:cNvSpPr>
            <a:spLocks noGrp="1"/>
          </p:cNvSpPr>
          <p:nvPr>
            <p:ph type="sldNum" sz="quarter" idx="17"/>
          </p:nvPr>
        </p:nvSpPr>
        <p:spPr/>
        <p:txBody>
          <a:bodyPr/>
          <a:lstStyle/>
          <a:p>
            <a:fld id="{AEAA3239-9EA4-4A65-A281-97F994456D9F}" type="slidenum">
              <a:rPr lang="en-US" smtClean="0"/>
              <a:t>4</a:t>
            </a:fld>
            <a:endParaRPr lang="en-US"/>
          </a:p>
        </p:txBody>
      </p:sp>
    </p:spTree>
    <p:extLst>
      <p:ext uri="{BB962C8B-B14F-4D97-AF65-F5344CB8AC3E}">
        <p14:creationId xmlns:p14="http://schemas.microsoft.com/office/powerpoint/2010/main" val="2673103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802C-93DB-DB91-543B-BC2B6245F2AA}"/>
              </a:ext>
            </a:extLst>
          </p:cNvPr>
          <p:cNvSpPr>
            <a:spLocks noGrp="1"/>
          </p:cNvSpPr>
          <p:nvPr>
            <p:ph type="ctrTitle"/>
          </p:nvPr>
        </p:nvSpPr>
        <p:spPr>
          <a:xfrm>
            <a:off x="1522013" y="1282325"/>
            <a:ext cx="8893834" cy="3988550"/>
          </a:xfrm>
        </p:spPr>
        <p:txBody>
          <a:bodyPr anchor="ctr">
            <a:normAutofit/>
          </a:bodyPr>
          <a:lstStyle/>
          <a:p>
            <a:r>
              <a:rPr lang="en-US"/>
              <a:t>Paper 1: Zhang et al. (2021) — EEGdenoiseNet</a:t>
            </a:r>
          </a:p>
        </p:txBody>
      </p:sp>
      <p:sp>
        <p:nvSpPr>
          <p:cNvPr id="5" name="Footer Placeholder 4">
            <a:extLst>
              <a:ext uri="{FF2B5EF4-FFF2-40B4-BE49-F238E27FC236}">
                <a16:creationId xmlns:a16="http://schemas.microsoft.com/office/drawing/2014/main" id="{39B77C6D-7724-00B7-3782-1A9A136885B1}"/>
              </a:ext>
            </a:extLst>
          </p:cNvPr>
          <p:cNvSpPr>
            <a:spLocks noGrp="1"/>
          </p:cNvSpPr>
          <p:nvPr>
            <p:ph type="ftr" sz="quarter" idx="3"/>
          </p:nvPr>
        </p:nvSpPr>
        <p:spPr/>
        <p:txBody>
          <a:bodyPr/>
          <a:lstStyle/>
          <a:p>
            <a:r>
              <a:rPr lang="en-US"/>
              <a:t>LP Praktikum Informatik 1 | </a:t>
            </a:r>
          </a:p>
        </p:txBody>
      </p:sp>
      <p:sp>
        <p:nvSpPr>
          <p:cNvPr id="6" name="Slide Number Placeholder 5">
            <a:extLst>
              <a:ext uri="{FF2B5EF4-FFF2-40B4-BE49-F238E27FC236}">
                <a16:creationId xmlns:a16="http://schemas.microsoft.com/office/drawing/2014/main" id="{BDE4383B-98ED-D34B-F057-15447E17C690}"/>
              </a:ext>
            </a:extLst>
          </p:cNvPr>
          <p:cNvSpPr>
            <a:spLocks noGrp="1"/>
          </p:cNvSpPr>
          <p:nvPr>
            <p:ph type="sldNum" sz="quarter" idx="4"/>
          </p:nvPr>
        </p:nvSpPr>
        <p:spPr/>
        <p:txBody>
          <a:bodyPr/>
          <a:lstStyle/>
          <a:p>
            <a:fld id="{AEAA3239-9EA4-4A65-A281-97F994456D9F}" type="slidenum">
              <a:rPr lang="en-US" smtClean="0"/>
              <a:pPr/>
              <a:t>5</a:t>
            </a:fld>
            <a:endParaRPr lang="en-US"/>
          </a:p>
        </p:txBody>
      </p:sp>
    </p:spTree>
    <p:extLst>
      <p:ext uri="{BB962C8B-B14F-4D97-AF65-F5344CB8AC3E}">
        <p14:creationId xmlns:p14="http://schemas.microsoft.com/office/powerpoint/2010/main" val="3892180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22419-4D11-9F86-99E3-ED53EE3FC6B7}"/>
              </a:ext>
            </a:extLst>
          </p:cNvPr>
          <p:cNvSpPr>
            <a:spLocks noGrp="1"/>
          </p:cNvSpPr>
          <p:nvPr>
            <p:ph type="title"/>
          </p:nvPr>
        </p:nvSpPr>
        <p:spPr>
          <a:xfrm>
            <a:off x="398043" y="178678"/>
            <a:ext cx="6858000" cy="932688"/>
          </a:xfrm>
        </p:spPr>
        <p:txBody>
          <a:bodyPr anchor="b">
            <a:normAutofit fontScale="90000"/>
          </a:bodyPr>
          <a:lstStyle/>
          <a:p>
            <a:r>
              <a:rPr lang="en-US" sz="2800" b="1" dirty="0">
                <a:solidFill>
                  <a:srgbClr val="14233C"/>
                </a:solidFill>
                <a:latin typeface="Aptos Display"/>
              </a:rPr>
              <a:t>Paper 1: Zhang et al. (2021) — </a:t>
            </a:r>
            <a:r>
              <a:rPr lang="en-US" sz="2800" b="1" dirty="0" err="1">
                <a:solidFill>
                  <a:srgbClr val="14233C"/>
                </a:solidFill>
                <a:latin typeface="Aptos Display"/>
              </a:rPr>
              <a:t>EEGdenoiseNet</a:t>
            </a:r>
            <a:endParaRPr lang="en-US" sz="2800" b="1" dirty="0">
              <a:solidFill>
                <a:srgbClr val="14233C"/>
              </a:solidFill>
              <a:latin typeface="Aptos Display"/>
            </a:endParaRPr>
          </a:p>
        </p:txBody>
      </p:sp>
      <p:sp>
        <p:nvSpPr>
          <p:cNvPr id="3" name="Content Placeholder 2">
            <a:extLst>
              <a:ext uri="{FF2B5EF4-FFF2-40B4-BE49-F238E27FC236}">
                <a16:creationId xmlns:a16="http://schemas.microsoft.com/office/drawing/2014/main" id="{BFDB8E6D-F959-9C5E-B366-213C4D10ACB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Dataset / problem</a:t>
            </a:r>
          </a:p>
          <a:p>
            <a:pPr>
              <a:spcAft>
                <a:spcPts val="500"/>
              </a:spcAft>
              <a:defRPr sz="1700" b="0">
                <a:solidFill>
                  <a:srgbClr val="1E1E1E"/>
                </a:solidFill>
                <a:latin typeface="Aptos"/>
              </a:defRPr>
            </a:pPr>
            <a:r>
              <a:rPr lang="en-US" sz="1400" dirty="0" err="1">
                <a:latin typeface="Univers Condensed Light" panose="020B0306020202040204" pitchFamily="34" charset="0"/>
              </a:rPr>
              <a:t>EEGdenoiseNet</a:t>
            </a:r>
            <a:r>
              <a:rPr lang="en-US" sz="1400" dirty="0">
                <a:latin typeface="Univers Condensed Light" panose="020B0306020202040204" pitchFamily="34" charset="0"/>
              </a:rPr>
              <a:t> benchmark dataset</a:t>
            </a:r>
          </a:p>
          <a:p>
            <a:pPr>
              <a:spcAft>
                <a:spcPts val="500"/>
              </a:spcAft>
              <a:defRPr sz="1700" b="0">
                <a:solidFill>
                  <a:srgbClr val="1E1E1E"/>
                </a:solidFill>
                <a:latin typeface="Aptos"/>
              </a:defRPr>
            </a:pPr>
            <a:r>
              <a:rPr lang="en-US" sz="1400" dirty="0">
                <a:latin typeface="Univers Condensed Light" panose="020B0306020202040204" pitchFamily="34" charset="0"/>
              </a:rPr>
              <a:t>4514 clean EEG segments, 3400 ocular artifacts, 5598 muscular artifacts</a:t>
            </a:r>
          </a:p>
          <a:p>
            <a:pPr>
              <a:spcAft>
                <a:spcPts val="500"/>
              </a:spcAft>
              <a:defRPr sz="1700" b="0">
                <a:solidFill>
                  <a:srgbClr val="1E1E1E"/>
                </a:solidFill>
                <a:latin typeface="Aptos"/>
              </a:defRPr>
            </a:pPr>
            <a:r>
              <a:rPr lang="en-US" sz="1400" dirty="0">
                <a:latin typeface="Univers Condensed Light" panose="020B0306020202040204" pitchFamily="34" charset="0"/>
              </a:rPr>
              <a:t>Goal: create noisy EEG with known clean ground truth</a:t>
            </a:r>
          </a:p>
          <a:p>
            <a:pPr>
              <a:spcAft>
                <a:spcPts val="500"/>
              </a:spcAft>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Artifacts / noise</a:t>
            </a:r>
          </a:p>
          <a:p>
            <a:pPr>
              <a:spcAft>
                <a:spcPts val="500"/>
              </a:spcAft>
              <a:defRPr sz="1700" b="0">
                <a:solidFill>
                  <a:srgbClr val="1E1E1E"/>
                </a:solidFill>
                <a:latin typeface="Aptos"/>
              </a:defRPr>
            </a:pPr>
            <a:r>
              <a:rPr lang="en-US" sz="1400" dirty="0">
                <a:latin typeface="Univers Condensed Light" panose="020B0306020202040204" pitchFamily="34" charset="0"/>
              </a:rPr>
              <a:t>EOG: eye blinks and eye movements</a:t>
            </a:r>
          </a:p>
          <a:p>
            <a:pPr>
              <a:spcAft>
                <a:spcPts val="500"/>
              </a:spcAft>
              <a:defRPr sz="1700" b="0">
                <a:solidFill>
                  <a:srgbClr val="1E1E1E"/>
                </a:solidFill>
                <a:latin typeface="Aptos"/>
              </a:defRPr>
            </a:pPr>
            <a:r>
              <a:rPr lang="en-US" sz="1400" dirty="0">
                <a:latin typeface="Univers Condensed Light" panose="020B0306020202040204" pitchFamily="34" charset="0"/>
              </a:rPr>
              <a:t>EMG: muscle / myogenic artifacts</a:t>
            </a:r>
          </a:p>
          <a:p>
            <a:pPr marL="0" indent="0">
              <a:spcAft>
                <a:spcPts val="500"/>
              </a:spcAft>
              <a:buNone/>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Denoising approach</a:t>
            </a:r>
          </a:p>
          <a:p>
            <a:pPr>
              <a:spcAft>
                <a:spcPts val="500"/>
              </a:spcAft>
              <a:defRPr sz="1700" b="0">
                <a:solidFill>
                  <a:srgbClr val="1E1E1E"/>
                </a:solidFill>
                <a:latin typeface="Aptos"/>
              </a:defRPr>
            </a:pPr>
            <a:r>
              <a:rPr lang="en-US" sz="1400" dirty="0">
                <a:latin typeface="Univers Condensed Light" panose="020B0306020202040204" pitchFamily="34" charset="0"/>
              </a:rPr>
              <a:t>Clean EEG + artifact segment → synthetic noisy EEG</a:t>
            </a:r>
          </a:p>
          <a:p>
            <a:pPr>
              <a:spcAft>
                <a:spcPts val="500"/>
              </a:spcAft>
              <a:defRPr sz="1700" b="0">
                <a:solidFill>
                  <a:srgbClr val="1E1E1E"/>
                </a:solidFill>
                <a:latin typeface="Aptos"/>
              </a:defRPr>
            </a:pPr>
            <a:r>
              <a:rPr lang="en-US" sz="1400" dirty="0">
                <a:latin typeface="Univers Condensed Light" panose="020B0306020202040204" pitchFamily="34" charset="0"/>
              </a:rPr>
              <a:t>Deep learning models: FCNN, CNN, 1D-ResCNN, RNN/LSTM</a:t>
            </a:r>
          </a:p>
        </p:txBody>
      </p:sp>
      <p:pic>
        <p:nvPicPr>
          <p:cNvPr id="5" name="Content Placeholder 4" descr="Cable connecting with electronic brain. Neural linking, human-machine interaction concept. The figure has been designed with Smith Micro Poser.">
            <a:extLst>
              <a:ext uri="{FF2B5EF4-FFF2-40B4-BE49-F238E27FC236}">
                <a16:creationId xmlns:a16="http://schemas.microsoft.com/office/drawing/2014/main" id="{672C2A66-65A8-42B0-B0DE-EDC0F5D7E907}"/>
              </a:ext>
            </a:extLst>
          </p:cNvPr>
          <p:cNvPicPr>
            <a:picLocks noGrp="1" noChangeAspect="1"/>
          </p:cNvPicPr>
          <p:nvPr>
            <p:ph type="pic" sz="quarter" idx="13"/>
          </p:nvPr>
        </p:nvPicPr>
        <p:blipFill>
          <a:blip r:embed="rId3"/>
          <a:srcRect l="24498" r="15714"/>
          <a:stretch>
            <a:fillRect/>
          </a:stretch>
        </p:blipFill>
        <p:spPr>
          <a:xfrm>
            <a:off x="8091732" y="10"/>
            <a:ext cx="4100267" cy="6857990"/>
          </a:xfrm>
          <a:solidFill>
            <a:srgbClr val="F3EBE8"/>
          </a:solidFill>
        </p:spPr>
      </p:pic>
      <p:sp>
        <p:nvSpPr>
          <p:cNvPr id="7" name="TextBox 10">
            <a:extLst>
              <a:ext uri="{FF2B5EF4-FFF2-40B4-BE49-F238E27FC236}">
                <a16:creationId xmlns:a16="http://schemas.microsoft.com/office/drawing/2014/main" id="{AA9CDA15-299D-DF3E-9B4F-9B75AF29B8B3}"/>
              </a:ext>
            </a:extLst>
          </p:cNvPr>
          <p:cNvSpPr txBox="1"/>
          <p:nvPr/>
        </p:nvSpPr>
        <p:spPr>
          <a:xfrm>
            <a:off x="671269" y="1203300"/>
            <a:ext cx="6858000" cy="221599"/>
          </a:xfrm>
          <a:prstGeom prst="rect">
            <a:avLst/>
          </a:prstGeom>
          <a:noFill/>
        </p:spPr>
        <p:txBody>
          <a:bodyPr wrap="square" lIns="45720" tIns="18288" rIns="45720" bIns="182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0" dirty="0">
                <a:solidFill>
                  <a:srgbClr val="5F6368"/>
                </a:solidFill>
                <a:latin typeface="Aptos"/>
              </a:rPr>
              <a:t>Dataset/problem → artifacts/noise → denoising approach</a:t>
            </a:r>
          </a:p>
        </p:txBody>
      </p:sp>
      <p:sp>
        <p:nvSpPr>
          <p:cNvPr id="10" name="Footer Placeholder 9">
            <a:extLst>
              <a:ext uri="{FF2B5EF4-FFF2-40B4-BE49-F238E27FC236}">
                <a16:creationId xmlns:a16="http://schemas.microsoft.com/office/drawing/2014/main" id="{7509BFEC-5880-5776-565D-940E3BA992D1}"/>
              </a:ext>
            </a:extLst>
          </p:cNvPr>
          <p:cNvSpPr>
            <a:spLocks noGrp="1"/>
          </p:cNvSpPr>
          <p:nvPr>
            <p:ph type="ftr" sz="quarter" idx="16"/>
          </p:nvPr>
        </p:nvSpPr>
        <p:spPr/>
        <p:txBody>
          <a:bodyPr/>
          <a:lstStyle/>
          <a:p>
            <a:r>
              <a:rPr lang="en-US"/>
              <a:t>LP Praktikum Informatik 1 | </a:t>
            </a:r>
          </a:p>
        </p:txBody>
      </p:sp>
      <p:sp>
        <p:nvSpPr>
          <p:cNvPr id="11" name="Slide Number Placeholder 10">
            <a:extLst>
              <a:ext uri="{FF2B5EF4-FFF2-40B4-BE49-F238E27FC236}">
                <a16:creationId xmlns:a16="http://schemas.microsoft.com/office/drawing/2014/main" id="{E23AA63C-C29D-AF1E-140F-F214984FF3CB}"/>
              </a:ext>
            </a:extLst>
          </p:cNvPr>
          <p:cNvSpPr>
            <a:spLocks noGrp="1"/>
          </p:cNvSpPr>
          <p:nvPr>
            <p:ph type="sldNum" sz="quarter" idx="17"/>
          </p:nvPr>
        </p:nvSpPr>
        <p:spPr/>
        <p:txBody>
          <a:bodyPr/>
          <a:lstStyle/>
          <a:p>
            <a:fld id="{AEAA3239-9EA4-4A65-A281-97F994456D9F}" type="slidenum">
              <a:rPr lang="en-US" smtClean="0"/>
              <a:t>6</a:t>
            </a:fld>
            <a:endParaRPr lang="en-US"/>
          </a:p>
        </p:txBody>
      </p:sp>
    </p:spTree>
    <p:extLst>
      <p:ext uri="{BB962C8B-B14F-4D97-AF65-F5344CB8AC3E}">
        <p14:creationId xmlns:p14="http://schemas.microsoft.com/office/powerpoint/2010/main" val="516853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CB530-C30A-CC35-350F-688F2685FFCB}"/>
              </a:ext>
            </a:extLst>
          </p:cNvPr>
          <p:cNvSpPr>
            <a:spLocks noGrp="1"/>
          </p:cNvSpPr>
          <p:nvPr>
            <p:ph type="ctrTitle"/>
          </p:nvPr>
        </p:nvSpPr>
        <p:spPr>
          <a:xfrm>
            <a:off x="1522013" y="1282325"/>
            <a:ext cx="8893834" cy="3988550"/>
          </a:xfrm>
        </p:spPr>
        <p:txBody>
          <a:bodyPr anchor="ctr">
            <a:normAutofit/>
          </a:bodyPr>
          <a:lstStyle/>
          <a:p>
            <a:r>
              <a:rPr lang="en-US"/>
              <a:t>Paper 2: Kumaravel et al. (2022) — NEAR Pipeline</a:t>
            </a:r>
          </a:p>
        </p:txBody>
      </p:sp>
      <p:sp>
        <p:nvSpPr>
          <p:cNvPr id="5" name="Footer Placeholder 4">
            <a:extLst>
              <a:ext uri="{FF2B5EF4-FFF2-40B4-BE49-F238E27FC236}">
                <a16:creationId xmlns:a16="http://schemas.microsoft.com/office/drawing/2014/main" id="{03CCD601-BF83-9DE2-62A8-022F87BA513F}"/>
              </a:ext>
            </a:extLst>
          </p:cNvPr>
          <p:cNvSpPr>
            <a:spLocks noGrp="1"/>
          </p:cNvSpPr>
          <p:nvPr>
            <p:ph type="ftr" sz="quarter" idx="3"/>
          </p:nvPr>
        </p:nvSpPr>
        <p:spPr/>
        <p:txBody>
          <a:bodyPr/>
          <a:lstStyle/>
          <a:p>
            <a:r>
              <a:rPr lang="en-US"/>
              <a:t>LP Praktikum Informatik 1 | </a:t>
            </a:r>
          </a:p>
        </p:txBody>
      </p:sp>
      <p:sp>
        <p:nvSpPr>
          <p:cNvPr id="6" name="Slide Number Placeholder 5">
            <a:extLst>
              <a:ext uri="{FF2B5EF4-FFF2-40B4-BE49-F238E27FC236}">
                <a16:creationId xmlns:a16="http://schemas.microsoft.com/office/drawing/2014/main" id="{0086D90A-0989-76D9-CEF2-FAC9D95642B1}"/>
              </a:ext>
            </a:extLst>
          </p:cNvPr>
          <p:cNvSpPr>
            <a:spLocks noGrp="1"/>
          </p:cNvSpPr>
          <p:nvPr>
            <p:ph type="sldNum" sz="quarter" idx="4"/>
          </p:nvPr>
        </p:nvSpPr>
        <p:spPr/>
        <p:txBody>
          <a:bodyPr/>
          <a:lstStyle/>
          <a:p>
            <a:fld id="{AEAA3239-9EA4-4A65-A281-97F994456D9F}" type="slidenum">
              <a:rPr lang="en-US" smtClean="0"/>
              <a:pPr/>
              <a:t>7</a:t>
            </a:fld>
            <a:endParaRPr lang="en-US"/>
          </a:p>
        </p:txBody>
      </p:sp>
    </p:spTree>
    <p:extLst>
      <p:ext uri="{BB962C8B-B14F-4D97-AF65-F5344CB8AC3E}">
        <p14:creationId xmlns:p14="http://schemas.microsoft.com/office/powerpoint/2010/main" val="2480042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360B-00EC-C280-2DFA-7EADF3A7AC21}"/>
              </a:ext>
            </a:extLst>
          </p:cNvPr>
          <p:cNvSpPr>
            <a:spLocks noGrp="1"/>
          </p:cNvSpPr>
          <p:nvPr>
            <p:ph type="title"/>
          </p:nvPr>
        </p:nvSpPr>
        <p:spPr>
          <a:xfrm>
            <a:off x="363265" y="426240"/>
            <a:ext cx="6858000" cy="537515"/>
          </a:xfrm>
        </p:spPr>
        <p:txBody>
          <a:bodyPr anchor="b">
            <a:normAutofit/>
          </a:bodyPr>
          <a:lstStyle/>
          <a:p>
            <a:r>
              <a:rPr lang="en-US" sz="2800" b="1" dirty="0">
                <a:solidFill>
                  <a:srgbClr val="14233C"/>
                </a:solidFill>
                <a:latin typeface="Aptos Display"/>
              </a:rPr>
              <a:t>Paper 2: Kumaravel et al. (2022) — NEAR</a:t>
            </a:r>
          </a:p>
        </p:txBody>
      </p:sp>
      <p:sp>
        <p:nvSpPr>
          <p:cNvPr id="3" name="Content Placeholder 2">
            <a:extLst>
              <a:ext uri="{FF2B5EF4-FFF2-40B4-BE49-F238E27FC236}">
                <a16:creationId xmlns:a16="http://schemas.microsoft.com/office/drawing/2014/main" id="{4F656D95-B084-F077-FF03-65E5729A6E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Dataset / problem</a:t>
            </a:r>
          </a:p>
          <a:p>
            <a:pPr>
              <a:spcAft>
                <a:spcPts val="500"/>
              </a:spcAft>
              <a:defRPr sz="1700" b="0">
                <a:solidFill>
                  <a:srgbClr val="1E1E1E"/>
                </a:solidFill>
                <a:latin typeface="Aptos"/>
              </a:defRPr>
            </a:pPr>
            <a:r>
              <a:rPr lang="en-US" sz="1400" dirty="0">
                <a:latin typeface="Univers Condensed Light" panose="020B0306020202040204" pitchFamily="34" charset="0"/>
              </a:rPr>
              <a:t>Newborn and infant EEG; simulated and real developmental EEG</a:t>
            </a:r>
          </a:p>
          <a:p>
            <a:pPr>
              <a:spcAft>
                <a:spcPts val="500"/>
              </a:spcAft>
              <a:defRPr sz="1700" b="0">
                <a:solidFill>
                  <a:srgbClr val="1E1E1E"/>
                </a:solidFill>
                <a:latin typeface="Aptos"/>
              </a:defRPr>
            </a:pPr>
            <a:r>
              <a:rPr lang="en-US" sz="1400" dirty="0">
                <a:latin typeface="Univers Condensed Light" panose="020B0306020202040204" pitchFamily="34" charset="0"/>
              </a:rPr>
              <a:t>Recordings are short, noisy, and affected by movement</a:t>
            </a:r>
          </a:p>
          <a:p>
            <a:pPr marL="0" indent="0">
              <a:spcAft>
                <a:spcPts val="500"/>
              </a:spcAft>
              <a:buNone/>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Artifacts / noise</a:t>
            </a:r>
          </a:p>
          <a:p>
            <a:pPr>
              <a:spcAft>
                <a:spcPts val="500"/>
              </a:spcAft>
              <a:defRPr sz="1700" b="0">
                <a:solidFill>
                  <a:srgbClr val="1E1E1E"/>
                </a:solidFill>
                <a:latin typeface="Aptos"/>
              </a:defRPr>
            </a:pPr>
            <a:r>
              <a:rPr lang="en-US" sz="1400" dirty="0">
                <a:latin typeface="Univers Condensed Light" panose="020B0306020202040204" pitchFamily="34" charset="0"/>
              </a:rPr>
              <a:t>Movement artifacts, bad/flat channels, unstable electrode contact</a:t>
            </a:r>
          </a:p>
          <a:p>
            <a:pPr>
              <a:spcAft>
                <a:spcPts val="500"/>
              </a:spcAft>
              <a:defRPr sz="1700" b="0">
                <a:solidFill>
                  <a:srgbClr val="1E1E1E"/>
                </a:solidFill>
                <a:latin typeface="Aptos"/>
              </a:defRPr>
            </a:pPr>
            <a:r>
              <a:rPr lang="en-US" sz="1400" dirty="0">
                <a:latin typeface="Univers Condensed Light" panose="020B0306020202040204" pitchFamily="34" charset="0"/>
              </a:rPr>
              <a:t>Non-stereotyped newborn artifacts</a:t>
            </a:r>
          </a:p>
          <a:p>
            <a:pPr marL="0" indent="0">
              <a:spcAft>
                <a:spcPts val="500"/>
              </a:spcAft>
              <a:buNone/>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Pipeline / approach</a:t>
            </a:r>
          </a:p>
          <a:p>
            <a:pPr>
              <a:spcAft>
                <a:spcPts val="500"/>
              </a:spcAft>
              <a:defRPr sz="1700" b="0">
                <a:solidFill>
                  <a:srgbClr val="1E1E1E"/>
                </a:solidFill>
                <a:latin typeface="Aptos"/>
              </a:defRPr>
            </a:pPr>
            <a:r>
              <a:rPr lang="en-US" sz="1400" dirty="0">
                <a:latin typeface="Univers Condensed Light" panose="020B0306020202040204" pitchFamily="34" charset="0"/>
              </a:rPr>
              <a:t>Filtering → segmentation</a:t>
            </a:r>
          </a:p>
          <a:p>
            <a:pPr>
              <a:spcAft>
                <a:spcPts val="500"/>
              </a:spcAft>
              <a:defRPr sz="1700" b="0">
                <a:solidFill>
                  <a:srgbClr val="1E1E1E"/>
                </a:solidFill>
                <a:latin typeface="Aptos"/>
              </a:defRPr>
            </a:pPr>
            <a:r>
              <a:rPr lang="en-US" sz="1400" dirty="0">
                <a:latin typeface="Univers Condensed Light" panose="020B0306020202040204" pitchFamily="34" charset="0"/>
              </a:rPr>
              <a:t>LOF bad-channel detection</a:t>
            </a:r>
          </a:p>
          <a:p>
            <a:pPr>
              <a:spcAft>
                <a:spcPts val="500"/>
              </a:spcAft>
              <a:defRPr sz="1700" b="0">
                <a:solidFill>
                  <a:srgbClr val="1E1E1E"/>
                </a:solidFill>
                <a:latin typeface="Aptos"/>
              </a:defRPr>
            </a:pPr>
            <a:r>
              <a:rPr lang="en-US" sz="1400" dirty="0">
                <a:latin typeface="Univers Condensed Light" panose="020B0306020202040204" pitchFamily="34" charset="0"/>
              </a:rPr>
              <a:t>ASR artifact removal → interpolation → re-referencing</a:t>
            </a:r>
          </a:p>
        </p:txBody>
      </p:sp>
      <p:pic>
        <p:nvPicPr>
          <p:cNvPr id="5" name="Content Placeholder 4" descr="Zigzag indicator line">
            <a:extLst>
              <a:ext uri="{FF2B5EF4-FFF2-40B4-BE49-F238E27FC236}">
                <a16:creationId xmlns:a16="http://schemas.microsoft.com/office/drawing/2014/main" id="{F8C730A9-FABB-4249-8360-F7E7F2C2F6DA}"/>
              </a:ext>
            </a:extLst>
          </p:cNvPr>
          <p:cNvPicPr>
            <a:picLocks noGrp="1" noChangeAspect="1"/>
          </p:cNvPicPr>
          <p:nvPr>
            <p:ph type="pic" sz="quarter" idx="13"/>
          </p:nvPr>
        </p:nvPicPr>
        <p:blipFill>
          <a:blip r:embed="rId3"/>
          <a:srcRect l="28404" r="31687" b="-1"/>
          <a:stretch>
            <a:fillRect/>
          </a:stretch>
        </p:blipFill>
        <p:spPr>
          <a:xfrm>
            <a:off x="8091732" y="10"/>
            <a:ext cx="4100267" cy="6857990"/>
          </a:xfrm>
          <a:solidFill>
            <a:srgbClr val="F3EBE8"/>
          </a:solidFill>
        </p:spPr>
      </p:pic>
      <p:sp>
        <p:nvSpPr>
          <p:cNvPr id="4" name="TextBox 10">
            <a:extLst>
              <a:ext uri="{FF2B5EF4-FFF2-40B4-BE49-F238E27FC236}">
                <a16:creationId xmlns:a16="http://schemas.microsoft.com/office/drawing/2014/main" id="{75B0A4FF-BAA7-DF9F-4991-50E375394AF1}"/>
              </a:ext>
            </a:extLst>
          </p:cNvPr>
          <p:cNvSpPr txBox="1"/>
          <p:nvPr/>
        </p:nvSpPr>
        <p:spPr>
          <a:xfrm>
            <a:off x="683305" y="1055638"/>
            <a:ext cx="10972800" cy="320040"/>
          </a:xfrm>
          <a:prstGeom prst="rect">
            <a:avLst/>
          </a:prstGeom>
          <a:noFill/>
        </p:spPr>
        <p:txBody>
          <a:bodyPr wrap="square" lIns="45720" tIns="18288" rIns="45720" bIns="182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0" dirty="0">
                <a:solidFill>
                  <a:srgbClr val="5F6368"/>
                </a:solidFill>
                <a:latin typeface="Aptos"/>
              </a:rPr>
              <a:t>Newborn EEG artifact-removal pipeline</a:t>
            </a:r>
          </a:p>
        </p:txBody>
      </p:sp>
      <p:sp>
        <p:nvSpPr>
          <p:cNvPr id="8" name="Footer Placeholder 7">
            <a:extLst>
              <a:ext uri="{FF2B5EF4-FFF2-40B4-BE49-F238E27FC236}">
                <a16:creationId xmlns:a16="http://schemas.microsoft.com/office/drawing/2014/main" id="{6A88A072-EE1D-52AC-C0EC-B2E8204E67E7}"/>
              </a:ext>
            </a:extLst>
          </p:cNvPr>
          <p:cNvSpPr>
            <a:spLocks noGrp="1"/>
          </p:cNvSpPr>
          <p:nvPr>
            <p:ph type="ftr" sz="quarter" idx="16"/>
          </p:nvPr>
        </p:nvSpPr>
        <p:spPr/>
        <p:txBody>
          <a:bodyPr/>
          <a:lstStyle/>
          <a:p>
            <a:r>
              <a:rPr lang="en-US"/>
              <a:t>LP Praktikum Informatik 1 | </a:t>
            </a:r>
          </a:p>
        </p:txBody>
      </p:sp>
      <p:sp>
        <p:nvSpPr>
          <p:cNvPr id="9" name="Slide Number Placeholder 8">
            <a:extLst>
              <a:ext uri="{FF2B5EF4-FFF2-40B4-BE49-F238E27FC236}">
                <a16:creationId xmlns:a16="http://schemas.microsoft.com/office/drawing/2014/main" id="{FD0711CF-5299-979D-41A5-82D99831C00F}"/>
              </a:ext>
            </a:extLst>
          </p:cNvPr>
          <p:cNvSpPr>
            <a:spLocks noGrp="1"/>
          </p:cNvSpPr>
          <p:nvPr>
            <p:ph type="sldNum" sz="quarter" idx="17"/>
          </p:nvPr>
        </p:nvSpPr>
        <p:spPr/>
        <p:txBody>
          <a:bodyPr/>
          <a:lstStyle/>
          <a:p>
            <a:fld id="{AEAA3239-9EA4-4A65-A281-97F994456D9F}" type="slidenum">
              <a:rPr lang="en-US" smtClean="0"/>
              <a:t>8</a:t>
            </a:fld>
            <a:endParaRPr lang="en-US"/>
          </a:p>
        </p:txBody>
      </p:sp>
    </p:spTree>
    <p:extLst>
      <p:ext uri="{BB962C8B-B14F-4D97-AF65-F5344CB8AC3E}">
        <p14:creationId xmlns:p14="http://schemas.microsoft.com/office/powerpoint/2010/main" val="3747848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8D9B-9A38-B094-A3E9-649E199A41CF}"/>
              </a:ext>
            </a:extLst>
          </p:cNvPr>
          <p:cNvSpPr>
            <a:spLocks noGrp="1"/>
          </p:cNvSpPr>
          <p:nvPr>
            <p:ph type="ctrTitle"/>
          </p:nvPr>
        </p:nvSpPr>
        <p:spPr>
          <a:xfrm>
            <a:off x="1522013" y="1282325"/>
            <a:ext cx="8893834" cy="3988550"/>
          </a:xfrm>
        </p:spPr>
        <p:txBody>
          <a:bodyPr anchor="ctr">
            <a:normAutofit/>
          </a:bodyPr>
          <a:lstStyle/>
          <a:p>
            <a:r>
              <a:rPr lang="en-US"/>
              <a:t>Paper 3: Arpaia et al. (2025) — Wearable EEG Review</a:t>
            </a:r>
          </a:p>
        </p:txBody>
      </p:sp>
      <p:sp>
        <p:nvSpPr>
          <p:cNvPr id="5" name="Footer Placeholder 4">
            <a:extLst>
              <a:ext uri="{FF2B5EF4-FFF2-40B4-BE49-F238E27FC236}">
                <a16:creationId xmlns:a16="http://schemas.microsoft.com/office/drawing/2014/main" id="{DA589C3E-6F5D-C6C2-B82B-1D0BE49B4AAE}"/>
              </a:ext>
            </a:extLst>
          </p:cNvPr>
          <p:cNvSpPr>
            <a:spLocks noGrp="1"/>
          </p:cNvSpPr>
          <p:nvPr>
            <p:ph type="ftr" sz="quarter" idx="3"/>
          </p:nvPr>
        </p:nvSpPr>
        <p:spPr/>
        <p:txBody>
          <a:bodyPr/>
          <a:lstStyle/>
          <a:p>
            <a:r>
              <a:rPr lang="en-US"/>
              <a:t>LP Praktikum Informatik 1 | </a:t>
            </a:r>
          </a:p>
        </p:txBody>
      </p:sp>
      <p:sp>
        <p:nvSpPr>
          <p:cNvPr id="6" name="Slide Number Placeholder 5">
            <a:extLst>
              <a:ext uri="{FF2B5EF4-FFF2-40B4-BE49-F238E27FC236}">
                <a16:creationId xmlns:a16="http://schemas.microsoft.com/office/drawing/2014/main" id="{152C4346-EBF4-E208-5075-1B0B74DCD016}"/>
              </a:ext>
            </a:extLst>
          </p:cNvPr>
          <p:cNvSpPr>
            <a:spLocks noGrp="1"/>
          </p:cNvSpPr>
          <p:nvPr>
            <p:ph type="sldNum" sz="quarter" idx="4"/>
          </p:nvPr>
        </p:nvSpPr>
        <p:spPr/>
        <p:txBody>
          <a:bodyPr/>
          <a:lstStyle/>
          <a:p>
            <a:fld id="{AEAA3239-9EA4-4A65-A281-97F994456D9F}" type="slidenum">
              <a:rPr lang="en-US" smtClean="0"/>
              <a:pPr/>
              <a:t>9</a:t>
            </a:fld>
            <a:endParaRPr lang="en-US"/>
          </a:p>
        </p:txBody>
      </p:sp>
    </p:spTree>
    <p:extLst>
      <p:ext uri="{BB962C8B-B14F-4D97-AF65-F5344CB8AC3E}">
        <p14:creationId xmlns:p14="http://schemas.microsoft.com/office/powerpoint/2010/main" val="423009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97398-1921-69F6-5823-F7654F536FA9}"/>
              </a:ext>
            </a:extLst>
          </p:cNvPr>
          <p:cNvSpPr>
            <a:spLocks noGrp="1"/>
          </p:cNvSpPr>
          <p:nvPr>
            <p:ph type="title"/>
          </p:nvPr>
        </p:nvSpPr>
        <p:spPr>
          <a:xfrm>
            <a:off x="612647" y="228654"/>
            <a:ext cx="6858000" cy="932688"/>
          </a:xfrm>
        </p:spPr>
        <p:txBody>
          <a:bodyPr anchor="b">
            <a:normAutofit fontScale="90000"/>
          </a:bodyPr>
          <a:lstStyle/>
          <a:p>
            <a:r>
              <a:rPr lang="en-US" sz="2800" b="1" dirty="0">
                <a:solidFill>
                  <a:srgbClr val="14233C"/>
                </a:solidFill>
                <a:latin typeface="Aptos Display"/>
              </a:rPr>
              <a:t>Paper 3: Arpaia et al. (2025) — Wearable EEG Review</a:t>
            </a:r>
          </a:p>
        </p:txBody>
      </p:sp>
      <p:sp>
        <p:nvSpPr>
          <p:cNvPr id="3" name="Content Placeholder 2">
            <a:extLst>
              <a:ext uri="{FF2B5EF4-FFF2-40B4-BE49-F238E27FC236}">
                <a16:creationId xmlns:a16="http://schemas.microsoft.com/office/drawing/2014/main" id="{4395D7CF-9B4B-D34F-F3CD-7FB4C839DE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Dataset / scope</a:t>
            </a:r>
          </a:p>
          <a:p>
            <a:pPr>
              <a:spcAft>
                <a:spcPts val="500"/>
              </a:spcAft>
              <a:defRPr sz="1700" b="0">
                <a:solidFill>
                  <a:srgbClr val="1E1E1E"/>
                </a:solidFill>
                <a:latin typeface="Aptos"/>
              </a:defRPr>
            </a:pPr>
            <a:r>
              <a:rPr lang="en-US" sz="1400" dirty="0">
                <a:latin typeface="Univers Condensed Light" panose="020B0306020202040204" pitchFamily="34" charset="0"/>
              </a:rPr>
              <a:t>Systematic review, not one dataset</a:t>
            </a:r>
          </a:p>
          <a:p>
            <a:pPr>
              <a:spcAft>
                <a:spcPts val="500"/>
              </a:spcAft>
              <a:defRPr sz="1700" b="0">
                <a:solidFill>
                  <a:srgbClr val="1E1E1E"/>
                </a:solidFill>
                <a:latin typeface="Aptos"/>
              </a:defRPr>
            </a:pPr>
            <a:r>
              <a:rPr lang="en-US" sz="1400" dirty="0">
                <a:latin typeface="Univers Condensed Light" panose="020B0306020202040204" pitchFamily="34" charset="0"/>
              </a:rPr>
              <a:t>58 studies on wearable EEG artifact detection</a:t>
            </a:r>
          </a:p>
          <a:p>
            <a:pPr marL="0" indent="0">
              <a:spcAft>
                <a:spcPts val="500"/>
              </a:spcAft>
              <a:buNone/>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Artifacts / noise</a:t>
            </a:r>
          </a:p>
          <a:p>
            <a:pPr>
              <a:spcAft>
                <a:spcPts val="500"/>
              </a:spcAft>
              <a:defRPr sz="1700" b="0">
                <a:solidFill>
                  <a:srgbClr val="1E1E1E"/>
                </a:solidFill>
                <a:latin typeface="Aptos"/>
              </a:defRPr>
            </a:pPr>
            <a:r>
              <a:rPr lang="en-US" sz="1400" dirty="0">
                <a:latin typeface="Univers Condensed Light" panose="020B0306020202040204" pitchFamily="34" charset="0"/>
              </a:rPr>
              <a:t>Ocular, muscular, movement, instrumental, cardiac artifacts</a:t>
            </a:r>
          </a:p>
          <a:p>
            <a:pPr>
              <a:spcAft>
                <a:spcPts val="500"/>
              </a:spcAft>
              <a:defRPr sz="1700" b="0">
                <a:solidFill>
                  <a:srgbClr val="1E1E1E"/>
                </a:solidFill>
                <a:latin typeface="Aptos"/>
              </a:defRPr>
            </a:pPr>
            <a:r>
              <a:rPr lang="en-US" sz="1400" dirty="0">
                <a:latin typeface="Univers Condensed Light" panose="020B0306020202040204" pitchFamily="34" charset="0"/>
              </a:rPr>
              <a:t>Electromagnetic interference / power-line noise</a:t>
            </a:r>
          </a:p>
          <a:p>
            <a:pPr marL="0" indent="0">
              <a:spcAft>
                <a:spcPts val="500"/>
              </a:spcAft>
              <a:buNone/>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Reviewed methods</a:t>
            </a:r>
          </a:p>
          <a:p>
            <a:pPr>
              <a:spcAft>
                <a:spcPts val="500"/>
              </a:spcAft>
              <a:defRPr sz="1700" b="0">
                <a:solidFill>
                  <a:srgbClr val="1E1E1E"/>
                </a:solidFill>
                <a:latin typeface="Aptos"/>
              </a:defRPr>
            </a:pPr>
            <a:r>
              <a:rPr lang="en-US" sz="1400" dirty="0">
                <a:latin typeface="Univers Condensed Light" panose="020B0306020202040204" pitchFamily="34" charset="0"/>
              </a:rPr>
              <a:t>Filtering, ICA/BSS, wavelets, EMD, ASR</a:t>
            </a:r>
          </a:p>
          <a:p>
            <a:pPr>
              <a:spcAft>
                <a:spcPts val="500"/>
              </a:spcAft>
              <a:defRPr sz="1700" b="0">
                <a:solidFill>
                  <a:srgbClr val="1E1E1E"/>
                </a:solidFill>
                <a:latin typeface="Aptos"/>
              </a:defRPr>
            </a:pPr>
            <a:r>
              <a:rPr lang="en-US" sz="1400" dirty="0">
                <a:latin typeface="Univers Condensed Light" panose="020B0306020202040204" pitchFamily="34" charset="0"/>
              </a:rPr>
              <a:t>Machine learning and deep learning</a:t>
            </a:r>
          </a:p>
        </p:txBody>
      </p:sp>
      <p:pic>
        <p:nvPicPr>
          <p:cNvPr id="5" name="Content Placeholder 4" descr="impulse on an abstract sound wave in cyan in front of a black background.">
            <a:extLst>
              <a:ext uri="{FF2B5EF4-FFF2-40B4-BE49-F238E27FC236}">
                <a16:creationId xmlns:a16="http://schemas.microsoft.com/office/drawing/2014/main" id="{377321E0-C9DF-4305-9FF3-39FFEBCCFA9F}"/>
              </a:ext>
            </a:extLst>
          </p:cNvPr>
          <p:cNvPicPr>
            <a:picLocks noGrp="1" noChangeAspect="1"/>
          </p:cNvPicPr>
          <p:nvPr>
            <p:ph type="pic" sz="quarter" idx="13"/>
          </p:nvPr>
        </p:nvPicPr>
        <p:blipFill>
          <a:blip r:embed="rId3"/>
          <a:srcRect l="28981" r="31110" b="-1"/>
          <a:stretch>
            <a:fillRect/>
          </a:stretch>
        </p:blipFill>
        <p:spPr>
          <a:xfrm>
            <a:off x="8091732" y="10"/>
            <a:ext cx="4100267" cy="6857990"/>
          </a:xfrm>
          <a:solidFill>
            <a:srgbClr val="F3EBE8"/>
          </a:solidFill>
        </p:spPr>
      </p:pic>
      <p:sp>
        <p:nvSpPr>
          <p:cNvPr id="4" name="TextBox 8">
            <a:extLst>
              <a:ext uri="{FF2B5EF4-FFF2-40B4-BE49-F238E27FC236}">
                <a16:creationId xmlns:a16="http://schemas.microsoft.com/office/drawing/2014/main" id="{29A32CD3-2757-6205-7CE4-F6A4DF378C34}"/>
              </a:ext>
            </a:extLst>
          </p:cNvPr>
          <p:cNvSpPr txBox="1"/>
          <p:nvPr/>
        </p:nvSpPr>
        <p:spPr>
          <a:xfrm>
            <a:off x="923190" y="1161342"/>
            <a:ext cx="6858000" cy="221599"/>
          </a:xfrm>
          <a:prstGeom prst="rect">
            <a:avLst/>
          </a:prstGeom>
          <a:noFill/>
        </p:spPr>
        <p:txBody>
          <a:bodyPr wrap="square" lIns="45720" tIns="18288" rIns="45720" bIns="182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0" dirty="0">
                <a:solidFill>
                  <a:srgbClr val="5F6368"/>
                </a:solidFill>
                <a:latin typeface="Aptos"/>
              </a:rPr>
              <a:t>Systematic review of wearable EEG artifact detection</a:t>
            </a:r>
          </a:p>
        </p:txBody>
      </p:sp>
      <p:sp>
        <p:nvSpPr>
          <p:cNvPr id="8" name="Footer Placeholder 7">
            <a:extLst>
              <a:ext uri="{FF2B5EF4-FFF2-40B4-BE49-F238E27FC236}">
                <a16:creationId xmlns:a16="http://schemas.microsoft.com/office/drawing/2014/main" id="{9ABDB39C-B748-4E4F-2D3C-9F1403BAEE12}"/>
              </a:ext>
            </a:extLst>
          </p:cNvPr>
          <p:cNvSpPr>
            <a:spLocks noGrp="1"/>
          </p:cNvSpPr>
          <p:nvPr>
            <p:ph type="ftr" sz="quarter" idx="16"/>
          </p:nvPr>
        </p:nvSpPr>
        <p:spPr/>
        <p:txBody>
          <a:bodyPr/>
          <a:lstStyle/>
          <a:p>
            <a:r>
              <a:rPr lang="en-US"/>
              <a:t>LP Praktikum Informatik 1 | </a:t>
            </a:r>
          </a:p>
        </p:txBody>
      </p:sp>
      <p:sp>
        <p:nvSpPr>
          <p:cNvPr id="9" name="Slide Number Placeholder 8">
            <a:extLst>
              <a:ext uri="{FF2B5EF4-FFF2-40B4-BE49-F238E27FC236}">
                <a16:creationId xmlns:a16="http://schemas.microsoft.com/office/drawing/2014/main" id="{71727808-E59F-9468-525F-931F5F31A36F}"/>
              </a:ext>
            </a:extLst>
          </p:cNvPr>
          <p:cNvSpPr>
            <a:spLocks noGrp="1"/>
          </p:cNvSpPr>
          <p:nvPr>
            <p:ph type="sldNum" sz="quarter" idx="17"/>
          </p:nvPr>
        </p:nvSpPr>
        <p:spPr/>
        <p:txBody>
          <a:bodyPr/>
          <a:lstStyle/>
          <a:p>
            <a:fld id="{AEAA3239-9EA4-4A65-A281-97F994456D9F}" type="slidenum">
              <a:rPr lang="en-US" smtClean="0"/>
              <a:t>10</a:t>
            </a:fld>
            <a:endParaRPr lang="en-US"/>
          </a:p>
        </p:txBody>
      </p:sp>
    </p:spTree>
    <p:extLst>
      <p:ext uri="{BB962C8B-B14F-4D97-AF65-F5344CB8AC3E}">
        <p14:creationId xmlns:p14="http://schemas.microsoft.com/office/powerpoint/2010/main" val="1010773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B113-96E3-4F6D-B864-D526B5170B0B}"/>
              </a:ext>
            </a:extLst>
          </p:cNvPr>
          <p:cNvSpPr>
            <a:spLocks noGrp="1"/>
          </p:cNvSpPr>
          <p:nvPr>
            <p:ph type="ctrTitle"/>
          </p:nvPr>
        </p:nvSpPr>
        <p:spPr>
          <a:xfrm>
            <a:off x="1522013" y="1282325"/>
            <a:ext cx="8893834" cy="3988550"/>
          </a:xfrm>
        </p:spPr>
        <p:txBody>
          <a:bodyPr anchor="ctr">
            <a:normAutofit/>
          </a:bodyPr>
          <a:lstStyle/>
          <a:p>
            <a:r>
              <a:rPr lang="en-US"/>
              <a:t>Paper 4: Zangeneh Soroush et al. (2022) — Hybrid Artifact Removal</a:t>
            </a:r>
          </a:p>
        </p:txBody>
      </p:sp>
      <p:sp>
        <p:nvSpPr>
          <p:cNvPr id="5" name="Footer Placeholder 4">
            <a:extLst>
              <a:ext uri="{FF2B5EF4-FFF2-40B4-BE49-F238E27FC236}">
                <a16:creationId xmlns:a16="http://schemas.microsoft.com/office/drawing/2014/main" id="{B23C5DE0-A1B0-C21B-B27F-A57C333DC36F}"/>
              </a:ext>
            </a:extLst>
          </p:cNvPr>
          <p:cNvSpPr>
            <a:spLocks noGrp="1"/>
          </p:cNvSpPr>
          <p:nvPr>
            <p:ph type="ftr" sz="quarter" idx="3"/>
          </p:nvPr>
        </p:nvSpPr>
        <p:spPr/>
        <p:txBody>
          <a:bodyPr/>
          <a:lstStyle/>
          <a:p>
            <a:r>
              <a:rPr lang="en-US"/>
              <a:t>LP Praktikum Informatik 1 | </a:t>
            </a:r>
          </a:p>
        </p:txBody>
      </p:sp>
      <p:sp>
        <p:nvSpPr>
          <p:cNvPr id="6" name="Slide Number Placeholder 5">
            <a:extLst>
              <a:ext uri="{FF2B5EF4-FFF2-40B4-BE49-F238E27FC236}">
                <a16:creationId xmlns:a16="http://schemas.microsoft.com/office/drawing/2014/main" id="{626CD36A-1BF6-AF13-FFA1-8D5C9D3616A5}"/>
              </a:ext>
            </a:extLst>
          </p:cNvPr>
          <p:cNvSpPr>
            <a:spLocks noGrp="1"/>
          </p:cNvSpPr>
          <p:nvPr>
            <p:ph type="sldNum" sz="quarter" idx="4"/>
          </p:nvPr>
        </p:nvSpPr>
        <p:spPr/>
        <p:txBody>
          <a:bodyPr/>
          <a:lstStyle/>
          <a:p>
            <a:fld id="{AEAA3239-9EA4-4A65-A281-97F994456D9F}" type="slidenum">
              <a:rPr lang="en-US" smtClean="0"/>
              <a:pPr/>
              <a:t>11</a:t>
            </a:fld>
            <a:endParaRPr lang="en-US"/>
          </a:p>
        </p:txBody>
      </p:sp>
    </p:spTree>
    <p:extLst>
      <p:ext uri="{BB962C8B-B14F-4D97-AF65-F5344CB8AC3E}">
        <p14:creationId xmlns:p14="http://schemas.microsoft.com/office/powerpoint/2010/main" val="2750795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025E-5047-173D-18D3-0FB7640F8704}"/>
              </a:ext>
            </a:extLst>
          </p:cNvPr>
          <p:cNvSpPr>
            <a:spLocks noGrp="1"/>
          </p:cNvSpPr>
          <p:nvPr>
            <p:ph type="title"/>
          </p:nvPr>
        </p:nvSpPr>
        <p:spPr>
          <a:xfrm>
            <a:off x="429767" y="228654"/>
            <a:ext cx="6858000" cy="932688"/>
          </a:xfrm>
        </p:spPr>
        <p:txBody>
          <a:bodyPr anchor="b">
            <a:normAutofit/>
          </a:bodyPr>
          <a:lstStyle/>
          <a:p>
            <a:r>
              <a:rPr lang="en-US" sz="2800" b="1" dirty="0">
                <a:solidFill>
                  <a:srgbClr val="14233C"/>
                </a:solidFill>
                <a:latin typeface="Aptos Display"/>
              </a:rPr>
              <a:t>Paper 4: Zangeneh Soroush et al. (2022)</a:t>
            </a:r>
          </a:p>
        </p:txBody>
      </p:sp>
      <p:sp>
        <p:nvSpPr>
          <p:cNvPr id="3" name="Content Placeholder 2">
            <a:extLst>
              <a:ext uri="{FF2B5EF4-FFF2-40B4-BE49-F238E27FC236}">
                <a16:creationId xmlns:a16="http://schemas.microsoft.com/office/drawing/2014/main" id="{A3732431-D28C-8E1D-567C-697684FAE1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Dataset / evaluation</a:t>
            </a:r>
          </a:p>
          <a:p>
            <a:pPr>
              <a:spcAft>
                <a:spcPts val="500"/>
              </a:spcAft>
              <a:defRPr sz="1700" b="0">
                <a:solidFill>
                  <a:srgbClr val="1E1E1E"/>
                </a:solidFill>
                <a:latin typeface="Aptos"/>
              </a:defRPr>
            </a:pPr>
            <a:r>
              <a:rPr lang="en-US" sz="1400" dirty="0">
                <a:latin typeface="Univers Condensed Light" panose="020B0306020202040204" pitchFamily="34" charset="0"/>
              </a:rPr>
              <a:t>Simulated EEG, semi-simulated EEG, and real EEG recordings</a:t>
            </a:r>
          </a:p>
          <a:p>
            <a:pPr>
              <a:spcAft>
                <a:spcPts val="500"/>
              </a:spcAft>
              <a:defRPr sz="1700" b="0">
                <a:solidFill>
                  <a:srgbClr val="1E1E1E"/>
                </a:solidFill>
                <a:latin typeface="Aptos"/>
              </a:defRPr>
            </a:pPr>
            <a:r>
              <a:rPr lang="en-US" sz="1400" dirty="0">
                <a:latin typeface="Univers Condensed Light" panose="020B0306020202040204" pitchFamily="34" charset="0"/>
              </a:rPr>
              <a:t>Evaluated with quantitative metrics and visual inspection</a:t>
            </a:r>
          </a:p>
          <a:p>
            <a:pPr marL="0" indent="0">
              <a:spcAft>
                <a:spcPts val="500"/>
              </a:spcAft>
              <a:buNone/>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Artifacts / noise</a:t>
            </a:r>
          </a:p>
          <a:p>
            <a:pPr>
              <a:spcAft>
                <a:spcPts val="500"/>
              </a:spcAft>
              <a:defRPr sz="1700" b="0">
                <a:solidFill>
                  <a:srgbClr val="1E1E1E"/>
                </a:solidFill>
                <a:latin typeface="Aptos"/>
              </a:defRPr>
            </a:pPr>
            <a:r>
              <a:rPr lang="en-US" sz="1400" dirty="0">
                <a:latin typeface="Univers Condensed Light" panose="020B0306020202040204" pitchFamily="34" charset="0"/>
              </a:rPr>
              <a:t>ECG, EMG, EOG, eye blinking, white noise</a:t>
            </a:r>
          </a:p>
          <a:p>
            <a:pPr marL="0" indent="0">
              <a:spcAft>
                <a:spcPts val="500"/>
              </a:spcAft>
              <a:buNone/>
              <a:defRPr sz="1700" b="0">
                <a:solidFill>
                  <a:srgbClr val="1E1E1E"/>
                </a:solidFill>
                <a:latin typeface="Aptos"/>
              </a:defRPr>
            </a:pPr>
            <a:endParaRPr lang="en-US" sz="1400" dirty="0">
              <a:latin typeface="Univers Condensed Light" panose="020B0306020202040204" pitchFamily="34" charset="0"/>
            </a:endParaRPr>
          </a:p>
          <a:p>
            <a:pPr marL="0" indent="0">
              <a:spcAft>
                <a:spcPts val="700"/>
              </a:spcAft>
              <a:buNone/>
              <a:defRPr sz="1700" b="1">
                <a:solidFill>
                  <a:srgbClr val="14233C"/>
                </a:solidFill>
                <a:latin typeface="Aptos"/>
              </a:defRPr>
            </a:pPr>
            <a:r>
              <a:rPr lang="en-US" sz="1400" dirty="0">
                <a:latin typeface="Univers Condensed Light" panose="020B0306020202040204" pitchFamily="34" charset="0"/>
              </a:rPr>
              <a:t>Pipeline / approach</a:t>
            </a:r>
          </a:p>
          <a:p>
            <a:pPr>
              <a:spcAft>
                <a:spcPts val="500"/>
              </a:spcAft>
              <a:defRPr sz="1700" b="0">
                <a:solidFill>
                  <a:srgbClr val="1E1E1E"/>
                </a:solidFill>
                <a:latin typeface="Aptos"/>
              </a:defRPr>
            </a:pPr>
            <a:r>
              <a:rPr lang="en-US" sz="1400" dirty="0">
                <a:latin typeface="Univers Condensed Light" panose="020B0306020202040204" pitchFamily="34" charset="0"/>
              </a:rPr>
              <a:t>SOBI source separation</a:t>
            </a:r>
          </a:p>
          <a:p>
            <a:pPr>
              <a:spcAft>
                <a:spcPts val="500"/>
              </a:spcAft>
              <a:defRPr sz="1700" b="0">
                <a:solidFill>
                  <a:srgbClr val="1E1E1E"/>
                </a:solidFill>
                <a:latin typeface="Aptos"/>
              </a:defRPr>
            </a:pPr>
            <a:r>
              <a:rPr lang="en-US" sz="1400" dirty="0">
                <a:latin typeface="Univers Condensed Light" panose="020B0306020202040204" pitchFamily="34" charset="0"/>
              </a:rPr>
              <a:t>Nonlinear feature extraction + ML component classification</a:t>
            </a:r>
          </a:p>
          <a:p>
            <a:pPr>
              <a:spcAft>
                <a:spcPts val="500"/>
              </a:spcAft>
              <a:defRPr sz="1700" b="0">
                <a:solidFill>
                  <a:srgbClr val="1E1E1E"/>
                </a:solidFill>
                <a:latin typeface="Aptos"/>
              </a:defRPr>
            </a:pPr>
            <a:r>
              <a:rPr lang="en-US" sz="1400" dirty="0">
                <a:latin typeface="Univers Condensed Light" panose="020B0306020202040204" pitchFamily="34" charset="0"/>
              </a:rPr>
              <a:t>SWT wavelet denoising → EEG reconstruction</a:t>
            </a:r>
          </a:p>
        </p:txBody>
      </p:sp>
      <p:pic>
        <p:nvPicPr>
          <p:cNvPr id="5" name="Content Placeholder 4" descr="Fetal Monitor in Hospital">
            <a:extLst>
              <a:ext uri="{FF2B5EF4-FFF2-40B4-BE49-F238E27FC236}">
                <a16:creationId xmlns:a16="http://schemas.microsoft.com/office/drawing/2014/main" id="{2F0AC264-5CDD-446F-B49D-7D011C9ABCF4}"/>
              </a:ext>
            </a:extLst>
          </p:cNvPr>
          <p:cNvPicPr>
            <a:picLocks noGrp="1" noChangeAspect="1"/>
          </p:cNvPicPr>
          <p:nvPr>
            <p:ph type="pic" sz="quarter" idx="13"/>
          </p:nvPr>
        </p:nvPicPr>
        <p:blipFill>
          <a:blip r:embed="rId3"/>
          <a:srcRect l="25044" r="35047" b="-1"/>
          <a:stretch>
            <a:fillRect/>
          </a:stretch>
        </p:blipFill>
        <p:spPr>
          <a:xfrm>
            <a:off x="8091732" y="10"/>
            <a:ext cx="4100267" cy="6857990"/>
          </a:xfrm>
          <a:solidFill>
            <a:srgbClr val="F3EBE8"/>
          </a:solidFill>
        </p:spPr>
      </p:pic>
      <p:sp>
        <p:nvSpPr>
          <p:cNvPr id="4" name="TextBox 10">
            <a:extLst>
              <a:ext uri="{FF2B5EF4-FFF2-40B4-BE49-F238E27FC236}">
                <a16:creationId xmlns:a16="http://schemas.microsoft.com/office/drawing/2014/main" id="{A4668BC2-1C70-26EA-92C0-AEE89BDCD63E}"/>
              </a:ext>
            </a:extLst>
          </p:cNvPr>
          <p:cNvSpPr txBox="1"/>
          <p:nvPr/>
        </p:nvSpPr>
        <p:spPr>
          <a:xfrm>
            <a:off x="881209" y="1161342"/>
            <a:ext cx="4807251" cy="228573"/>
          </a:xfrm>
          <a:prstGeom prst="rect">
            <a:avLst/>
          </a:prstGeom>
          <a:noFill/>
        </p:spPr>
        <p:txBody>
          <a:bodyPr wrap="square" lIns="45720" tIns="18288" rIns="45720" bIns="182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0" dirty="0">
                <a:solidFill>
                  <a:srgbClr val="5F6368"/>
                </a:solidFill>
                <a:latin typeface="Aptos"/>
              </a:rPr>
              <a:t>Hybrid artifact removal: SOBI + nonlinear features + ML + SWT</a:t>
            </a:r>
          </a:p>
        </p:txBody>
      </p:sp>
      <p:sp>
        <p:nvSpPr>
          <p:cNvPr id="8" name="Footer Placeholder 7">
            <a:extLst>
              <a:ext uri="{FF2B5EF4-FFF2-40B4-BE49-F238E27FC236}">
                <a16:creationId xmlns:a16="http://schemas.microsoft.com/office/drawing/2014/main" id="{49C0D352-28B3-90F0-8542-8B0D30C418F6}"/>
              </a:ext>
            </a:extLst>
          </p:cNvPr>
          <p:cNvSpPr>
            <a:spLocks noGrp="1"/>
          </p:cNvSpPr>
          <p:nvPr>
            <p:ph type="ftr" sz="quarter" idx="16"/>
          </p:nvPr>
        </p:nvSpPr>
        <p:spPr/>
        <p:txBody>
          <a:bodyPr/>
          <a:lstStyle/>
          <a:p>
            <a:r>
              <a:rPr lang="en-US"/>
              <a:t>LP Praktikum Informatik 1 | </a:t>
            </a:r>
          </a:p>
        </p:txBody>
      </p:sp>
      <p:sp>
        <p:nvSpPr>
          <p:cNvPr id="9" name="Slide Number Placeholder 8">
            <a:extLst>
              <a:ext uri="{FF2B5EF4-FFF2-40B4-BE49-F238E27FC236}">
                <a16:creationId xmlns:a16="http://schemas.microsoft.com/office/drawing/2014/main" id="{CA5F168C-3A9A-0DB5-E1BA-5F9D13D31AFB}"/>
              </a:ext>
            </a:extLst>
          </p:cNvPr>
          <p:cNvSpPr>
            <a:spLocks noGrp="1"/>
          </p:cNvSpPr>
          <p:nvPr>
            <p:ph type="sldNum" sz="quarter" idx="17"/>
          </p:nvPr>
        </p:nvSpPr>
        <p:spPr/>
        <p:txBody>
          <a:bodyPr/>
          <a:lstStyle/>
          <a:p>
            <a:fld id="{AEAA3239-9EA4-4A65-A281-97F994456D9F}" type="slidenum">
              <a:rPr lang="en-US" smtClean="0"/>
              <a:t>12</a:t>
            </a:fld>
            <a:endParaRPr lang="en-US"/>
          </a:p>
        </p:txBody>
      </p:sp>
    </p:spTree>
    <p:extLst>
      <p:ext uri="{BB962C8B-B14F-4D97-AF65-F5344CB8AC3E}">
        <p14:creationId xmlns:p14="http://schemas.microsoft.com/office/powerpoint/2010/main" val="2788687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731520" y="1828800"/>
            <a:ext cx="10789920" cy="618631"/>
          </a:xfrm>
          <a:prstGeom prst="rect">
            <a:avLst/>
          </a:prstGeom>
          <a:noFill/>
        </p:spPr>
        <p:txBody>
          <a:bodyPr wrap="square" lIns="45720" tIns="18288" rIns="45720">
            <a:spAutoFit/>
          </a:bodyPr>
          <a:lstStyle/>
          <a:p>
            <a:pPr algn="ctr"/>
            <a:r>
              <a:rPr sz="3600" b="1" dirty="0">
                <a:solidFill>
                  <a:srgbClr val="14233C"/>
                </a:solidFill>
                <a:latin typeface="Aptos"/>
              </a:rPr>
              <a:t>Implementation</a:t>
            </a:r>
          </a:p>
        </p:txBody>
      </p:sp>
      <p:sp>
        <p:nvSpPr>
          <p:cNvPr id="4" name="TextBox 3"/>
          <p:cNvSpPr txBox="1"/>
          <p:nvPr/>
        </p:nvSpPr>
        <p:spPr>
          <a:xfrm>
            <a:off x="731520" y="2487168"/>
            <a:ext cx="10789920" cy="357021"/>
          </a:xfrm>
          <a:prstGeom prst="rect">
            <a:avLst/>
          </a:prstGeom>
          <a:noFill/>
        </p:spPr>
        <p:txBody>
          <a:bodyPr wrap="square" lIns="45720" tIns="18288" rIns="45720">
            <a:spAutoFit/>
          </a:bodyPr>
          <a:lstStyle/>
          <a:p>
            <a:pPr algn="ctr"/>
            <a:r>
              <a:rPr sz="1900" b="0" dirty="0">
                <a:solidFill>
                  <a:srgbClr val="2962FF"/>
                </a:solidFill>
                <a:latin typeface="Aptos"/>
              </a:rPr>
              <a:t>EEG noise-removal pipeline</a:t>
            </a:r>
          </a:p>
        </p:txBody>
      </p:sp>
      <p:sp>
        <p:nvSpPr>
          <p:cNvPr id="5" name="Rounded Rectangle 4"/>
          <p:cNvSpPr/>
          <p:nvPr/>
        </p:nvSpPr>
        <p:spPr>
          <a:xfrm>
            <a:off x="1280160" y="3886200"/>
            <a:ext cx="9601200" cy="822960"/>
          </a:xfrm>
          <a:prstGeom prst="roundRect">
            <a:avLst/>
          </a:prstGeom>
          <a:solidFill>
            <a:srgbClr val="E8F0FE"/>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1417319" y="3995928"/>
            <a:ext cx="9326880" cy="640080"/>
          </a:xfrm>
          <a:prstGeom prst="rect">
            <a:avLst/>
          </a:prstGeom>
          <a:noFill/>
        </p:spPr>
        <p:txBody>
          <a:bodyPr wrap="square" lIns="45720" tIns="18288" rIns="45720">
            <a:spAutoFit/>
          </a:bodyPr>
          <a:lstStyle/>
          <a:p>
            <a:pPr algn="ctr"/>
            <a:r>
              <a:rPr sz="1300" b="1" dirty="0">
                <a:solidFill>
                  <a:srgbClr val="14233C"/>
                </a:solidFill>
                <a:latin typeface="Aptos"/>
              </a:rPr>
              <a:t>Focus: exact dataset justification → preprocessing → synthetic artifacts → bad-channel detection/interpolation → ICA blink removal</a:t>
            </a:r>
          </a:p>
        </p:txBody>
      </p:sp>
      <p:sp>
        <p:nvSpPr>
          <p:cNvPr id="7" name="TextBox 6"/>
          <p:cNvSpPr txBox="1"/>
          <p:nvPr/>
        </p:nvSpPr>
        <p:spPr>
          <a:xfrm>
            <a:off x="502920" y="6473952"/>
            <a:ext cx="6858000" cy="182880"/>
          </a:xfrm>
          <a:prstGeom prst="rect">
            <a:avLst/>
          </a:prstGeom>
          <a:noFill/>
        </p:spPr>
        <p:txBody>
          <a:bodyPr wrap="square" lIns="45720" tIns="18288" rIns="45720">
            <a:spAutoFit/>
          </a:bodyPr>
          <a:lstStyle/>
          <a:p>
            <a:r>
              <a:rPr sz="800" b="0" dirty="0">
                <a:solidFill>
                  <a:srgbClr val="5F6368"/>
                </a:solidFill>
                <a:latin typeface="Aptos"/>
              </a:rPr>
              <a:t>LP </a:t>
            </a:r>
            <a:r>
              <a:rPr sz="800" b="0" dirty="0" err="1">
                <a:solidFill>
                  <a:srgbClr val="5F6368"/>
                </a:solidFill>
                <a:latin typeface="Aptos"/>
              </a:rPr>
              <a:t>Praktikum</a:t>
            </a:r>
            <a:r>
              <a:rPr sz="800" b="0">
                <a:solidFill>
                  <a:srgbClr val="5F6368"/>
                </a:solidFill>
                <a:latin typeface="Aptos"/>
              </a:rPr>
              <a:t> Informatik 1 | Updated Implementation |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a:solidFill>
                  <a:srgbClr val="14233C"/>
                </a:solidFill>
                <a:latin typeface="Aptos"/>
              </a:rPr>
              <a:t>Dataset Used: S001R01.edf</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Exact data description and justification</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35280"/>
            <a:ext cx="6583680" cy="4180632"/>
          </a:xfrm>
          <a:prstGeom prst="rect">
            <a:avLst/>
          </a:prstGeom>
          <a:noFill/>
        </p:spPr>
        <p:txBody>
          <a:bodyPr wrap="square" lIns="73152" rIns="73152">
            <a:spAutoFit/>
          </a:bodyPr>
          <a:lstStyle/>
          <a:p>
            <a:pPr>
              <a:spcAft>
                <a:spcPts val="600"/>
              </a:spcAft>
              <a:defRPr sz="1500" b="1">
                <a:solidFill>
                  <a:srgbClr val="14233C"/>
                </a:solidFill>
                <a:latin typeface="Aptos"/>
              </a:defRPr>
            </a:pPr>
            <a:r>
              <a:rPr sz="1600" dirty="0"/>
              <a:t>Source and exact experiment</a:t>
            </a:r>
          </a:p>
          <a:p>
            <a:pPr>
              <a:spcAft>
                <a:spcPts val="400"/>
              </a:spcAft>
              <a:defRPr sz="1500" b="0">
                <a:solidFill>
                  <a:srgbClr val="1E1E1E"/>
                </a:solidFill>
                <a:latin typeface="Aptos"/>
              </a:defRPr>
            </a:pPr>
            <a:r>
              <a:rPr sz="1600" dirty="0"/>
              <a:t>PhysioNet EEG Motor Movement/Imagery Dataset (EEGMMIDB)</a:t>
            </a:r>
          </a:p>
          <a:p>
            <a:pPr>
              <a:spcAft>
                <a:spcPts val="400"/>
              </a:spcAft>
              <a:defRPr sz="1500" b="0">
                <a:solidFill>
                  <a:srgbClr val="1E1E1E"/>
                </a:solidFill>
                <a:latin typeface="Aptos"/>
              </a:defRPr>
            </a:pPr>
            <a:r>
              <a:rPr sz="1600" dirty="0"/>
              <a:t>File: S001R01.edf → Subject 1, Run 1</a:t>
            </a:r>
          </a:p>
          <a:p>
            <a:pPr>
              <a:spcAft>
                <a:spcPts val="400"/>
              </a:spcAft>
              <a:defRPr sz="1500" b="0">
                <a:solidFill>
                  <a:srgbClr val="1E1E1E"/>
                </a:solidFill>
                <a:latin typeface="Aptos"/>
              </a:defRPr>
            </a:pPr>
            <a:r>
              <a:rPr sz="1600" dirty="0"/>
              <a:t>Run 1 = baseline eyes-open recording</a:t>
            </a:r>
          </a:p>
          <a:p>
            <a:pPr>
              <a:spcAft>
                <a:spcPts val="400"/>
              </a:spcAft>
              <a:defRPr sz="1500" b="0">
                <a:solidFill>
                  <a:srgbClr val="1E1E1E"/>
                </a:solidFill>
                <a:latin typeface="Aptos"/>
              </a:defRPr>
            </a:pPr>
            <a:r>
              <a:rPr sz="1600" dirty="0"/>
              <a:t>64 EEG channels, 160 Hz sampling rate, ~61 seconds duration</a:t>
            </a:r>
            <a:endParaRPr lang="en-US" sz="1600" dirty="0"/>
          </a:p>
          <a:p>
            <a:pPr>
              <a:spcAft>
                <a:spcPts val="400"/>
              </a:spcAft>
              <a:defRPr sz="1500" b="0">
                <a:solidFill>
                  <a:srgbClr val="1E1E1E"/>
                </a:solidFill>
                <a:latin typeface="Aptos"/>
              </a:defRPr>
            </a:pPr>
            <a:endParaRPr sz="1600" dirty="0"/>
          </a:p>
          <a:p>
            <a:pPr>
              <a:spcAft>
                <a:spcPts val="600"/>
              </a:spcAft>
              <a:defRPr sz="1500" b="1">
                <a:solidFill>
                  <a:srgbClr val="14233C"/>
                </a:solidFill>
                <a:latin typeface="Aptos"/>
              </a:defRPr>
            </a:pPr>
            <a:r>
              <a:rPr sz="1600" dirty="0"/>
              <a:t>Why this data?</a:t>
            </a:r>
          </a:p>
          <a:p>
            <a:pPr>
              <a:spcAft>
                <a:spcPts val="400"/>
              </a:spcAft>
              <a:defRPr sz="1500" b="0">
                <a:solidFill>
                  <a:srgbClr val="1E1E1E"/>
                </a:solidFill>
                <a:latin typeface="Aptos"/>
              </a:defRPr>
            </a:pPr>
            <a:r>
              <a:rPr sz="1600" dirty="0"/>
              <a:t>Public, small, MNE-compatible, realistic multichannel EEG</a:t>
            </a:r>
          </a:p>
          <a:p>
            <a:pPr>
              <a:spcAft>
                <a:spcPts val="400"/>
              </a:spcAft>
              <a:defRPr sz="1500" b="0">
                <a:solidFill>
                  <a:srgbClr val="1E1E1E"/>
                </a:solidFill>
                <a:latin typeface="Aptos"/>
              </a:defRPr>
            </a:pPr>
            <a:r>
              <a:rPr sz="1600" dirty="0"/>
              <a:t>Suitable for demonstrating preprocessing steps without task-classification complexity</a:t>
            </a:r>
            <a:endParaRPr lang="en-US" sz="1600" dirty="0"/>
          </a:p>
          <a:p>
            <a:pPr>
              <a:spcAft>
                <a:spcPts val="400"/>
              </a:spcAft>
              <a:defRPr sz="1500" b="0">
                <a:solidFill>
                  <a:srgbClr val="1E1E1E"/>
                </a:solidFill>
                <a:latin typeface="Aptos"/>
              </a:defRPr>
            </a:pPr>
            <a:endParaRPr sz="1600" dirty="0"/>
          </a:p>
          <a:p>
            <a:pPr>
              <a:spcAft>
                <a:spcPts val="600"/>
              </a:spcAft>
              <a:defRPr sz="1500" b="1">
                <a:solidFill>
                  <a:srgbClr val="14233C"/>
                </a:solidFill>
                <a:latin typeface="Aptos"/>
              </a:defRPr>
            </a:pPr>
            <a:r>
              <a:rPr sz="1600" dirty="0"/>
              <a:t>Important limitation</a:t>
            </a:r>
          </a:p>
          <a:p>
            <a:pPr>
              <a:spcAft>
                <a:spcPts val="400"/>
              </a:spcAft>
              <a:defRPr sz="1500" b="0">
                <a:solidFill>
                  <a:srgbClr val="1E1E1E"/>
                </a:solidFill>
                <a:latin typeface="Aptos"/>
              </a:defRPr>
            </a:pPr>
            <a:r>
              <a:rPr sz="1600" dirty="0"/>
              <a:t>No labeled EOG/EMG/bad-channel artifacts; original sample mainly supports line-noise/basic filtering demonstration</a:t>
            </a:r>
          </a:p>
        </p:txBody>
      </p:sp>
      <p:sp>
        <p:nvSpPr>
          <p:cNvPr id="6" name="Rounded Rectangle 5"/>
          <p:cNvSpPr/>
          <p:nvPr/>
        </p:nvSpPr>
        <p:spPr>
          <a:xfrm>
            <a:off x="7635240" y="2318748"/>
            <a:ext cx="3840480" cy="1920240"/>
          </a:xfrm>
          <a:prstGeom prst="roundRect">
            <a:avLst/>
          </a:prstGeom>
          <a:solidFill>
            <a:srgbClr val="E8F5E9"/>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45552" y="2770632"/>
            <a:ext cx="3410712" cy="987963"/>
          </a:xfrm>
          <a:prstGeom prst="rect">
            <a:avLst/>
          </a:prstGeom>
          <a:noFill/>
        </p:spPr>
        <p:txBody>
          <a:bodyPr wrap="square" lIns="45720" tIns="18288" rIns="45720">
            <a:spAutoFit/>
          </a:bodyPr>
          <a:lstStyle/>
          <a:p>
            <a:pPr algn="ctr"/>
            <a:r>
              <a:rPr lang="en-US" sz="1500" b="1" dirty="0">
                <a:solidFill>
                  <a:srgbClr val="14233C"/>
                </a:solidFill>
                <a:latin typeface="Aptos"/>
              </a:rPr>
              <a:t>Solution to limitation: controlled synthetic artifacts were added for blink, muscle noise, flat channel, and noisy channel demonstrations.</a:t>
            </a:r>
            <a:endParaRPr sz="1500" b="1" dirty="0">
              <a:solidFill>
                <a:srgbClr val="14233C"/>
              </a:solidFill>
              <a:latin typeface="Aptos"/>
            </a:endParaRPr>
          </a:p>
        </p:txBody>
      </p:sp>
      <p:sp>
        <p:nvSpPr>
          <p:cNvPr id="8" name="TextBox 7"/>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Pipeline</a:t>
            </a:r>
          </a:p>
        </p:txBody>
      </p:sp>
      <p:sp>
        <p:nvSpPr>
          <p:cNvPr id="3" name="TextBox 2"/>
          <p:cNvSpPr txBox="1"/>
          <p:nvPr/>
        </p:nvSpPr>
        <p:spPr>
          <a:xfrm>
            <a:off x="548640" y="786384"/>
            <a:ext cx="11109960" cy="249299"/>
          </a:xfrm>
          <a:prstGeom prst="rect">
            <a:avLst/>
          </a:prstGeom>
          <a:noFill/>
        </p:spPr>
        <p:txBody>
          <a:bodyPr wrap="square" lIns="45720" tIns="18288" rIns="45720">
            <a:spAutoFit/>
          </a:bodyPr>
          <a:lstStyle/>
          <a:p>
            <a:r>
              <a:rPr sz="1200" b="0" dirty="0">
                <a:solidFill>
                  <a:srgbClr val="5F6368"/>
                </a:solidFill>
                <a:latin typeface="Aptos"/>
              </a:rPr>
              <a:t>Parts 4–12 of the notebook</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hevron 4"/>
          <p:cNvSpPr/>
          <p:nvPr/>
        </p:nvSpPr>
        <p:spPr>
          <a:xfrm>
            <a:off x="275370" y="3470147"/>
            <a:ext cx="1602718" cy="845465"/>
          </a:xfrm>
          <a:prstGeom prst="chevron">
            <a:avLst/>
          </a:prstGeom>
          <a:solidFill>
            <a:srgbClr val="E8F0FE"/>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857" y="3781044"/>
            <a:ext cx="1280160" cy="218521"/>
          </a:xfrm>
          <a:prstGeom prst="rect">
            <a:avLst/>
          </a:prstGeom>
          <a:noFill/>
        </p:spPr>
        <p:txBody>
          <a:bodyPr wrap="square" lIns="45720" tIns="18288" rIns="45720">
            <a:spAutoFit/>
          </a:bodyPr>
          <a:lstStyle/>
          <a:p>
            <a:pPr algn="ctr"/>
            <a:r>
              <a:rPr sz="900" b="1" dirty="0">
                <a:solidFill>
                  <a:srgbClr val="14233C"/>
                </a:solidFill>
                <a:latin typeface="Aptos"/>
              </a:rPr>
              <a:t>Raw </a:t>
            </a:r>
            <a:r>
              <a:rPr sz="1000" b="1" dirty="0">
                <a:solidFill>
                  <a:srgbClr val="14233C"/>
                </a:solidFill>
                <a:latin typeface="Aptos"/>
              </a:rPr>
              <a:t>inspection</a:t>
            </a:r>
          </a:p>
        </p:txBody>
      </p:sp>
      <p:sp>
        <p:nvSpPr>
          <p:cNvPr id="7" name="Chevron 6"/>
          <p:cNvSpPr/>
          <p:nvPr/>
        </p:nvSpPr>
        <p:spPr>
          <a:xfrm>
            <a:off x="1878089" y="3448940"/>
            <a:ext cx="1460700" cy="885316"/>
          </a:xfrm>
          <a:prstGeom prst="chevron">
            <a:avLst/>
          </a:prstGeom>
          <a:solidFill>
            <a:srgbClr val="E8F5E9"/>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58568" y="3767254"/>
            <a:ext cx="1060704" cy="372410"/>
          </a:xfrm>
          <a:prstGeom prst="rect">
            <a:avLst/>
          </a:prstGeom>
          <a:noFill/>
        </p:spPr>
        <p:txBody>
          <a:bodyPr wrap="square" lIns="45720" tIns="18288" rIns="45720">
            <a:spAutoFit/>
          </a:bodyPr>
          <a:lstStyle/>
          <a:p>
            <a:pPr algn="ctr"/>
            <a:r>
              <a:rPr sz="1000" b="1" dirty="0">
                <a:solidFill>
                  <a:srgbClr val="14233C"/>
                </a:solidFill>
                <a:latin typeface="Aptos"/>
              </a:rPr>
              <a:t>Filter + notch + CAR</a:t>
            </a:r>
          </a:p>
        </p:txBody>
      </p:sp>
      <p:sp>
        <p:nvSpPr>
          <p:cNvPr id="9" name="Chevron 8"/>
          <p:cNvSpPr/>
          <p:nvPr/>
        </p:nvSpPr>
        <p:spPr>
          <a:xfrm>
            <a:off x="3244993" y="3470148"/>
            <a:ext cx="1557585" cy="885316"/>
          </a:xfrm>
          <a:prstGeom prst="chevron">
            <a:avLst/>
          </a:prstGeom>
          <a:solidFill>
            <a:srgbClr val="FFF3E0"/>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32146" y="3825267"/>
            <a:ext cx="1170432" cy="218521"/>
          </a:xfrm>
          <a:prstGeom prst="rect">
            <a:avLst/>
          </a:prstGeom>
          <a:noFill/>
        </p:spPr>
        <p:txBody>
          <a:bodyPr wrap="square" lIns="45720" tIns="18288" rIns="45720">
            <a:spAutoFit/>
          </a:bodyPr>
          <a:lstStyle/>
          <a:p>
            <a:pPr algn="ctr"/>
            <a:r>
              <a:rPr sz="1000" b="1" dirty="0">
                <a:solidFill>
                  <a:srgbClr val="14233C"/>
                </a:solidFill>
                <a:latin typeface="Aptos"/>
              </a:rPr>
              <a:t>Synthetic artifacts</a:t>
            </a:r>
          </a:p>
        </p:txBody>
      </p:sp>
      <p:sp>
        <p:nvSpPr>
          <p:cNvPr id="11" name="Chevron 10"/>
          <p:cNvSpPr/>
          <p:nvPr/>
        </p:nvSpPr>
        <p:spPr>
          <a:xfrm>
            <a:off x="4766757" y="3481900"/>
            <a:ext cx="1430899" cy="905256"/>
          </a:xfrm>
          <a:prstGeom prst="chevron">
            <a:avLst/>
          </a:prstGeom>
          <a:solidFill>
            <a:srgbClr val="E8F0FE"/>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34141" y="3736416"/>
            <a:ext cx="951585" cy="526298"/>
          </a:xfrm>
          <a:prstGeom prst="rect">
            <a:avLst/>
          </a:prstGeom>
          <a:noFill/>
        </p:spPr>
        <p:txBody>
          <a:bodyPr wrap="square" lIns="45720" tIns="18288" rIns="45720">
            <a:spAutoFit/>
          </a:bodyPr>
          <a:lstStyle/>
          <a:p>
            <a:pPr algn="ctr"/>
            <a:r>
              <a:rPr sz="1000" b="1" dirty="0">
                <a:solidFill>
                  <a:srgbClr val="14233C"/>
                </a:solidFill>
                <a:latin typeface="Aptos"/>
              </a:rPr>
              <a:t>Global bad-channel metrics</a:t>
            </a:r>
          </a:p>
        </p:txBody>
      </p:sp>
      <p:sp>
        <p:nvSpPr>
          <p:cNvPr id="13" name="Chevron 12"/>
          <p:cNvSpPr/>
          <p:nvPr/>
        </p:nvSpPr>
        <p:spPr>
          <a:xfrm>
            <a:off x="6280465" y="3499944"/>
            <a:ext cx="1510759" cy="917476"/>
          </a:xfrm>
          <a:prstGeom prst="chevron">
            <a:avLst/>
          </a:prstGeom>
          <a:solidFill>
            <a:srgbClr val="E8F5E9"/>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79311" y="3842034"/>
            <a:ext cx="1280160" cy="372410"/>
          </a:xfrm>
          <a:prstGeom prst="rect">
            <a:avLst/>
          </a:prstGeom>
          <a:noFill/>
        </p:spPr>
        <p:txBody>
          <a:bodyPr wrap="square" lIns="45720" tIns="18288" rIns="45720">
            <a:spAutoFit/>
          </a:bodyPr>
          <a:lstStyle/>
          <a:p>
            <a:pPr algn="ctr"/>
            <a:r>
              <a:rPr sz="1000" b="1" dirty="0">
                <a:solidFill>
                  <a:srgbClr val="14233C"/>
                </a:solidFill>
                <a:latin typeface="Aptos"/>
              </a:rPr>
              <a:t>Epoch-wise bad detection</a:t>
            </a:r>
          </a:p>
        </p:txBody>
      </p:sp>
      <p:sp>
        <p:nvSpPr>
          <p:cNvPr id="15" name="Chevron 14"/>
          <p:cNvSpPr/>
          <p:nvPr/>
        </p:nvSpPr>
        <p:spPr>
          <a:xfrm>
            <a:off x="7736850" y="3525994"/>
            <a:ext cx="1442274" cy="885316"/>
          </a:xfrm>
          <a:prstGeom prst="chevron">
            <a:avLst/>
          </a:prstGeom>
          <a:solidFill>
            <a:srgbClr val="FFF3E0"/>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8055" y="3816237"/>
            <a:ext cx="1280160" cy="372410"/>
          </a:xfrm>
          <a:prstGeom prst="rect">
            <a:avLst/>
          </a:prstGeom>
          <a:noFill/>
        </p:spPr>
        <p:txBody>
          <a:bodyPr wrap="square" lIns="45720" tIns="18288" rIns="45720">
            <a:spAutoFit/>
          </a:bodyPr>
          <a:lstStyle/>
          <a:p>
            <a:pPr algn="ctr"/>
            <a:r>
              <a:rPr sz="1000" b="1" dirty="0">
                <a:solidFill>
                  <a:srgbClr val="14233C"/>
                </a:solidFill>
                <a:latin typeface="Aptos"/>
              </a:rPr>
              <a:t>Persistent bad channels</a:t>
            </a:r>
          </a:p>
        </p:txBody>
      </p:sp>
      <p:sp>
        <p:nvSpPr>
          <p:cNvPr id="17" name="Chevron 16"/>
          <p:cNvSpPr/>
          <p:nvPr/>
        </p:nvSpPr>
        <p:spPr>
          <a:xfrm>
            <a:off x="9125225" y="3506054"/>
            <a:ext cx="1442274" cy="933358"/>
          </a:xfrm>
          <a:prstGeom prst="chevron">
            <a:avLst/>
          </a:prstGeom>
          <a:solidFill>
            <a:srgbClr val="E8F0FE"/>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83458" y="3880801"/>
            <a:ext cx="1280160" cy="218521"/>
          </a:xfrm>
          <a:prstGeom prst="rect">
            <a:avLst/>
          </a:prstGeom>
          <a:noFill/>
        </p:spPr>
        <p:txBody>
          <a:bodyPr wrap="square" lIns="45720" tIns="18288" rIns="45720">
            <a:spAutoFit/>
          </a:bodyPr>
          <a:lstStyle/>
          <a:p>
            <a:pPr algn="ctr"/>
            <a:r>
              <a:rPr sz="1000" b="1" dirty="0">
                <a:solidFill>
                  <a:srgbClr val="14233C"/>
                </a:solidFill>
                <a:latin typeface="Aptos"/>
              </a:rPr>
              <a:t>Interpolation</a:t>
            </a:r>
          </a:p>
        </p:txBody>
      </p:sp>
      <p:sp>
        <p:nvSpPr>
          <p:cNvPr id="19" name="Chevron 18"/>
          <p:cNvSpPr/>
          <p:nvPr/>
        </p:nvSpPr>
        <p:spPr>
          <a:xfrm>
            <a:off x="10473394" y="3499944"/>
            <a:ext cx="1510759" cy="921336"/>
          </a:xfrm>
          <a:prstGeom prst="chevron">
            <a:avLst/>
          </a:prstGeom>
          <a:solidFill>
            <a:srgbClr val="E8F5E9"/>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829961" y="3813360"/>
            <a:ext cx="1031808" cy="372410"/>
          </a:xfrm>
          <a:prstGeom prst="rect">
            <a:avLst/>
          </a:prstGeom>
          <a:noFill/>
        </p:spPr>
        <p:txBody>
          <a:bodyPr wrap="square" lIns="45720" tIns="18288" rIns="45720">
            <a:spAutoFit/>
          </a:bodyPr>
          <a:lstStyle/>
          <a:p>
            <a:pPr algn="ctr"/>
            <a:r>
              <a:rPr sz="1000" b="1" dirty="0">
                <a:solidFill>
                  <a:srgbClr val="14233C"/>
                </a:solidFill>
                <a:latin typeface="Aptos"/>
              </a:rPr>
              <a:t>ICA blink removal</a:t>
            </a:r>
          </a:p>
        </p:txBody>
      </p:sp>
      <p:sp>
        <p:nvSpPr>
          <p:cNvPr id="22" name="TextBox 21"/>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Raw Data Inspection</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Original EEG before preprocessing</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25880"/>
            <a:ext cx="3886200" cy="4247317"/>
          </a:xfrm>
          <a:prstGeom prst="rect">
            <a:avLst/>
          </a:prstGeom>
          <a:noFill/>
        </p:spPr>
        <p:txBody>
          <a:bodyPr wrap="square" lIns="73152" rIns="73152">
            <a:spAutoFit/>
          </a:bodyPr>
          <a:lstStyle/>
          <a:p>
            <a:pPr>
              <a:spcAft>
                <a:spcPts val="600"/>
              </a:spcAft>
              <a:defRPr sz="1300" b="1">
                <a:solidFill>
                  <a:srgbClr val="14233C"/>
                </a:solidFill>
                <a:latin typeface="Aptos"/>
              </a:defRPr>
            </a:pPr>
            <a:r>
              <a:rPr sz="1600" dirty="0"/>
              <a:t>Time-domain plot</a:t>
            </a:r>
          </a:p>
          <a:p>
            <a:pPr marL="285750" indent="-285750">
              <a:spcAft>
                <a:spcPts val="400"/>
              </a:spcAft>
              <a:buFont typeface="Arial" panose="020B0604020202020204" pitchFamily="34" charset="0"/>
              <a:buChar char="•"/>
              <a:defRPr sz="1300" b="0">
                <a:solidFill>
                  <a:srgbClr val="1E1E1E"/>
                </a:solidFill>
                <a:latin typeface="Aptos"/>
              </a:defRPr>
            </a:pPr>
            <a:r>
              <a:rPr sz="1600" dirty="0"/>
              <a:t>Shows selected EEG channels over time.</a:t>
            </a:r>
          </a:p>
          <a:p>
            <a:pPr marL="285750" indent="-285750">
              <a:spcAft>
                <a:spcPts val="400"/>
              </a:spcAft>
              <a:buFont typeface="Arial" panose="020B0604020202020204" pitchFamily="34" charset="0"/>
              <a:buChar char="•"/>
              <a:defRPr sz="1300" b="0">
                <a:solidFill>
                  <a:srgbClr val="1E1E1E"/>
                </a:solidFill>
                <a:latin typeface="Aptos"/>
              </a:defRPr>
            </a:pPr>
            <a:r>
              <a:rPr sz="1600" dirty="0"/>
              <a:t>“Amplitude + offset” means channels are vertically shifted only for readability.</a:t>
            </a:r>
            <a:endParaRPr lang="en-US" sz="1600" dirty="0"/>
          </a:p>
          <a:p>
            <a:pPr>
              <a:spcAft>
                <a:spcPts val="400"/>
              </a:spcAft>
              <a:defRPr sz="1300" b="0">
                <a:solidFill>
                  <a:srgbClr val="1E1E1E"/>
                </a:solidFill>
                <a:latin typeface="Aptos"/>
              </a:defRPr>
            </a:pPr>
            <a:endParaRPr lang="en-US" sz="1600" dirty="0"/>
          </a:p>
          <a:p>
            <a:pPr>
              <a:spcAft>
                <a:spcPts val="400"/>
              </a:spcAft>
              <a:defRPr sz="1300" b="0">
                <a:solidFill>
                  <a:srgbClr val="1E1E1E"/>
                </a:solidFill>
                <a:latin typeface="Aptos"/>
              </a:defRPr>
            </a:pPr>
            <a:endParaRPr lang="en-US" sz="1600" dirty="0"/>
          </a:p>
          <a:p>
            <a:pPr>
              <a:spcAft>
                <a:spcPts val="400"/>
              </a:spcAft>
              <a:defRPr sz="1300" b="0">
                <a:solidFill>
                  <a:srgbClr val="1E1E1E"/>
                </a:solidFill>
                <a:latin typeface="Aptos"/>
              </a:defRPr>
            </a:pPr>
            <a:endParaRPr sz="1600" dirty="0"/>
          </a:p>
          <a:p>
            <a:pPr>
              <a:spcAft>
                <a:spcPts val="600"/>
              </a:spcAft>
              <a:defRPr sz="1300" b="1">
                <a:solidFill>
                  <a:srgbClr val="14233C"/>
                </a:solidFill>
                <a:latin typeface="Aptos"/>
              </a:defRPr>
            </a:pPr>
            <a:r>
              <a:rPr sz="1600" dirty="0"/>
              <a:t>PSD plot</a:t>
            </a:r>
          </a:p>
          <a:p>
            <a:pPr marL="285750" indent="-285750">
              <a:spcAft>
                <a:spcPts val="400"/>
              </a:spcAft>
              <a:buFont typeface="Arial" panose="020B0604020202020204" pitchFamily="34" charset="0"/>
              <a:buChar char="•"/>
              <a:defRPr sz="1300" b="0">
                <a:solidFill>
                  <a:srgbClr val="1E1E1E"/>
                </a:solidFill>
                <a:latin typeface="Aptos"/>
              </a:defRPr>
            </a:pPr>
            <a:r>
              <a:rPr sz="1600" dirty="0"/>
              <a:t>Shows power distribution over frequencies.</a:t>
            </a:r>
          </a:p>
          <a:p>
            <a:pPr marL="285750" indent="-285750">
              <a:spcAft>
                <a:spcPts val="400"/>
              </a:spcAft>
              <a:buFont typeface="Arial" panose="020B0604020202020204" pitchFamily="34" charset="0"/>
              <a:buChar char="•"/>
              <a:defRPr sz="1300" b="0">
                <a:solidFill>
                  <a:srgbClr val="1E1E1E"/>
                </a:solidFill>
                <a:latin typeface="Aptos"/>
              </a:defRPr>
            </a:pPr>
            <a:r>
              <a:rPr sz="1600" dirty="0"/>
              <a:t>Raw PSD helps identify line noise and high-frequency components before filtering.</a:t>
            </a:r>
          </a:p>
        </p:txBody>
      </p:sp>
      <p:pic>
        <p:nvPicPr>
          <p:cNvPr id="6" name="Picture 5" descr="image20.png"/>
          <p:cNvPicPr>
            <a:picLocks noChangeAspect="1"/>
          </p:cNvPicPr>
          <p:nvPr/>
        </p:nvPicPr>
        <p:blipFill>
          <a:blip r:embed="rId2"/>
          <a:stretch>
            <a:fillRect/>
          </a:stretch>
        </p:blipFill>
        <p:spPr>
          <a:xfrm>
            <a:off x="5386576" y="16963"/>
            <a:ext cx="5809488" cy="2956813"/>
          </a:xfrm>
          <a:prstGeom prst="rect">
            <a:avLst/>
          </a:prstGeom>
        </p:spPr>
      </p:pic>
      <p:pic>
        <p:nvPicPr>
          <p:cNvPr id="7" name="Picture 6" descr="image22.png"/>
          <p:cNvPicPr>
            <a:picLocks noChangeAspect="1"/>
          </p:cNvPicPr>
          <p:nvPr/>
        </p:nvPicPr>
        <p:blipFill>
          <a:blip r:embed="rId3"/>
          <a:stretch>
            <a:fillRect/>
          </a:stretch>
        </p:blipFill>
        <p:spPr>
          <a:xfrm>
            <a:off x="5285991" y="2922249"/>
            <a:ext cx="5910073" cy="2908214"/>
          </a:xfrm>
          <a:prstGeom prst="rect">
            <a:avLst/>
          </a:prstGeom>
        </p:spPr>
      </p:pic>
      <p:sp>
        <p:nvSpPr>
          <p:cNvPr id="8" name="Rounded Rectangle 7"/>
          <p:cNvSpPr/>
          <p:nvPr/>
        </p:nvSpPr>
        <p:spPr>
          <a:xfrm>
            <a:off x="1152144" y="5822132"/>
            <a:ext cx="9875519" cy="613946"/>
          </a:xfrm>
          <a:prstGeom prst="roundRect">
            <a:avLst/>
          </a:prstGeom>
          <a:solidFill>
            <a:srgbClr val="E8F0FE"/>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58240" y="5939028"/>
            <a:ext cx="9875519" cy="502920"/>
          </a:xfrm>
          <a:prstGeom prst="rect">
            <a:avLst/>
          </a:prstGeom>
          <a:noFill/>
        </p:spPr>
        <p:txBody>
          <a:bodyPr wrap="square" lIns="45720" tIns="18288" rIns="45720">
            <a:spAutoFit/>
          </a:bodyPr>
          <a:lstStyle/>
          <a:p>
            <a:pPr algn="ctr"/>
            <a:r>
              <a:rPr sz="1300" b="1" dirty="0">
                <a:solidFill>
                  <a:srgbClr val="14233C"/>
                </a:solidFill>
                <a:latin typeface="Aptos"/>
              </a:rPr>
              <a:t>Takeaway: raw inspection justifies the next preprocessing steps and shows why both time-domain and frequency-domain views are useful.</a:t>
            </a:r>
          </a:p>
        </p:txBody>
      </p:sp>
      <p:sp>
        <p:nvSpPr>
          <p:cNvPr id="10" name="TextBox 9"/>
          <p:cNvSpPr txBox="1"/>
          <p:nvPr/>
        </p:nvSpPr>
        <p:spPr>
          <a:xfrm>
            <a:off x="502920" y="6473952"/>
            <a:ext cx="6858000" cy="182880"/>
          </a:xfrm>
          <a:prstGeom prst="rect">
            <a:avLst/>
          </a:prstGeom>
          <a:noFill/>
        </p:spPr>
        <p:txBody>
          <a:bodyPr wrap="square" lIns="45720" tIns="18288" rIns="45720">
            <a:spAutoFit/>
          </a:bodyPr>
          <a:lstStyle/>
          <a:p>
            <a:r>
              <a:rPr sz="800" b="0" dirty="0">
                <a:solidFill>
                  <a:srgbClr val="5F6368"/>
                </a:solidFill>
                <a:latin typeface="Aptos"/>
              </a:rPr>
              <a:t>LP </a:t>
            </a:r>
            <a:r>
              <a:rPr sz="800" b="0" dirty="0" err="1">
                <a:solidFill>
                  <a:srgbClr val="5F6368"/>
                </a:solidFill>
                <a:latin typeface="Aptos"/>
              </a:rPr>
              <a:t>Praktikum</a:t>
            </a:r>
            <a:r>
              <a:rPr sz="800" b="0" dirty="0">
                <a:solidFill>
                  <a:srgbClr val="5F6368"/>
                </a:solidFill>
                <a:latin typeface="Aptos"/>
              </a:rPr>
              <a:t> Informatik 1 | Updated Implementation | 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Basic Preprocessing</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1–40 Hz band-pass + 50 Hz notch + common average reference</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25880"/>
            <a:ext cx="4160520" cy="3703578"/>
          </a:xfrm>
          <a:prstGeom prst="rect">
            <a:avLst/>
          </a:prstGeom>
          <a:noFill/>
        </p:spPr>
        <p:txBody>
          <a:bodyPr wrap="square" lIns="73152" rIns="73152">
            <a:spAutoFit/>
          </a:bodyPr>
          <a:lstStyle/>
          <a:p>
            <a:pPr>
              <a:spcAft>
                <a:spcPts val="600"/>
              </a:spcAft>
              <a:defRPr sz="1300" b="1">
                <a:solidFill>
                  <a:srgbClr val="14233C"/>
                </a:solidFill>
                <a:latin typeface="Aptos"/>
              </a:defRPr>
            </a:pPr>
            <a:r>
              <a:rPr sz="1600" dirty="0"/>
              <a:t>Operations applied</a:t>
            </a:r>
          </a:p>
          <a:p>
            <a:pPr marL="285750" indent="-285750">
              <a:spcAft>
                <a:spcPts val="400"/>
              </a:spcAft>
              <a:buFont typeface="Arial" panose="020B0604020202020204" pitchFamily="34" charset="0"/>
              <a:buChar char="•"/>
              <a:defRPr sz="1300" b="0">
                <a:solidFill>
                  <a:srgbClr val="1E1E1E"/>
                </a:solidFill>
                <a:latin typeface="Aptos"/>
              </a:defRPr>
            </a:pPr>
            <a:r>
              <a:rPr sz="1600" dirty="0"/>
              <a:t>1 Hz high-pass: reduces slow drift / baseline movement.</a:t>
            </a:r>
          </a:p>
          <a:p>
            <a:pPr marL="285750" indent="-285750">
              <a:spcAft>
                <a:spcPts val="400"/>
              </a:spcAft>
              <a:buFont typeface="Arial" panose="020B0604020202020204" pitchFamily="34" charset="0"/>
              <a:buChar char="•"/>
              <a:defRPr sz="1300" b="0">
                <a:solidFill>
                  <a:srgbClr val="1E1E1E"/>
                </a:solidFill>
                <a:latin typeface="Aptos"/>
              </a:defRPr>
            </a:pPr>
            <a:r>
              <a:rPr sz="1600" dirty="0"/>
              <a:t>40 Hz low-pass: suppresses high-frequency noise and muscle-like activity.</a:t>
            </a:r>
          </a:p>
          <a:p>
            <a:pPr marL="285750" indent="-285750">
              <a:spcAft>
                <a:spcPts val="400"/>
              </a:spcAft>
              <a:buFont typeface="Arial" panose="020B0604020202020204" pitchFamily="34" charset="0"/>
              <a:buChar char="•"/>
              <a:defRPr sz="1300" b="0">
                <a:solidFill>
                  <a:srgbClr val="1E1E1E"/>
                </a:solidFill>
                <a:latin typeface="Aptos"/>
              </a:defRPr>
            </a:pPr>
            <a:r>
              <a:rPr sz="1600" dirty="0"/>
              <a:t>50 Hz notch: included as standard power-line-noise step.</a:t>
            </a:r>
          </a:p>
          <a:p>
            <a:pPr marL="285750" indent="-285750">
              <a:spcAft>
                <a:spcPts val="400"/>
              </a:spcAft>
              <a:buFont typeface="Arial" panose="020B0604020202020204" pitchFamily="34" charset="0"/>
              <a:buChar char="•"/>
              <a:defRPr sz="1300" b="0">
                <a:solidFill>
                  <a:srgbClr val="1E1E1E"/>
                </a:solidFill>
                <a:latin typeface="Aptos"/>
              </a:defRPr>
            </a:pPr>
            <a:r>
              <a:rPr sz="1600" dirty="0"/>
              <a:t>Common average reference: subtracts average EEG activity from all channels.</a:t>
            </a:r>
            <a:endParaRPr lang="en-US" sz="1600" dirty="0"/>
          </a:p>
          <a:p>
            <a:pPr>
              <a:spcAft>
                <a:spcPts val="400"/>
              </a:spcAft>
              <a:defRPr sz="1300" b="0">
                <a:solidFill>
                  <a:srgbClr val="1E1E1E"/>
                </a:solidFill>
                <a:latin typeface="Aptos"/>
              </a:defRPr>
            </a:pPr>
            <a:endParaRPr sz="1600" dirty="0"/>
          </a:p>
          <a:p>
            <a:pPr>
              <a:spcAft>
                <a:spcPts val="600"/>
              </a:spcAft>
              <a:defRPr sz="1300" b="1">
                <a:solidFill>
                  <a:srgbClr val="14233C"/>
                </a:solidFill>
                <a:latin typeface="Aptos"/>
              </a:defRPr>
            </a:pPr>
            <a:r>
              <a:rPr sz="1600" dirty="0"/>
              <a:t>Observation</a:t>
            </a:r>
          </a:p>
          <a:p>
            <a:pPr marL="285750" indent="-285750">
              <a:spcAft>
                <a:spcPts val="400"/>
              </a:spcAft>
              <a:buFont typeface="Arial" panose="020B0604020202020204" pitchFamily="34" charset="0"/>
              <a:buChar char="•"/>
              <a:defRPr sz="1300" b="0">
                <a:solidFill>
                  <a:srgbClr val="1E1E1E"/>
                </a:solidFill>
                <a:latin typeface="Aptos"/>
              </a:defRPr>
            </a:pPr>
            <a:r>
              <a:rPr sz="1600" dirty="0"/>
              <a:t>PSD shows strong attenuation above the 40 Hz low-pass region.</a:t>
            </a:r>
          </a:p>
        </p:txBody>
      </p:sp>
      <p:pic>
        <p:nvPicPr>
          <p:cNvPr id="6" name="Picture 5" descr="image21.png"/>
          <p:cNvPicPr>
            <a:picLocks noChangeAspect="1"/>
          </p:cNvPicPr>
          <p:nvPr/>
        </p:nvPicPr>
        <p:blipFill>
          <a:blip r:embed="rId2"/>
          <a:stretch>
            <a:fillRect/>
          </a:stretch>
        </p:blipFill>
        <p:spPr>
          <a:xfrm>
            <a:off x="5623560" y="96150"/>
            <a:ext cx="5477256" cy="2738629"/>
          </a:xfrm>
          <a:prstGeom prst="rect">
            <a:avLst/>
          </a:prstGeom>
        </p:spPr>
      </p:pic>
      <p:pic>
        <p:nvPicPr>
          <p:cNvPr id="7" name="Picture 6" descr="image24.png"/>
          <p:cNvPicPr>
            <a:picLocks noChangeAspect="1"/>
          </p:cNvPicPr>
          <p:nvPr/>
        </p:nvPicPr>
        <p:blipFill>
          <a:blip r:embed="rId3"/>
          <a:stretch>
            <a:fillRect/>
          </a:stretch>
        </p:blipFill>
        <p:spPr>
          <a:xfrm>
            <a:off x="5536136" y="2772918"/>
            <a:ext cx="5564680" cy="2782340"/>
          </a:xfrm>
          <a:prstGeom prst="rect">
            <a:avLst/>
          </a:prstGeom>
        </p:spPr>
      </p:pic>
      <p:sp>
        <p:nvSpPr>
          <p:cNvPr id="8" name="Rounded Rectangle 7"/>
          <p:cNvSpPr/>
          <p:nvPr/>
        </p:nvSpPr>
        <p:spPr>
          <a:xfrm>
            <a:off x="914400" y="5518404"/>
            <a:ext cx="10424160" cy="868680"/>
          </a:xfrm>
          <a:prstGeom prst="roundRect">
            <a:avLst/>
          </a:prstGeom>
          <a:solidFill>
            <a:srgbClr val="E8F0FE"/>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5728716"/>
            <a:ext cx="10149840" cy="685800"/>
          </a:xfrm>
          <a:prstGeom prst="rect">
            <a:avLst/>
          </a:prstGeom>
          <a:noFill/>
        </p:spPr>
        <p:txBody>
          <a:bodyPr wrap="square" lIns="45720" tIns="18288" rIns="45720">
            <a:spAutoFit/>
          </a:bodyPr>
          <a:lstStyle/>
          <a:p>
            <a:pPr algn="ctr"/>
            <a:r>
              <a:rPr sz="1300" b="1" dirty="0">
                <a:solidFill>
                  <a:srgbClr val="14233C"/>
                </a:solidFill>
                <a:latin typeface="Aptos"/>
              </a:rPr>
              <a:t>Note: The dataset shows a visible peak around 60 Hz. With a 40 Hz low-pass, this region is already strongly attenuated; a 60 Hz notch would be more targeted if preserving &gt;40 Hz frequencies was needed.</a:t>
            </a:r>
          </a:p>
        </p:txBody>
      </p:sp>
      <p:sp>
        <p:nvSpPr>
          <p:cNvPr id="10" name="TextBox 9"/>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Synthetic Artifact Demonstration</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Controlled artifacts added because the original file has no labeled artifact examples</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85922"/>
            <a:ext cx="4572000" cy="4001095"/>
          </a:xfrm>
          <a:prstGeom prst="rect">
            <a:avLst/>
          </a:prstGeom>
          <a:noFill/>
        </p:spPr>
        <p:txBody>
          <a:bodyPr wrap="square" lIns="73152" rIns="73152">
            <a:spAutoFit/>
          </a:bodyPr>
          <a:lstStyle/>
          <a:p>
            <a:pPr>
              <a:spcAft>
                <a:spcPts val="600"/>
              </a:spcAft>
              <a:defRPr sz="1300" b="1">
                <a:solidFill>
                  <a:srgbClr val="14233C"/>
                </a:solidFill>
                <a:latin typeface="Aptos"/>
              </a:defRPr>
            </a:pPr>
            <a:r>
              <a:rPr sz="1600" dirty="0"/>
              <a:t>Why synthetic artifacts?</a:t>
            </a:r>
          </a:p>
          <a:p>
            <a:pPr marL="285750" indent="-285750">
              <a:spcAft>
                <a:spcPts val="400"/>
              </a:spcAft>
              <a:buFont typeface="Arial" panose="020B0604020202020204" pitchFamily="34" charset="0"/>
              <a:buChar char="•"/>
              <a:defRPr sz="1300" b="0">
                <a:solidFill>
                  <a:srgbClr val="1E1E1E"/>
                </a:solidFill>
                <a:latin typeface="Aptos"/>
              </a:defRPr>
            </a:pPr>
            <a:r>
              <a:rPr sz="1600" dirty="0"/>
              <a:t>Original S001R01.edf is baseline eyes-open and not labeled for EOG/EMG/bad-channel examples.</a:t>
            </a:r>
          </a:p>
          <a:p>
            <a:pPr marL="285750" indent="-285750">
              <a:spcAft>
                <a:spcPts val="400"/>
              </a:spcAft>
              <a:buFont typeface="Arial" panose="020B0604020202020204" pitchFamily="34" charset="0"/>
              <a:buChar char="•"/>
              <a:defRPr sz="1300" b="0">
                <a:solidFill>
                  <a:srgbClr val="1E1E1E"/>
                </a:solidFill>
                <a:latin typeface="Aptos"/>
              </a:defRPr>
            </a:pPr>
            <a:r>
              <a:rPr sz="1600" dirty="0"/>
              <a:t>Synthetic artifacts allow controlled before/after demonstration.</a:t>
            </a:r>
            <a:endParaRPr lang="en-US" sz="1600" dirty="0"/>
          </a:p>
          <a:p>
            <a:pPr>
              <a:spcAft>
                <a:spcPts val="400"/>
              </a:spcAft>
              <a:defRPr sz="1300" b="0">
                <a:solidFill>
                  <a:srgbClr val="1E1E1E"/>
                </a:solidFill>
                <a:latin typeface="Aptos"/>
              </a:defRPr>
            </a:pPr>
            <a:endParaRPr sz="1600" dirty="0"/>
          </a:p>
          <a:p>
            <a:pPr>
              <a:spcAft>
                <a:spcPts val="600"/>
              </a:spcAft>
              <a:defRPr sz="1300" b="1">
                <a:solidFill>
                  <a:srgbClr val="14233C"/>
                </a:solidFill>
                <a:latin typeface="Aptos"/>
              </a:defRPr>
            </a:pPr>
            <a:r>
              <a:rPr sz="1600" dirty="0"/>
              <a:t>Added artifacts</a:t>
            </a:r>
          </a:p>
          <a:p>
            <a:pPr marL="285750" indent="-285750">
              <a:spcAft>
                <a:spcPts val="400"/>
              </a:spcAft>
              <a:buFont typeface="Arial" panose="020B0604020202020204" pitchFamily="34" charset="0"/>
              <a:buChar char="•"/>
              <a:defRPr sz="1300" b="0">
                <a:solidFill>
                  <a:srgbClr val="1E1E1E"/>
                </a:solidFill>
                <a:latin typeface="Aptos"/>
              </a:defRPr>
            </a:pPr>
            <a:r>
              <a:rPr sz="1600" dirty="0"/>
              <a:t>Blink-like slow wave → frontal channels Fp1, </a:t>
            </a:r>
            <a:r>
              <a:rPr sz="1600" dirty="0" err="1"/>
              <a:t>Fpz</a:t>
            </a:r>
            <a:r>
              <a:rPr sz="1600" dirty="0"/>
              <a:t>, Fp2.</a:t>
            </a:r>
          </a:p>
          <a:p>
            <a:pPr marL="285750" indent="-285750">
              <a:spcAft>
                <a:spcPts val="400"/>
              </a:spcAft>
              <a:buFont typeface="Arial" panose="020B0604020202020204" pitchFamily="34" charset="0"/>
              <a:buChar char="•"/>
              <a:defRPr sz="1300" b="0">
                <a:solidFill>
                  <a:srgbClr val="1E1E1E"/>
                </a:solidFill>
                <a:latin typeface="Aptos"/>
              </a:defRPr>
            </a:pPr>
            <a:r>
              <a:rPr sz="1600" dirty="0"/>
              <a:t>Muscle-like high-frequency noise → temporal channels T7, T8, FT7, FT8.</a:t>
            </a:r>
          </a:p>
          <a:p>
            <a:pPr marL="285750" indent="-285750">
              <a:spcAft>
                <a:spcPts val="400"/>
              </a:spcAft>
              <a:buFont typeface="Arial" panose="020B0604020202020204" pitchFamily="34" charset="0"/>
              <a:buChar char="•"/>
              <a:defRPr sz="1300" b="0">
                <a:solidFill>
                  <a:srgbClr val="1E1E1E"/>
                </a:solidFill>
                <a:latin typeface="Aptos"/>
              </a:defRPr>
            </a:pPr>
            <a:r>
              <a:rPr sz="1600" dirty="0"/>
              <a:t>Flat channel → </a:t>
            </a:r>
            <a:r>
              <a:rPr sz="1600" dirty="0" err="1"/>
              <a:t>Pz</a:t>
            </a:r>
            <a:r>
              <a:rPr sz="1600" dirty="0"/>
              <a:t>.</a:t>
            </a:r>
          </a:p>
          <a:p>
            <a:pPr marL="285750" indent="-285750">
              <a:spcAft>
                <a:spcPts val="400"/>
              </a:spcAft>
              <a:buFont typeface="Arial" panose="020B0604020202020204" pitchFamily="34" charset="0"/>
              <a:buChar char="•"/>
              <a:defRPr sz="1300" b="0">
                <a:solidFill>
                  <a:srgbClr val="1E1E1E"/>
                </a:solidFill>
                <a:latin typeface="Aptos"/>
              </a:defRPr>
            </a:pPr>
            <a:r>
              <a:rPr sz="1600" dirty="0"/>
              <a:t>Noisy channel → O1.</a:t>
            </a:r>
          </a:p>
        </p:txBody>
      </p:sp>
      <p:sp>
        <p:nvSpPr>
          <p:cNvPr id="7" name="Rounded Rectangle 6"/>
          <p:cNvSpPr/>
          <p:nvPr/>
        </p:nvSpPr>
        <p:spPr>
          <a:xfrm>
            <a:off x="1059180" y="5884164"/>
            <a:ext cx="10424160" cy="502920"/>
          </a:xfrm>
          <a:prstGeom prst="roundRect">
            <a:avLst/>
          </a:prstGeom>
          <a:solidFill>
            <a:srgbClr val="E8F5E9"/>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96340" y="5996352"/>
            <a:ext cx="10149840" cy="320040"/>
          </a:xfrm>
          <a:prstGeom prst="rect">
            <a:avLst/>
          </a:prstGeom>
          <a:noFill/>
        </p:spPr>
        <p:txBody>
          <a:bodyPr wrap="square" lIns="45720" tIns="18288" rIns="45720">
            <a:spAutoFit/>
          </a:bodyPr>
          <a:lstStyle/>
          <a:p>
            <a:pPr algn="ctr"/>
            <a:r>
              <a:rPr sz="1300" b="1" dirty="0">
                <a:solidFill>
                  <a:srgbClr val="14233C"/>
                </a:solidFill>
                <a:latin typeface="Aptos"/>
              </a:rPr>
              <a:t>Interpretation: synthetic artifacts increase signal power and create controlled examples for detection, interpolation, and ICA.</a:t>
            </a:r>
          </a:p>
        </p:txBody>
      </p:sp>
      <p:sp>
        <p:nvSpPr>
          <p:cNvPr id="9" name="TextBox 8"/>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6</a:t>
            </a:r>
          </a:p>
        </p:txBody>
      </p:sp>
      <p:pic>
        <p:nvPicPr>
          <p:cNvPr id="11" name="Picture 10">
            <a:extLst>
              <a:ext uri="{FF2B5EF4-FFF2-40B4-BE49-F238E27FC236}">
                <a16:creationId xmlns:a16="http://schemas.microsoft.com/office/drawing/2014/main" id="{58FD81A3-5995-79E2-2D36-B97695B81C45}"/>
              </a:ext>
            </a:extLst>
          </p:cNvPr>
          <p:cNvPicPr>
            <a:picLocks noChangeAspect="1"/>
          </p:cNvPicPr>
          <p:nvPr/>
        </p:nvPicPr>
        <p:blipFill>
          <a:blip r:embed="rId3"/>
          <a:stretch>
            <a:fillRect/>
          </a:stretch>
        </p:blipFill>
        <p:spPr>
          <a:xfrm>
            <a:off x="6271260" y="704087"/>
            <a:ext cx="4957641" cy="2559272"/>
          </a:xfrm>
          <a:prstGeom prst="rect">
            <a:avLst/>
          </a:prstGeom>
        </p:spPr>
      </p:pic>
      <p:pic>
        <p:nvPicPr>
          <p:cNvPr id="13" name="Picture 12">
            <a:extLst>
              <a:ext uri="{FF2B5EF4-FFF2-40B4-BE49-F238E27FC236}">
                <a16:creationId xmlns:a16="http://schemas.microsoft.com/office/drawing/2014/main" id="{E412B429-F030-E57C-27FB-D74281AF9EFC}"/>
              </a:ext>
            </a:extLst>
          </p:cNvPr>
          <p:cNvPicPr>
            <a:picLocks noChangeAspect="1"/>
          </p:cNvPicPr>
          <p:nvPr/>
        </p:nvPicPr>
        <p:blipFill>
          <a:blip r:embed="rId4"/>
          <a:stretch>
            <a:fillRect/>
          </a:stretch>
        </p:blipFill>
        <p:spPr>
          <a:xfrm>
            <a:off x="6114210" y="3183022"/>
            <a:ext cx="5114691" cy="26070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Global Bad-Channel Detection Metrics</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Detect suspicious channels across the whole recording</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72136"/>
            <a:ext cx="5861304" cy="3559949"/>
          </a:xfrm>
          <a:prstGeom prst="rect">
            <a:avLst/>
          </a:prstGeom>
          <a:noFill/>
        </p:spPr>
        <p:txBody>
          <a:bodyPr wrap="square" lIns="73152" rIns="73152">
            <a:spAutoFit/>
          </a:bodyPr>
          <a:lstStyle/>
          <a:p>
            <a:pPr>
              <a:spcAft>
                <a:spcPts val="600"/>
              </a:spcAft>
              <a:defRPr sz="1400" b="1">
                <a:solidFill>
                  <a:srgbClr val="14233C"/>
                </a:solidFill>
                <a:latin typeface="Aptos"/>
              </a:defRPr>
            </a:pPr>
            <a:r>
              <a:rPr sz="1600" dirty="0"/>
              <a:t>Metrics per channel</a:t>
            </a:r>
          </a:p>
          <a:p>
            <a:pPr marL="285750" indent="-285750">
              <a:spcAft>
                <a:spcPts val="400"/>
              </a:spcAft>
              <a:buFont typeface="Arial" panose="020B0604020202020204" pitchFamily="34" charset="0"/>
              <a:buChar char="•"/>
              <a:defRPr sz="1400" b="0">
                <a:solidFill>
                  <a:srgbClr val="1E1E1E"/>
                </a:solidFill>
                <a:latin typeface="Aptos"/>
              </a:defRPr>
            </a:pPr>
            <a:r>
              <a:rPr sz="1600" dirty="0"/>
              <a:t>Standard deviation: high = noisy; very low = flat.</a:t>
            </a:r>
          </a:p>
          <a:p>
            <a:pPr marL="285750" indent="-285750">
              <a:spcAft>
                <a:spcPts val="400"/>
              </a:spcAft>
              <a:buFont typeface="Arial" panose="020B0604020202020204" pitchFamily="34" charset="0"/>
              <a:buChar char="•"/>
              <a:defRPr sz="1400" b="0">
                <a:solidFill>
                  <a:srgbClr val="1E1E1E"/>
                </a:solidFill>
                <a:latin typeface="Aptos"/>
              </a:defRPr>
            </a:pPr>
            <a:r>
              <a:rPr sz="1600" dirty="0"/>
              <a:t>Peak-to-peak amplitude: high = abnormal large swings.</a:t>
            </a:r>
          </a:p>
          <a:p>
            <a:pPr marL="285750" indent="-285750">
              <a:spcAft>
                <a:spcPts val="400"/>
              </a:spcAft>
              <a:buFont typeface="Arial" panose="020B0604020202020204" pitchFamily="34" charset="0"/>
              <a:buChar char="•"/>
              <a:defRPr sz="1400" b="0">
                <a:solidFill>
                  <a:srgbClr val="1E1E1E"/>
                </a:solidFill>
                <a:latin typeface="Aptos"/>
              </a:defRPr>
            </a:pPr>
            <a:r>
              <a:rPr sz="1600" dirty="0"/>
              <a:t>Mean correlation with other channels: low = unusual behavior.</a:t>
            </a:r>
          </a:p>
          <a:p>
            <a:pPr marL="285750" indent="-285750">
              <a:spcAft>
                <a:spcPts val="400"/>
              </a:spcAft>
              <a:buFont typeface="Arial" panose="020B0604020202020204" pitchFamily="34" charset="0"/>
              <a:buChar char="•"/>
              <a:defRPr sz="1400" b="0">
                <a:solidFill>
                  <a:srgbClr val="1E1E1E"/>
                </a:solidFill>
                <a:latin typeface="Aptos"/>
              </a:defRPr>
            </a:pPr>
            <a:r>
              <a:rPr sz="1600" dirty="0"/>
              <a:t>Robust z-score = 0.6745 × (value − median) / MAD.</a:t>
            </a:r>
            <a:endParaRPr lang="en-US" sz="1600" dirty="0"/>
          </a:p>
          <a:p>
            <a:pPr>
              <a:spcAft>
                <a:spcPts val="400"/>
              </a:spcAft>
              <a:defRPr sz="1400" b="0">
                <a:solidFill>
                  <a:srgbClr val="1E1E1E"/>
                </a:solidFill>
                <a:latin typeface="Aptos"/>
              </a:defRPr>
            </a:pPr>
            <a:endParaRPr sz="1600" dirty="0"/>
          </a:p>
          <a:p>
            <a:pPr>
              <a:spcAft>
                <a:spcPts val="600"/>
              </a:spcAft>
              <a:defRPr sz="1400" b="1">
                <a:solidFill>
                  <a:srgbClr val="14233C"/>
                </a:solidFill>
                <a:latin typeface="Aptos"/>
              </a:defRPr>
            </a:pPr>
            <a:r>
              <a:rPr sz="1600" dirty="0"/>
              <a:t>Example output interpretation</a:t>
            </a:r>
          </a:p>
          <a:p>
            <a:pPr marL="285750" indent="-285750">
              <a:spcAft>
                <a:spcPts val="400"/>
              </a:spcAft>
              <a:buFont typeface="Arial" panose="020B0604020202020204" pitchFamily="34" charset="0"/>
              <a:buChar char="•"/>
              <a:defRPr sz="1400" b="0">
                <a:solidFill>
                  <a:srgbClr val="1E1E1E"/>
                </a:solidFill>
                <a:latin typeface="Aptos"/>
              </a:defRPr>
            </a:pPr>
            <a:r>
              <a:rPr sz="1600" dirty="0" err="1"/>
              <a:t>Pz</a:t>
            </a:r>
            <a:r>
              <a:rPr sz="1600" dirty="0"/>
              <a:t>: flat synthetic channel → std = 0, peak-to-peak = 0.</a:t>
            </a:r>
          </a:p>
          <a:p>
            <a:pPr marL="285750" indent="-285750">
              <a:spcAft>
                <a:spcPts val="400"/>
              </a:spcAft>
              <a:buFont typeface="Arial" panose="020B0604020202020204" pitchFamily="34" charset="0"/>
              <a:buChar char="•"/>
              <a:defRPr sz="1400" b="0">
                <a:solidFill>
                  <a:srgbClr val="1E1E1E"/>
                </a:solidFill>
                <a:latin typeface="Aptos"/>
              </a:defRPr>
            </a:pPr>
            <a:r>
              <a:rPr sz="1600" dirty="0"/>
              <a:t>O1: noisy synthetic channel → very high STD and peak-to-peak.</a:t>
            </a:r>
          </a:p>
          <a:p>
            <a:pPr marL="285750" indent="-285750">
              <a:spcAft>
                <a:spcPts val="400"/>
              </a:spcAft>
              <a:buFont typeface="Arial" panose="020B0604020202020204" pitchFamily="34" charset="0"/>
              <a:buChar char="•"/>
              <a:defRPr sz="1400" b="0">
                <a:solidFill>
                  <a:srgbClr val="1E1E1E"/>
                </a:solidFill>
                <a:latin typeface="Aptos"/>
              </a:defRPr>
            </a:pPr>
            <a:r>
              <a:rPr sz="1600" dirty="0"/>
              <a:t>Fp1/Fp2/AF8: suspicious due to blink-like high-amplitude frontal activity.</a:t>
            </a:r>
          </a:p>
        </p:txBody>
      </p:sp>
      <p:sp>
        <p:nvSpPr>
          <p:cNvPr id="6" name="Rounded Rectangle 5"/>
          <p:cNvSpPr/>
          <p:nvPr/>
        </p:nvSpPr>
        <p:spPr>
          <a:xfrm>
            <a:off x="6812280" y="2400300"/>
            <a:ext cx="4754880" cy="2057400"/>
          </a:xfrm>
          <a:prstGeom prst="roundRect">
            <a:avLst/>
          </a:prstGeom>
          <a:solidFill>
            <a:srgbClr val="FFF3E0"/>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23176" y="2809548"/>
            <a:ext cx="4133088" cy="926407"/>
          </a:xfrm>
          <a:prstGeom prst="rect">
            <a:avLst/>
          </a:prstGeom>
          <a:noFill/>
        </p:spPr>
        <p:txBody>
          <a:bodyPr wrap="square" lIns="45720" tIns="18288" rIns="45720">
            <a:spAutoFit/>
          </a:bodyPr>
          <a:lstStyle/>
          <a:p>
            <a:pPr algn="ctr"/>
            <a:r>
              <a:rPr sz="1400" b="1" dirty="0">
                <a:solidFill>
                  <a:srgbClr val="14233C"/>
                </a:solidFill>
                <a:latin typeface="Aptos"/>
              </a:rPr>
              <a:t>Important distinction: “suspicious” does not always mean broken electrode. Blink-contaminated frontal channels should usually be handled by ICA, not interpolation.</a:t>
            </a:r>
          </a:p>
        </p:txBody>
      </p:sp>
      <p:sp>
        <p:nvSpPr>
          <p:cNvPr id="8" name="TextBox 7"/>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Epoch-Wise Bad-Channel / Bad-Epoch Detection</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Automatically tag channel-epoch pairs and full bad epochs</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8660" y="1794325"/>
            <a:ext cx="10789920" cy="3662541"/>
          </a:xfrm>
          <a:prstGeom prst="rect">
            <a:avLst/>
          </a:prstGeom>
          <a:noFill/>
        </p:spPr>
        <p:txBody>
          <a:bodyPr wrap="square" lIns="73152" rIns="73152">
            <a:spAutoFit/>
          </a:bodyPr>
          <a:lstStyle/>
          <a:p>
            <a:pPr>
              <a:spcAft>
                <a:spcPts val="600"/>
              </a:spcAft>
              <a:defRPr sz="1500" b="1">
                <a:solidFill>
                  <a:srgbClr val="14233C"/>
                </a:solidFill>
                <a:latin typeface="Aptos"/>
              </a:defRPr>
            </a:pPr>
            <a:r>
              <a:rPr sz="1600" dirty="0"/>
              <a:t>Method</a:t>
            </a:r>
          </a:p>
          <a:p>
            <a:pPr marL="285750" indent="-285750">
              <a:spcAft>
                <a:spcPts val="400"/>
              </a:spcAft>
              <a:buFont typeface="Arial" panose="020B0604020202020204" pitchFamily="34" charset="0"/>
              <a:buChar char="•"/>
              <a:defRPr sz="1500" b="0">
                <a:solidFill>
                  <a:srgbClr val="1E1E1E"/>
                </a:solidFill>
                <a:latin typeface="Aptos"/>
              </a:defRPr>
            </a:pPr>
            <a:r>
              <a:rPr sz="1600" dirty="0"/>
              <a:t>Continuous EEG is split into 2-second epochs.</a:t>
            </a:r>
          </a:p>
          <a:p>
            <a:pPr marL="285750" indent="-285750">
              <a:spcAft>
                <a:spcPts val="400"/>
              </a:spcAft>
              <a:buFont typeface="Arial" panose="020B0604020202020204" pitchFamily="34" charset="0"/>
              <a:buChar char="•"/>
              <a:defRPr sz="1500" b="0">
                <a:solidFill>
                  <a:srgbClr val="1E1E1E"/>
                </a:solidFill>
                <a:latin typeface="Aptos"/>
              </a:defRPr>
            </a:pPr>
            <a:r>
              <a:rPr sz="1600" dirty="0"/>
              <a:t>For each channel in each epoch: STD, peak-to-peak, and correlation with median signal are computed.</a:t>
            </a:r>
          </a:p>
          <a:p>
            <a:pPr marL="285750" indent="-285750">
              <a:spcAft>
                <a:spcPts val="400"/>
              </a:spcAft>
              <a:buFont typeface="Arial" panose="020B0604020202020204" pitchFamily="34" charset="0"/>
              <a:buChar char="•"/>
              <a:defRPr sz="1500" b="0">
                <a:solidFill>
                  <a:srgbClr val="1E1E1E"/>
                </a:solidFill>
                <a:latin typeface="Aptos"/>
              </a:defRPr>
            </a:pPr>
            <a:r>
              <a:rPr sz="1600" dirty="0"/>
              <a:t>A channel is bad in an epoch if it is flat, noisy, high-amplitude, or poorly correlated.</a:t>
            </a:r>
          </a:p>
          <a:p>
            <a:pPr marL="285750" indent="-285750">
              <a:spcAft>
                <a:spcPts val="400"/>
              </a:spcAft>
              <a:buFont typeface="Arial" panose="020B0604020202020204" pitchFamily="34" charset="0"/>
              <a:buChar char="•"/>
              <a:defRPr sz="1500" b="0">
                <a:solidFill>
                  <a:srgbClr val="1E1E1E"/>
                </a:solidFill>
                <a:latin typeface="Aptos"/>
              </a:defRPr>
            </a:pPr>
            <a:r>
              <a:rPr sz="1600" dirty="0"/>
              <a:t>An entire epoch is bad if &gt;20% of channels are bad.</a:t>
            </a:r>
            <a:endParaRPr lang="fa-IR" sz="1600" dirty="0"/>
          </a:p>
          <a:p>
            <a:pPr>
              <a:spcAft>
                <a:spcPts val="400"/>
              </a:spcAft>
              <a:defRPr sz="1500" b="0">
                <a:solidFill>
                  <a:srgbClr val="1E1E1E"/>
                </a:solidFill>
                <a:latin typeface="Aptos"/>
              </a:defRPr>
            </a:pPr>
            <a:endParaRPr lang="fa-IR" sz="1600" dirty="0"/>
          </a:p>
          <a:p>
            <a:pPr>
              <a:spcAft>
                <a:spcPts val="400"/>
              </a:spcAft>
              <a:defRPr sz="1500" b="0">
                <a:solidFill>
                  <a:srgbClr val="1E1E1E"/>
                </a:solidFill>
                <a:latin typeface="Aptos"/>
              </a:defRPr>
            </a:pPr>
            <a:endParaRPr lang="fa-IR" sz="1600" dirty="0"/>
          </a:p>
          <a:p>
            <a:pPr>
              <a:spcAft>
                <a:spcPts val="400"/>
              </a:spcAft>
              <a:defRPr sz="1500" b="0">
                <a:solidFill>
                  <a:srgbClr val="1E1E1E"/>
                </a:solidFill>
                <a:latin typeface="Aptos"/>
              </a:defRPr>
            </a:pPr>
            <a:endParaRPr sz="1600" dirty="0"/>
          </a:p>
          <a:p>
            <a:pPr>
              <a:spcAft>
                <a:spcPts val="600"/>
              </a:spcAft>
              <a:defRPr sz="1500" b="1">
                <a:solidFill>
                  <a:srgbClr val="14233C"/>
                </a:solidFill>
                <a:latin typeface="Aptos"/>
              </a:defRPr>
            </a:pPr>
            <a:r>
              <a:rPr sz="1600" dirty="0"/>
              <a:t>Observed output</a:t>
            </a:r>
          </a:p>
          <a:p>
            <a:pPr marL="285750" indent="-285750">
              <a:spcAft>
                <a:spcPts val="400"/>
              </a:spcAft>
              <a:buFont typeface="Arial" panose="020B0604020202020204" pitchFamily="34" charset="0"/>
              <a:buChar char="•"/>
              <a:defRPr sz="1500" b="0">
                <a:solidFill>
                  <a:srgbClr val="1E1E1E"/>
                </a:solidFill>
                <a:latin typeface="Aptos"/>
              </a:defRPr>
            </a:pPr>
            <a:r>
              <a:rPr sz="1600" dirty="0"/>
              <a:t>30 epochs from ~61 seconds of EEG.</a:t>
            </a:r>
          </a:p>
          <a:p>
            <a:pPr marL="285750" indent="-285750">
              <a:spcAft>
                <a:spcPts val="400"/>
              </a:spcAft>
              <a:buFont typeface="Arial" panose="020B0604020202020204" pitchFamily="34" charset="0"/>
              <a:buChar char="•"/>
              <a:defRPr sz="1500" b="0">
                <a:solidFill>
                  <a:srgbClr val="1E1E1E"/>
                </a:solidFill>
                <a:latin typeface="Aptos"/>
              </a:defRPr>
            </a:pPr>
            <a:r>
              <a:rPr sz="1600" dirty="0"/>
              <a:t>109 bad channel-epoch pairs.</a:t>
            </a:r>
          </a:p>
          <a:p>
            <a:pPr marL="285750" indent="-285750">
              <a:spcAft>
                <a:spcPts val="400"/>
              </a:spcAft>
              <a:buFont typeface="Arial" panose="020B0604020202020204" pitchFamily="34" charset="0"/>
              <a:buChar char="•"/>
              <a:defRPr sz="1500" b="0">
                <a:solidFill>
                  <a:srgbClr val="1E1E1E"/>
                </a:solidFill>
                <a:latin typeface="Aptos"/>
              </a:defRPr>
            </a:pPr>
            <a:r>
              <a:rPr sz="1600" dirty="0"/>
              <a:t>Bad epochs: none → artifacts are local channel problems, not whole-recording failures.</a:t>
            </a:r>
          </a:p>
        </p:txBody>
      </p:sp>
      <p:sp>
        <p:nvSpPr>
          <p:cNvPr id="6" name="TextBox 5"/>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Visualizing Epoch-Wise Detection</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Heatmap of bad channel flags over time</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810512"/>
            <a:ext cx="4480560" cy="3185487"/>
          </a:xfrm>
          <a:prstGeom prst="rect">
            <a:avLst/>
          </a:prstGeom>
          <a:noFill/>
        </p:spPr>
        <p:txBody>
          <a:bodyPr wrap="square" lIns="73152" rIns="73152">
            <a:spAutoFit/>
          </a:bodyPr>
          <a:lstStyle/>
          <a:p>
            <a:pPr>
              <a:spcAft>
                <a:spcPts val="600"/>
              </a:spcAft>
              <a:defRPr sz="1400" b="1">
                <a:solidFill>
                  <a:srgbClr val="14233C"/>
                </a:solidFill>
                <a:latin typeface="Aptos"/>
              </a:defRPr>
            </a:pPr>
            <a:r>
              <a:rPr sz="1600" dirty="0"/>
              <a:t>How to read the heatmap</a:t>
            </a:r>
          </a:p>
          <a:p>
            <a:pPr marL="285750" indent="-285750">
              <a:spcAft>
                <a:spcPts val="400"/>
              </a:spcAft>
              <a:buFont typeface="Arial" panose="020B0604020202020204" pitchFamily="34" charset="0"/>
              <a:buChar char="•"/>
              <a:defRPr sz="1400" b="0">
                <a:solidFill>
                  <a:srgbClr val="1E1E1E"/>
                </a:solidFill>
                <a:latin typeface="Aptos"/>
              </a:defRPr>
            </a:pPr>
            <a:r>
              <a:rPr sz="1600" dirty="0"/>
              <a:t>x-axis = epoch index; y-axis = channel index.</a:t>
            </a:r>
          </a:p>
          <a:p>
            <a:pPr marL="285750" indent="-285750">
              <a:spcAft>
                <a:spcPts val="400"/>
              </a:spcAft>
              <a:buFont typeface="Arial" panose="020B0604020202020204" pitchFamily="34" charset="0"/>
              <a:buChar char="•"/>
              <a:defRPr sz="1400" b="0">
                <a:solidFill>
                  <a:srgbClr val="1E1E1E"/>
                </a:solidFill>
                <a:latin typeface="Aptos"/>
              </a:defRPr>
            </a:pPr>
            <a:r>
              <a:rPr sz="1600" dirty="0"/>
              <a:t>Red = channel marked bad in that epoch; light = channel normal.</a:t>
            </a:r>
            <a:endParaRPr lang="en-US" sz="1600" dirty="0"/>
          </a:p>
          <a:p>
            <a:pPr marL="285750" indent="-285750">
              <a:spcAft>
                <a:spcPts val="400"/>
              </a:spcAft>
              <a:buFont typeface="Arial" panose="020B0604020202020204" pitchFamily="34" charset="0"/>
              <a:buChar char="•"/>
              <a:defRPr sz="1400" b="0">
                <a:solidFill>
                  <a:srgbClr val="1E1E1E"/>
                </a:solidFill>
                <a:latin typeface="Aptos"/>
              </a:defRPr>
            </a:pPr>
            <a:endParaRPr sz="1600" dirty="0"/>
          </a:p>
          <a:p>
            <a:pPr marL="285750" indent="-285750">
              <a:spcAft>
                <a:spcPts val="400"/>
              </a:spcAft>
              <a:buFont typeface="Arial" panose="020B0604020202020204" pitchFamily="34" charset="0"/>
              <a:buChar char="•"/>
              <a:defRPr sz="1400" b="0">
                <a:solidFill>
                  <a:srgbClr val="1E1E1E"/>
                </a:solidFill>
                <a:latin typeface="Aptos"/>
              </a:defRPr>
            </a:pPr>
            <a:r>
              <a:rPr sz="1600" dirty="0"/>
              <a:t>Horizontal red lines = persistent bad channels.</a:t>
            </a:r>
          </a:p>
          <a:p>
            <a:pPr marL="285750" indent="-285750">
              <a:spcAft>
                <a:spcPts val="400"/>
              </a:spcAft>
              <a:buFont typeface="Arial" panose="020B0604020202020204" pitchFamily="34" charset="0"/>
              <a:buChar char="•"/>
              <a:defRPr sz="1400" b="0">
                <a:solidFill>
                  <a:srgbClr val="1E1E1E"/>
                </a:solidFill>
                <a:latin typeface="Aptos"/>
              </a:defRPr>
            </a:pPr>
            <a:r>
              <a:rPr sz="1600" dirty="0"/>
              <a:t>Scattered red blocks = temporary channel-specific artifacts.</a:t>
            </a:r>
            <a:endParaRPr lang="en-US" sz="1600" dirty="0"/>
          </a:p>
          <a:p>
            <a:pPr marL="285750" indent="-285750">
              <a:spcAft>
                <a:spcPts val="400"/>
              </a:spcAft>
              <a:buFont typeface="Arial" panose="020B0604020202020204" pitchFamily="34" charset="0"/>
              <a:buChar char="•"/>
              <a:defRPr sz="1400" b="0">
                <a:solidFill>
                  <a:srgbClr val="1E1E1E"/>
                </a:solidFill>
                <a:latin typeface="Aptos"/>
              </a:defRPr>
            </a:pPr>
            <a:endParaRPr sz="1600" dirty="0"/>
          </a:p>
          <a:p>
            <a:pPr marL="285750" indent="-285750">
              <a:spcAft>
                <a:spcPts val="400"/>
              </a:spcAft>
              <a:buFont typeface="Arial" panose="020B0604020202020204" pitchFamily="34" charset="0"/>
              <a:buChar char="•"/>
              <a:defRPr sz="1400" b="0">
                <a:solidFill>
                  <a:srgbClr val="1E1E1E"/>
                </a:solidFill>
                <a:latin typeface="Aptos"/>
              </a:defRPr>
            </a:pPr>
            <a:r>
              <a:rPr sz="1600" dirty="0"/>
              <a:t>No full vertical red bands = no full bad epochs.</a:t>
            </a:r>
          </a:p>
        </p:txBody>
      </p:sp>
      <p:sp>
        <p:nvSpPr>
          <p:cNvPr id="7" name="TextBox 6"/>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9</a:t>
            </a:r>
          </a:p>
        </p:txBody>
      </p:sp>
      <p:pic>
        <p:nvPicPr>
          <p:cNvPr id="9" name="Picture 8">
            <a:extLst>
              <a:ext uri="{FF2B5EF4-FFF2-40B4-BE49-F238E27FC236}">
                <a16:creationId xmlns:a16="http://schemas.microsoft.com/office/drawing/2014/main" id="{6D5040A5-83B1-B2A5-C75A-D15B78C81C6B}"/>
              </a:ext>
            </a:extLst>
          </p:cNvPr>
          <p:cNvPicPr>
            <a:picLocks noChangeAspect="1"/>
          </p:cNvPicPr>
          <p:nvPr/>
        </p:nvPicPr>
        <p:blipFill>
          <a:blip r:embed="rId2"/>
          <a:stretch>
            <a:fillRect/>
          </a:stretch>
        </p:blipFill>
        <p:spPr>
          <a:xfrm>
            <a:off x="5236077" y="1257300"/>
            <a:ext cx="6572685" cy="46863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Persistent Bad Channels</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dirty="0">
                <a:solidFill>
                  <a:srgbClr val="5F6368"/>
                </a:solidFill>
                <a:latin typeface="Aptos"/>
              </a:rPr>
              <a:t>Deciding which channels are bad often enough to interpolate</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502920" y="1568240"/>
            <a:ext cx="9537192" cy="4334520"/>
          </a:xfrm>
          <a:prstGeom prst="rect">
            <a:avLst/>
          </a:prstGeom>
          <a:noFill/>
        </p:spPr>
        <p:txBody>
          <a:bodyPr wrap="square" lIns="73152" rIns="73152">
            <a:spAutoFit/>
          </a:bodyPr>
          <a:lstStyle/>
          <a:p>
            <a:pPr>
              <a:spcAft>
                <a:spcPts val="600"/>
              </a:spcAft>
              <a:defRPr sz="1600" b="1">
                <a:solidFill>
                  <a:srgbClr val="14233C"/>
                </a:solidFill>
                <a:latin typeface="Aptos"/>
              </a:defRPr>
            </a:pPr>
            <a:r>
              <a:rPr sz="1600" dirty="0"/>
              <a:t>Definition</a:t>
            </a:r>
          </a:p>
          <a:p>
            <a:pPr marL="285750" indent="-285750">
              <a:spcAft>
                <a:spcPts val="400"/>
              </a:spcAft>
              <a:buFont typeface="Arial" panose="020B0604020202020204" pitchFamily="34" charset="0"/>
              <a:buChar char="•"/>
              <a:defRPr sz="1600" b="0">
                <a:solidFill>
                  <a:srgbClr val="1E1E1E"/>
                </a:solidFill>
                <a:latin typeface="Aptos"/>
              </a:defRPr>
            </a:pPr>
            <a:r>
              <a:rPr sz="1600" dirty="0"/>
              <a:t>A persistent bad channel is bad in more than 30% of epochs.</a:t>
            </a:r>
          </a:p>
          <a:p>
            <a:pPr marL="285750" indent="-285750">
              <a:spcAft>
                <a:spcPts val="400"/>
              </a:spcAft>
              <a:buFont typeface="Arial" panose="020B0604020202020204" pitchFamily="34" charset="0"/>
              <a:buChar char="•"/>
              <a:defRPr sz="1600" b="0">
                <a:solidFill>
                  <a:srgbClr val="1E1E1E"/>
                </a:solidFill>
                <a:latin typeface="Aptos"/>
              </a:defRPr>
            </a:pPr>
            <a:r>
              <a:rPr sz="1600" dirty="0"/>
              <a:t>With 30 epochs, this means bad in more than ~9 epochs.</a:t>
            </a:r>
            <a:endParaRPr lang="en-US" sz="1600" dirty="0"/>
          </a:p>
          <a:p>
            <a:pPr>
              <a:spcAft>
                <a:spcPts val="400"/>
              </a:spcAft>
              <a:defRPr sz="1600" b="0">
                <a:solidFill>
                  <a:srgbClr val="1E1E1E"/>
                </a:solidFill>
                <a:latin typeface="Aptos"/>
              </a:defRPr>
            </a:pPr>
            <a:endParaRPr lang="fa-IR" sz="1600" dirty="0"/>
          </a:p>
          <a:p>
            <a:pPr>
              <a:spcAft>
                <a:spcPts val="400"/>
              </a:spcAft>
              <a:defRPr sz="1600" b="0">
                <a:solidFill>
                  <a:srgbClr val="1E1E1E"/>
                </a:solidFill>
                <a:latin typeface="Aptos"/>
              </a:defRPr>
            </a:pPr>
            <a:endParaRPr sz="1600" dirty="0"/>
          </a:p>
          <a:p>
            <a:pPr>
              <a:spcAft>
                <a:spcPts val="600"/>
              </a:spcAft>
              <a:defRPr sz="1600" b="1">
                <a:solidFill>
                  <a:srgbClr val="14233C"/>
                </a:solidFill>
                <a:latin typeface="Aptos"/>
              </a:defRPr>
            </a:pPr>
            <a:r>
              <a:rPr sz="1600" dirty="0"/>
              <a:t>Why this step matters</a:t>
            </a:r>
          </a:p>
          <a:p>
            <a:pPr marL="285750" indent="-285750">
              <a:spcAft>
                <a:spcPts val="400"/>
              </a:spcAft>
              <a:buFont typeface="Arial" panose="020B0604020202020204" pitchFamily="34" charset="0"/>
              <a:buChar char="•"/>
              <a:defRPr sz="1600" b="0">
                <a:solidFill>
                  <a:srgbClr val="1E1E1E"/>
                </a:solidFill>
                <a:latin typeface="Aptos"/>
              </a:defRPr>
            </a:pPr>
            <a:r>
              <a:rPr sz="1600" dirty="0"/>
              <a:t>Prevents interpolating a good channel because of one temporary artifact.</a:t>
            </a:r>
          </a:p>
          <a:p>
            <a:pPr marL="285750" indent="-285750">
              <a:spcAft>
                <a:spcPts val="400"/>
              </a:spcAft>
              <a:buFont typeface="Arial" panose="020B0604020202020204" pitchFamily="34" charset="0"/>
              <a:buChar char="•"/>
              <a:defRPr sz="1600" b="0">
                <a:solidFill>
                  <a:srgbClr val="1E1E1E"/>
                </a:solidFill>
                <a:latin typeface="Aptos"/>
              </a:defRPr>
            </a:pPr>
            <a:r>
              <a:rPr sz="1600" dirty="0"/>
              <a:t>Separates temporary artifacts from structural/persistent channel problems.</a:t>
            </a:r>
          </a:p>
          <a:p>
            <a:pPr>
              <a:spcAft>
                <a:spcPts val="600"/>
              </a:spcAft>
              <a:defRPr sz="1600" b="1">
                <a:solidFill>
                  <a:srgbClr val="14233C"/>
                </a:solidFill>
                <a:latin typeface="Aptos"/>
              </a:defRPr>
            </a:pPr>
            <a:endParaRPr lang="fa-IR" sz="1600" dirty="0"/>
          </a:p>
          <a:p>
            <a:pPr>
              <a:spcAft>
                <a:spcPts val="600"/>
              </a:spcAft>
              <a:defRPr sz="1600" b="1">
                <a:solidFill>
                  <a:srgbClr val="14233C"/>
                </a:solidFill>
                <a:latin typeface="Aptos"/>
              </a:defRPr>
            </a:pPr>
            <a:endParaRPr lang="fa-IR" sz="1600" dirty="0"/>
          </a:p>
          <a:p>
            <a:pPr>
              <a:spcAft>
                <a:spcPts val="600"/>
              </a:spcAft>
              <a:defRPr sz="1600" b="1">
                <a:solidFill>
                  <a:srgbClr val="14233C"/>
                </a:solidFill>
                <a:latin typeface="Aptos"/>
              </a:defRPr>
            </a:pPr>
            <a:r>
              <a:rPr sz="1600" dirty="0"/>
              <a:t>Expected result in the synthetic example</a:t>
            </a:r>
          </a:p>
          <a:p>
            <a:pPr marL="285750" indent="-285750">
              <a:spcAft>
                <a:spcPts val="400"/>
              </a:spcAft>
              <a:buFont typeface="Arial" panose="020B0604020202020204" pitchFamily="34" charset="0"/>
              <a:buChar char="•"/>
              <a:defRPr sz="1600" b="0">
                <a:solidFill>
                  <a:srgbClr val="1E1E1E"/>
                </a:solidFill>
                <a:latin typeface="Aptos"/>
              </a:defRPr>
            </a:pPr>
            <a:r>
              <a:rPr sz="1600" dirty="0" err="1"/>
              <a:t>Pz</a:t>
            </a:r>
            <a:r>
              <a:rPr sz="1600" dirty="0"/>
              <a:t>: flat channel → persistent.</a:t>
            </a:r>
          </a:p>
          <a:p>
            <a:pPr marL="285750" indent="-285750">
              <a:spcAft>
                <a:spcPts val="400"/>
              </a:spcAft>
              <a:buFont typeface="Arial" panose="020B0604020202020204" pitchFamily="34" charset="0"/>
              <a:buChar char="•"/>
              <a:defRPr sz="1600" b="0">
                <a:solidFill>
                  <a:srgbClr val="1E1E1E"/>
                </a:solidFill>
                <a:latin typeface="Aptos"/>
              </a:defRPr>
            </a:pPr>
            <a:r>
              <a:rPr sz="1600" dirty="0"/>
              <a:t>O1: noisy channel → persistent.</a:t>
            </a:r>
          </a:p>
          <a:p>
            <a:pPr marL="285750" indent="-285750">
              <a:spcAft>
                <a:spcPts val="400"/>
              </a:spcAft>
              <a:buFont typeface="Arial" panose="020B0604020202020204" pitchFamily="34" charset="0"/>
              <a:buChar char="•"/>
              <a:defRPr sz="1600" b="0">
                <a:solidFill>
                  <a:srgbClr val="1E1E1E"/>
                </a:solidFill>
                <a:latin typeface="Aptos"/>
              </a:defRPr>
            </a:pPr>
            <a:r>
              <a:rPr sz="1600" dirty="0"/>
              <a:t>Blink-affected frontal channels should usually go to ICA, not interpolation.</a:t>
            </a:r>
          </a:p>
        </p:txBody>
      </p:sp>
      <p:sp>
        <p:nvSpPr>
          <p:cNvPr id="6" name="TextBox 5"/>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10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Bad-Channel Interpolation</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Reconstruct structural/persistent bad channels from neighboring electrodes</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25880"/>
            <a:ext cx="4663440" cy="4816703"/>
          </a:xfrm>
          <a:prstGeom prst="rect">
            <a:avLst/>
          </a:prstGeom>
          <a:noFill/>
        </p:spPr>
        <p:txBody>
          <a:bodyPr wrap="square" lIns="73152" rIns="73152">
            <a:spAutoFit/>
          </a:bodyPr>
          <a:lstStyle/>
          <a:p>
            <a:pPr>
              <a:spcAft>
                <a:spcPts val="600"/>
              </a:spcAft>
              <a:defRPr sz="1300" b="1">
                <a:solidFill>
                  <a:srgbClr val="14233C"/>
                </a:solidFill>
                <a:latin typeface="Aptos"/>
              </a:defRPr>
            </a:pPr>
            <a:r>
              <a:rPr sz="1600" dirty="0"/>
              <a:t>Interpolation idea</a:t>
            </a:r>
          </a:p>
          <a:p>
            <a:pPr marL="285750" indent="-285750">
              <a:spcAft>
                <a:spcPts val="400"/>
              </a:spcAft>
              <a:buFont typeface="Arial" panose="020B0604020202020204" pitchFamily="34" charset="0"/>
              <a:buChar char="•"/>
              <a:defRPr sz="1300" b="0">
                <a:solidFill>
                  <a:srgbClr val="1E1E1E"/>
                </a:solidFill>
                <a:latin typeface="Aptos"/>
              </a:defRPr>
            </a:pPr>
            <a:r>
              <a:rPr sz="1600" dirty="0"/>
              <a:t>Bad channel signal is estimated from neighboring good electrodes.</a:t>
            </a:r>
          </a:p>
          <a:p>
            <a:pPr marL="285750" indent="-285750">
              <a:spcAft>
                <a:spcPts val="400"/>
              </a:spcAft>
              <a:buFont typeface="Arial" panose="020B0604020202020204" pitchFamily="34" charset="0"/>
              <a:buChar char="•"/>
              <a:defRPr sz="1300" b="0">
                <a:solidFill>
                  <a:srgbClr val="1E1E1E"/>
                </a:solidFill>
                <a:latin typeface="Aptos"/>
              </a:defRPr>
            </a:pPr>
            <a:r>
              <a:rPr sz="1600" dirty="0"/>
              <a:t>Requires montage/electrode positions; channel names were cleaned to match standard_1020 montage.</a:t>
            </a:r>
            <a:endParaRPr lang="en-US" sz="1600" dirty="0"/>
          </a:p>
          <a:p>
            <a:pPr>
              <a:spcAft>
                <a:spcPts val="400"/>
              </a:spcAft>
              <a:defRPr sz="1300" b="0">
                <a:solidFill>
                  <a:srgbClr val="1E1E1E"/>
                </a:solidFill>
                <a:latin typeface="Aptos"/>
              </a:defRPr>
            </a:pPr>
            <a:endParaRPr sz="1600" dirty="0"/>
          </a:p>
          <a:p>
            <a:pPr>
              <a:spcAft>
                <a:spcPts val="600"/>
              </a:spcAft>
              <a:defRPr sz="1300" b="1">
                <a:solidFill>
                  <a:srgbClr val="14233C"/>
                </a:solidFill>
                <a:latin typeface="Aptos"/>
              </a:defRPr>
            </a:pPr>
            <a:r>
              <a:rPr sz="1600" dirty="0"/>
              <a:t>Example</a:t>
            </a:r>
          </a:p>
          <a:p>
            <a:pPr marL="285750" indent="-285750">
              <a:spcAft>
                <a:spcPts val="400"/>
              </a:spcAft>
              <a:buFont typeface="Arial" panose="020B0604020202020204" pitchFamily="34" charset="0"/>
              <a:buChar char="•"/>
              <a:defRPr sz="1300" b="0">
                <a:solidFill>
                  <a:srgbClr val="1E1E1E"/>
                </a:solidFill>
                <a:latin typeface="Aptos"/>
              </a:defRPr>
            </a:pPr>
            <a:r>
              <a:rPr sz="1600" dirty="0"/>
              <a:t>Before: </a:t>
            </a:r>
            <a:r>
              <a:rPr sz="1600" dirty="0" err="1"/>
              <a:t>Pz</a:t>
            </a:r>
            <a:r>
              <a:rPr sz="1600" dirty="0"/>
              <a:t> is flat, O1 is extremely noisy, Fp1 has blink-like high amplitude.</a:t>
            </a:r>
          </a:p>
          <a:p>
            <a:pPr marL="285750" indent="-285750">
              <a:spcAft>
                <a:spcPts val="400"/>
              </a:spcAft>
              <a:buFont typeface="Arial" panose="020B0604020202020204" pitchFamily="34" charset="0"/>
              <a:buChar char="•"/>
              <a:defRPr sz="1300" b="0">
                <a:solidFill>
                  <a:srgbClr val="1E1E1E"/>
                </a:solidFill>
                <a:latin typeface="Aptos"/>
              </a:defRPr>
            </a:pPr>
            <a:r>
              <a:rPr sz="1600" dirty="0"/>
              <a:t>After: bad channels are reconstructed and MNE bad list is reset.</a:t>
            </a:r>
            <a:endParaRPr lang="en-US" sz="1600" dirty="0"/>
          </a:p>
          <a:p>
            <a:pPr>
              <a:spcAft>
                <a:spcPts val="400"/>
              </a:spcAft>
              <a:defRPr sz="1300" b="0">
                <a:solidFill>
                  <a:srgbClr val="1E1E1E"/>
                </a:solidFill>
                <a:latin typeface="Aptos"/>
              </a:defRPr>
            </a:pPr>
            <a:endParaRPr sz="1600" dirty="0"/>
          </a:p>
          <a:p>
            <a:pPr>
              <a:spcAft>
                <a:spcPts val="600"/>
              </a:spcAft>
              <a:defRPr sz="1300" b="1">
                <a:solidFill>
                  <a:srgbClr val="14233C"/>
                </a:solidFill>
                <a:latin typeface="Aptos"/>
              </a:defRPr>
            </a:pPr>
            <a:r>
              <a:rPr sz="1600" dirty="0"/>
              <a:t>Caveat</a:t>
            </a:r>
          </a:p>
          <a:p>
            <a:pPr marL="285750" indent="-285750">
              <a:spcAft>
                <a:spcPts val="400"/>
              </a:spcAft>
              <a:buFont typeface="Arial" panose="020B0604020202020204" pitchFamily="34" charset="0"/>
              <a:buChar char="•"/>
              <a:defRPr sz="1300" b="0">
                <a:solidFill>
                  <a:srgbClr val="1E1E1E"/>
                </a:solidFill>
                <a:latin typeface="Aptos"/>
              </a:defRPr>
            </a:pPr>
            <a:r>
              <a:rPr sz="1600" dirty="0" err="1"/>
              <a:t>Pz</a:t>
            </a:r>
            <a:r>
              <a:rPr sz="1600" dirty="0"/>
              <a:t>/O1 are good interpolation examples; Fp1 is more artifact-contaminated and better handled with ICA in a real pipeline.</a:t>
            </a:r>
          </a:p>
        </p:txBody>
      </p:sp>
      <p:sp>
        <p:nvSpPr>
          <p:cNvPr id="7" name="TextBox 6"/>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11</a:t>
            </a:r>
          </a:p>
        </p:txBody>
      </p:sp>
      <p:pic>
        <p:nvPicPr>
          <p:cNvPr id="8" name="Picture 7">
            <a:extLst>
              <a:ext uri="{FF2B5EF4-FFF2-40B4-BE49-F238E27FC236}">
                <a16:creationId xmlns:a16="http://schemas.microsoft.com/office/drawing/2014/main" id="{7CFE93B7-53A1-8336-234A-B76D19AC6E53}"/>
              </a:ext>
            </a:extLst>
          </p:cNvPr>
          <p:cNvPicPr>
            <a:picLocks noChangeAspect="1"/>
          </p:cNvPicPr>
          <p:nvPr/>
        </p:nvPicPr>
        <p:blipFill>
          <a:blip r:embed="rId2"/>
          <a:stretch>
            <a:fillRect/>
          </a:stretch>
        </p:blipFill>
        <p:spPr>
          <a:xfrm>
            <a:off x="5404104" y="1074438"/>
            <a:ext cx="6608500" cy="2651491"/>
          </a:xfrm>
          <a:prstGeom prst="rect">
            <a:avLst/>
          </a:prstGeom>
        </p:spPr>
      </p:pic>
      <p:pic>
        <p:nvPicPr>
          <p:cNvPr id="10" name="Picture 9">
            <a:extLst>
              <a:ext uri="{FF2B5EF4-FFF2-40B4-BE49-F238E27FC236}">
                <a16:creationId xmlns:a16="http://schemas.microsoft.com/office/drawing/2014/main" id="{B7795D89-4E67-AC31-C9A2-40547001F242}"/>
              </a:ext>
            </a:extLst>
          </p:cNvPr>
          <p:cNvPicPr>
            <a:picLocks noChangeAspect="1"/>
          </p:cNvPicPr>
          <p:nvPr/>
        </p:nvPicPr>
        <p:blipFill>
          <a:blip r:embed="rId3"/>
          <a:stretch>
            <a:fillRect/>
          </a:stretch>
        </p:blipFill>
        <p:spPr>
          <a:xfrm>
            <a:off x="5404104" y="3774195"/>
            <a:ext cx="6608500" cy="265149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02920"/>
          </a:xfrm>
          <a:prstGeom prst="rect">
            <a:avLst/>
          </a:prstGeom>
          <a:noFill/>
        </p:spPr>
        <p:txBody>
          <a:bodyPr wrap="square" lIns="45720" tIns="18288" rIns="45720">
            <a:spAutoFit/>
          </a:bodyPr>
          <a:lstStyle/>
          <a:p>
            <a:r>
              <a:rPr sz="2800" b="1" dirty="0">
                <a:solidFill>
                  <a:srgbClr val="14233C"/>
                </a:solidFill>
                <a:latin typeface="Aptos"/>
              </a:rPr>
              <a:t>ICA Blink-Removal Example</a:t>
            </a:r>
          </a:p>
        </p:txBody>
      </p:sp>
      <p:sp>
        <p:nvSpPr>
          <p:cNvPr id="3" name="TextBox 2"/>
          <p:cNvSpPr txBox="1"/>
          <p:nvPr/>
        </p:nvSpPr>
        <p:spPr>
          <a:xfrm>
            <a:off x="548640" y="786384"/>
            <a:ext cx="11109960" cy="292608"/>
          </a:xfrm>
          <a:prstGeom prst="rect">
            <a:avLst/>
          </a:prstGeom>
          <a:noFill/>
        </p:spPr>
        <p:txBody>
          <a:bodyPr wrap="square" lIns="45720" tIns="18288" rIns="45720">
            <a:spAutoFit/>
          </a:bodyPr>
          <a:lstStyle/>
          <a:p>
            <a:r>
              <a:rPr sz="1200" b="0">
                <a:solidFill>
                  <a:srgbClr val="5F6368"/>
                </a:solidFill>
                <a:latin typeface="Aptos"/>
              </a:rPr>
              <a:t>Component-based removal of a synthetic frontal blink</a:t>
            </a:r>
          </a:p>
        </p:txBody>
      </p:sp>
      <p:sp>
        <p:nvSpPr>
          <p:cNvPr id="4" name="Rectangle 3"/>
          <p:cNvSpPr/>
          <p:nvPr/>
        </p:nvSpPr>
        <p:spPr>
          <a:xfrm>
            <a:off x="548640" y="1124712"/>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90948"/>
            <a:ext cx="4206240" cy="3554819"/>
          </a:xfrm>
          <a:prstGeom prst="rect">
            <a:avLst/>
          </a:prstGeom>
          <a:noFill/>
        </p:spPr>
        <p:txBody>
          <a:bodyPr wrap="square" lIns="73152" rIns="73152">
            <a:spAutoFit/>
          </a:bodyPr>
          <a:lstStyle/>
          <a:p>
            <a:pPr>
              <a:spcAft>
                <a:spcPts val="600"/>
              </a:spcAft>
              <a:defRPr sz="1300" b="1">
                <a:solidFill>
                  <a:srgbClr val="14233C"/>
                </a:solidFill>
                <a:latin typeface="Aptos"/>
              </a:defRPr>
            </a:pPr>
            <a:r>
              <a:rPr sz="1500" dirty="0"/>
              <a:t>How ICA is used</a:t>
            </a:r>
          </a:p>
          <a:p>
            <a:pPr marL="285750" indent="-285750">
              <a:spcAft>
                <a:spcPts val="400"/>
              </a:spcAft>
              <a:buFont typeface="Arial" panose="020B0604020202020204" pitchFamily="34" charset="0"/>
              <a:buChar char="•"/>
              <a:defRPr sz="1300" b="0">
                <a:solidFill>
                  <a:srgbClr val="1E1E1E"/>
                </a:solidFill>
                <a:latin typeface="Aptos"/>
              </a:defRPr>
            </a:pPr>
            <a:r>
              <a:rPr sz="1500" dirty="0"/>
              <a:t>Add synthetic blink to Fp1, </a:t>
            </a:r>
            <a:r>
              <a:rPr sz="1500" dirty="0" err="1"/>
              <a:t>Fpz</a:t>
            </a:r>
            <a:r>
              <a:rPr sz="1500" dirty="0"/>
              <a:t>, Fp2.</a:t>
            </a:r>
          </a:p>
          <a:p>
            <a:pPr marL="285750" indent="-285750">
              <a:spcAft>
                <a:spcPts val="400"/>
              </a:spcAft>
              <a:buFont typeface="Arial" panose="020B0604020202020204" pitchFamily="34" charset="0"/>
              <a:buChar char="•"/>
              <a:defRPr sz="1300" b="0">
                <a:solidFill>
                  <a:srgbClr val="1E1E1E"/>
                </a:solidFill>
                <a:latin typeface="Aptos"/>
              </a:defRPr>
            </a:pPr>
            <a:r>
              <a:rPr sz="1500" dirty="0"/>
              <a:t>Run ICA on multichannel EEG.</a:t>
            </a:r>
          </a:p>
          <a:p>
            <a:pPr marL="285750" indent="-285750">
              <a:spcAft>
                <a:spcPts val="400"/>
              </a:spcAft>
              <a:buFont typeface="Arial" panose="020B0604020202020204" pitchFamily="34" charset="0"/>
              <a:buChar char="•"/>
              <a:defRPr sz="1300" b="0">
                <a:solidFill>
                  <a:srgbClr val="1E1E1E"/>
                </a:solidFill>
                <a:latin typeface="Aptos"/>
              </a:defRPr>
            </a:pPr>
            <a:r>
              <a:rPr sz="1500" dirty="0"/>
              <a:t>Select component most correlated with the frontal blink signal.</a:t>
            </a:r>
          </a:p>
          <a:p>
            <a:pPr marL="285750" indent="-285750">
              <a:spcAft>
                <a:spcPts val="400"/>
              </a:spcAft>
              <a:buFont typeface="Arial" panose="020B0604020202020204" pitchFamily="34" charset="0"/>
              <a:buChar char="•"/>
              <a:defRPr sz="1300" b="0">
                <a:solidFill>
                  <a:srgbClr val="1E1E1E"/>
                </a:solidFill>
                <a:latin typeface="Aptos"/>
              </a:defRPr>
            </a:pPr>
            <a:r>
              <a:rPr sz="1500" dirty="0"/>
              <a:t>Remove that component and reconstruct EEG.</a:t>
            </a:r>
            <a:endParaRPr lang="en-US" sz="1500" dirty="0"/>
          </a:p>
          <a:p>
            <a:pPr>
              <a:spcAft>
                <a:spcPts val="400"/>
              </a:spcAft>
              <a:defRPr sz="1300" b="0">
                <a:solidFill>
                  <a:srgbClr val="1E1E1E"/>
                </a:solidFill>
                <a:latin typeface="Aptos"/>
              </a:defRPr>
            </a:pPr>
            <a:endParaRPr sz="1500" dirty="0"/>
          </a:p>
          <a:p>
            <a:pPr>
              <a:spcAft>
                <a:spcPts val="600"/>
              </a:spcAft>
              <a:defRPr sz="1300" b="1">
                <a:solidFill>
                  <a:srgbClr val="14233C"/>
                </a:solidFill>
                <a:latin typeface="Aptos"/>
              </a:defRPr>
            </a:pPr>
            <a:r>
              <a:rPr sz="1500" dirty="0"/>
              <a:t>Interpretation</a:t>
            </a:r>
          </a:p>
          <a:p>
            <a:pPr marL="285750" indent="-285750">
              <a:spcAft>
                <a:spcPts val="400"/>
              </a:spcAft>
              <a:buFont typeface="Arial" panose="020B0604020202020204" pitchFamily="34" charset="0"/>
              <a:buChar char="•"/>
              <a:defRPr sz="1300" b="0">
                <a:solidFill>
                  <a:srgbClr val="1E1E1E"/>
                </a:solidFill>
                <a:latin typeface="Aptos"/>
              </a:defRPr>
            </a:pPr>
            <a:r>
              <a:rPr sz="1500" dirty="0"/>
              <a:t>Blink-like ICA component should show a strong frontal topography.</a:t>
            </a:r>
          </a:p>
          <a:p>
            <a:pPr marL="285750" indent="-285750">
              <a:spcAft>
                <a:spcPts val="400"/>
              </a:spcAft>
              <a:buFont typeface="Arial" panose="020B0604020202020204" pitchFamily="34" charset="0"/>
              <a:buChar char="•"/>
              <a:defRPr sz="1300" b="0">
                <a:solidFill>
                  <a:srgbClr val="1E1E1E"/>
                </a:solidFill>
                <a:latin typeface="Aptos"/>
              </a:defRPr>
            </a:pPr>
            <a:r>
              <a:rPr sz="1500" dirty="0"/>
              <a:t>After removal, the large frontal blink deflection is reduced.</a:t>
            </a:r>
          </a:p>
        </p:txBody>
      </p:sp>
      <p:pic>
        <p:nvPicPr>
          <p:cNvPr id="8" name="Picture 7" descr="image.png"/>
          <p:cNvPicPr>
            <a:picLocks noChangeAspect="1"/>
          </p:cNvPicPr>
          <p:nvPr/>
        </p:nvPicPr>
        <p:blipFill>
          <a:blip r:embed="rId2"/>
          <a:stretch>
            <a:fillRect/>
          </a:stretch>
        </p:blipFill>
        <p:spPr>
          <a:xfrm>
            <a:off x="4974608" y="3695745"/>
            <a:ext cx="6348658" cy="2614153"/>
          </a:xfrm>
          <a:prstGeom prst="rect">
            <a:avLst/>
          </a:prstGeom>
        </p:spPr>
      </p:pic>
      <p:sp>
        <p:nvSpPr>
          <p:cNvPr id="9" name="TextBox 8"/>
          <p:cNvSpPr txBox="1"/>
          <p:nvPr/>
        </p:nvSpPr>
        <p:spPr>
          <a:xfrm>
            <a:off x="502920" y="6473952"/>
            <a:ext cx="6858000" cy="182880"/>
          </a:xfrm>
          <a:prstGeom prst="rect">
            <a:avLst/>
          </a:prstGeom>
          <a:noFill/>
        </p:spPr>
        <p:txBody>
          <a:bodyPr wrap="square" lIns="45720" tIns="18288" rIns="45720">
            <a:spAutoFit/>
          </a:bodyPr>
          <a:lstStyle/>
          <a:p>
            <a:r>
              <a:rPr sz="800" b="0">
                <a:solidFill>
                  <a:srgbClr val="5F6368"/>
                </a:solidFill>
                <a:latin typeface="Aptos"/>
              </a:rPr>
              <a:t>LP Praktikum Informatik 1 | Updated Implementation | 12</a:t>
            </a:r>
          </a:p>
        </p:txBody>
      </p:sp>
      <p:pic>
        <p:nvPicPr>
          <p:cNvPr id="11" name="Picture 10">
            <a:extLst>
              <a:ext uri="{FF2B5EF4-FFF2-40B4-BE49-F238E27FC236}">
                <a16:creationId xmlns:a16="http://schemas.microsoft.com/office/drawing/2014/main" id="{7EDD1A5B-E3E6-B7AD-1995-41510098B26D}"/>
              </a:ext>
            </a:extLst>
          </p:cNvPr>
          <p:cNvPicPr>
            <a:picLocks noChangeAspect="1"/>
          </p:cNvPicPr>
          <p:nvPr/>
        </p:nvPicPr>
        <p:blipFill>
          <a:blip r:embed="rId3"/>
          <a:stretch>
            <a:fillRect/>
          </a:stretch>
        </p:blipFill>
        <p:spPr>
          <a:xfrm>
            <a:off x="5006612" y="828996"/>
            <a:ext cx="6316654" cy="2600975"/>
          </a:xfrm>
          <a:prstGeom prst="rect">
            <a:avLst/>
          </a:prstGeom>
        </p:spPr>
      </p:pic>
      <p:pic>
        <p:nvPicPr>
          <p:cNvPr id="13" name="Picture 12">
            <a:extLst>
              <a:ext uri="{FF2B5EF4-FFF2-40B4-BE49-F238E27FC236}">
                <a16:creationId xmlns:a16="http://schemas.microsoft.com/office/drawing/2014/main" id="{3ABDE241-1ED9-94C6-D68C-C5089303B570}"/>
              </a:ext>
            </a:extLst>
          </p:cNvPr>
          <p:cNvPicPr>
            <a:picLocks noChangeAspect="1"/>
          </p:cNvPicPr>
          <p:nvPr/>
        </p:nvPicPr>
        <p:blipFill>
          <a:blip r:embed="rId4"/>
          <a:stretch>
            <a:fillRect/>
          </a:stretch>
        </p:blipFill>
        <p:spPr>
          <a:xfrm>
            <a:off x="2000250" y="4857724"/>
            <a:ext cx="1211580" cy="145217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201400" cy="548640"/>
          </a:xfrm>
          <a:prstGeom prst="rect">
            <a:avLst/>
          </a:prstGeom>
          <a:noFill/>
        </p:spPr>
        <p:txBody>
          <a:bodyPr wrap="square" lIns="45720" tIns="18288" rIns="45720" bIns="18288">
            <a:spAutoFit/>
          </a:bodyPr>
          <a:lstStyle/>
          <a:p>
            <a:r>
              <a:rPr sz="3200" b="1">
                <a:solidFill>
                  <a:srgbClr val="14233C"/>
                </a:solidFill>
                <a:latin typeface="Aptos"/>
              </a:rPr>
              <a:t>Summary</a:t>
            </a:r>
          </a:p>
        </p:txBody>
      </p:sp>
      <p:sp>
        <p:nvSpPr>
          <p:cNvPr id="3" name="Rectangle 2"/>
          <p:cNvSpPr/>
          <p:nvPr/>
        </p:nvSpPr>
        <p:spPr>
          <a:xfrm>
            <a:off x="548640" y="1115568"/>
            <a:ext cx="2240280" cy="41148"/>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1417320"/>
            <a:ext cx="3429000" cy="1965960"/>
          </a:xfrm>
          <a:prstGeom prst="roundRect">
            <a:avLst/>
          </a:prstGeom>
          <a:solidFill>
            <a:srgbClr val="E8F0FE"/>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45336"/>
            <a:ext cx="3099816" cy="313932"/>
          </a:xfrm>
          <a:prstGeom prst="rect">
            <a:avLst/>
          </a:prstGeom>
          <a:noFill/>
        </p:spPr>
        <p:txBody>
          <a:bodyPr wrap="square" lIns="45720" tIns="18288" rIns="45720" bIns="18288">
            <a:spAutoFit/>
          </a:bodyPr>
          <a:lstStyle/>
          <a:p>
            <a:r>
              <a:rPr lang="en-US" sz="1800" b="1" dirty="0">
                <a:solidFill>
                  <a:srgbClr val="14233C"/>
                </a:solidFill>
                <a:latin typeface="Aptos"/>
              </a:rPr>
              <a:t>1- </a:t>
            </a:r>
            <a:r>
              <a:rPr sz="1800" b="1" dirty="0">
                <a:solidFill>
                  <a:srgbClr val="14233C"/>
                </a:solidFill>
                <a:latin typeface="Aptos"/>
              </a:rPr>
              <a:t>Dataset</a:t>
            </a:r>
          </a:p>
        </p:txBody>
      </p:sp>
      <p:sp>
        <p:nvSpPr>
          <p:cNvPr id="6" name="TextBox 5"/>
          <p:cNvSpPr txBox="1"/>
          <p:nvPr/>
        </p:nvSpPr>
        <p:spPr>
          <a:xfrm>
            <a:off x="886968" y="1895844"/>
            <a:ext cx="2941320" cy="1184940"/>
          </a:xfrm>
          <a:prstGeom prst="rect">
            <a:avLst/>
          </a:prstGeom>
          <a:noFill/>
        </p:spPr>
        <p:txBody>
          <a:bodyPr wrap="square">
            <a:spAutoFit/>
          </a:bodyPr>
          <a:lstStyle/>
          <a:p>
            <a:pPr>
              <a:spcAft>
                <a:spcPts val="600"/>
              </a:spcAft>
              <a:defRPr sz="1400">
                <a:solidFill>
                  <a:srgbClr val="1E1E1E"/>
                </a:solidFill>
                <a:latin typeface="Aptos"/>
              </a:defRPr>
            </a:pPr>
            <a:r>
              <a:rPr dirty="0"/>
              <a:t>S001R01.edf</a:t>
            </a:r>
          </a:p>
          <a:p>
            <a:pPr>
              <a:spcAft>
                <a:spcPts val="600"/>
              </a:spcAft>
              <a:defRPr sz="1400">
                <a:solidFill>
                  <a:srgbClr val="1E1E1E"/>
                </a:solidFill>
                <a:latin typeface="Aptos"/>
              </a:defRPr>
            </a:pPr>
            <a:r>
              <a:rPr dirty="0"/>
              <a:t>PhysioNet EEGMMIDB</a:t>
            </a:r>
          </a:p>
          <a:p>
            <a:pPr>
              <a:spcAft>
                <a:spcPts val="600"/>
              </a:spcAft>
              <a:defRPr sz="1400">
                <a:solidFill>
                  <a:srgbClr val="1E1E1E"/>
                </a:solidFill>
                <a:latin typeface="Aptos"/>
              </a:defRPr>
            </a:pPr>
            <a:r>
              <a:rPr dirty="0"/>
              <a:t>64 EEG channels, 160 Hz, ~61 s</a:t>
            </a:r>
          </a:p>
          <a:p>
            <a:pPr>
              <a:spcAft>
                <a:spcPts val="600"/>
              </a:spcAft>
              <a:defRPr sz="1400">
                <a:solidFill>
                  <a:srgbClr val="1E1E1E"/>
                </a:solidFill>
                <a:latin typeface="Aptos"/>
              </a:defRPr>
            </a:pPr>
            <a:r>
              <a:rPr dirty="0"/>
              <a:t>Baseline eyes-open recording</a:t>
            </a:r>
          </a:p>
        </p:txBody>
      </p:sp>
      <p:sp>
        <p:nvSpPr>
          <p:cNvPr id="7" name="Rounded Rectangle 6"/>
          <p:cNvSpPr/>
          <p:nvPr/>
        </p:nvSpPr>
        <p:spPr>
          <a:xfrm>
            <a:off x="4343400" y="1417320"/>
            <a:ext cx="7178040" cy="2788920"/>
          </a:xfrm>
          <a:prstGeom prst="roundRect">
            <a:avLst/>
          </a:prstGeom>
          <a:solidFill>
            <a:srgbClr val="E8F5E9"/>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0" y="1434091"/>
            <a:ext cx="6848855" cy="313932"/>
          </a:xfrm>
          <a:prstGeom prst="rect">
            <a:avLst/>
          </a:prstGeom>
          <a:noFill/>
        </p:spPr>
        <p:txBody>
          <a:bodyPr wrap="square" lIns="45720" tIns="18288" rIns="45720" bIns="18288">
            <a:spAutoFit/>
          </a:bodyPr>
          <a:lstStyle/>
          <a:p>
            <a:r>
              <a:rPr lang="en-US" sz="1800" b="1" dirty="0">
                <a:solidFill>
                  <a:srgbClr val="14233C"/>
                </a:solidFill>
                <a:latin typeface="Aptos"/>
              </a:rPr>
              <a:t>2- </a:t>
            </a:r>
            <a:r>
              <a:rPr sz="1800" b="1" dirty="0">
                <a:solidFill>
                  <a:srgbClr val="14233C"/>
                </a:solidFill>
                <a:latin typeface="Aptos"/>
              </a:rPr>
              <a:t>Preprocessing / Demonstration Pipeline</a:t>
            </a:r>
          </a:p>
        </p:txBody>
      </p:sp>
      <p:sp>
        <p:nvSpPr>
          <p:cNvPr id="9" name="TextBox 8"/>
          <p:cNvSpPr txBox="1"/>
          <p:nvPr/>
        </p:nvSpPr>
        <p:spPr>
          <a:xfrm>
            <a:off x="4686300" y="1748023"/>
            <a:ext cx="6492240" cy="2468880"/>
          </a:xfrm>
          <a:prstGeom prst="rect">
            <a:avLst/>
          </a:prstGeom>
          <a:noFill/>
        </p:spPr>
        <p:txBody>
          <a:bodyPr wrap="square">
            <a:spAutoFit/>
          </a:bodyPr>
          <a:lstStyle/>
          <a:p>
            <a:pPr>
              <a:spcAft>
                <a:spcPts val="600"/>
              </a:spcAft>
              <a:defRPr sz="1250">
                <a:solidFill>
                  <a:srgbClr val="1E1E1E"/>
                </a:solidFill>
                <a:latin typeface="Aptos"/>
              </a:defRPr>
            </a:pPr>
            <a:r>
              <a:rPr dirty="0"/>
              <a:t>Raw EEG + PSD inspection</a:t>
            </a:r>
          </a:p>
          <a:p>
            <a:pPr>
              <a:spcAft>
                <a:spcPts val="600"/>
              </a:spcAft>
              <a:defRPr sz="1250">
                <a:solidFill>
                  <a:srgbClr val="1E1E1E"/>
                </a:solidFill>
                <a:latin typeface="Aptos"/>
              </a:defRPr>
            </a:pPr>
            <a:r>
              <a:rPr dirty="0"/>
              <a:t>1–40 Hz band-pass + 50 Hz notch</a:t>
            </a:r>
          </a:p>
          <a:p>
            <a:pPr>
              <a:spcAft>
                <a:spcPts val="600"/>
              </a:spcAft>
              <a:defRPr sz="1250">
                <a:solidFill>
                  <a:srgbClr val="1E1E1E"/>
                </a:solidFill>
                <a:latin typeface="Aptos"/>
              </a:defRPr>
            </a:pPr>
            <a:r>
              <a:rPr dirty="0"/>
              <a:t>Common Average Reference</a:t>
            </a:r>
          </a:p>
          <a:p>
            <a:pPr>
              <a:spcAft>
                <a:spcPts val="600"/>
              </a:spcAft>
              <a:defRPr sz="1250">
                <a:solidFill>
                  <a:srgbClr val="1E1E1E"/>
                </a:solidFill>
                <a:latin typeface="Aptos"/>
              </a:defRPr>
            </a:pPr>
            <a:r>
              <a:rPr dirty="0"/>
              <a:t>Synthetic blink / muscle / bad-channel examples</a:t>
            </a:r>
          </a:p>
          <a:p>
            <a:pPr>
              <a:spcAft>
                <a:spcPts val="600"/>
              </a:spcAft>
              <a:defRPr sz="1250">
                <a:solidFill>
                  <a:srgbClr val="1E1E1E"/>
                </a:solidFill>
                <a:latin typeface="Aptos"/>
              </a:defRPr>
            </a:pPr>
            <a:r>
              <a:rPr dirty="0"/>
              <a:t>Global channel-quality metrics</a:t>
            </a:r>
          </a:p>
          <a:p>
            <a:pPr>
              <a:spcAft>
                <a:spcPts val="600"/>
              </a:spcAft>
              <a:defRPr sz="1250">
                <a:solidFill>
                  <a:srgbClr val="1E1E1E"/>
                </a:solidFill>
                <a:latin typeface="Aptos"/>
              </a:defRPr>
            </a:pPr>
            <a:r>
              <a:rPr dirty="0"/>
              <a:t>Epoch-wise bad-channel detection</a:t>
            </a:r>
          </a:p>
          <a:p>
            <a:pPr>
              <a:spcAft>
                <a:spcPts val="600"/>
              </a:spcAft>
              <a:defRPr sz="1250">
                <a:solidFill>
                  <a:srgbClr val="1E1E1E"/>
                </a:solidFill>
                <a:latin typeface="Aptos"/>
              </a:defRPr>
            </a:pPr>
            <a:r>
              <a:rPr dirty="0"/>
              <a:t>Persistent bad-channel selection</a:t>
            </a:r>
          </a:p>
          <a:p>
            <a:pPr>
              <a:spcAft>
                <a:spcPts val="600"/>
              </a:spcAft>
              <a:defRPr sz="1250">
                <a:solidFill>
                  <a:srgbClr val="1E1E1E"/>
                </a:solidFill>
                <a:latin typeface="Aptos"/>
              </a:defRPr>
            </a:pPr>
            <a:r>
              <a:rPr dirty="0"/>
              <a:t>Bad-channel interpolation</a:t>
            </a:r>
          </a:p>
          <a:p>
            <a:pPr>
              <a:spcAft>
                <a:spcPts val="600"/>
              </a:spcAft>
              <a:defRPr sz="1250">
                <a:solidFill>
                  <a:srgbClr val="1E1E1E"/>
                </a:solidFill>
                <a:latin typeface="Aptos"/>
              </a:defRPr>
            </a:pPr>
            <a:r>
              <a:rPr dirty="0"/>
              <a:t>ICA blink-component removal</a:t>
            </a:r>
          </a:p>
        </p:txBody>
      </p:sp>
      <p:sp>
        <p:nvSpPr>
          <p:cNvPr id="10" name="Rounded Rectangle 9"/>
          <p:cNvSpPr/>
          <p:nvPr/>
        </p:nvSpPr>
        <p:spPr>
          <a:xfrm>
            <a:off x="685800" y="3794760"/>
            <a:ext cx="3429000" cy="1737360"/>
          </a:xfrm>
          <a:prstGeom prst="roundRect">
            <a:avLst/>
          </a:prstGeom>
          <a:solidFill>
            <a:srgbClr val="FFF3E0"/>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785616"/>
            <a:ext cx="3099816" cy="313932"/>
          </a:xfrm>
          <a:prstGeom prst="rect">
            <a:avLst/>
          </a:prstGeom>
          <a:noFill/>
        </p:spPr>
        <p:txBody>
          <a:bodyPr wrap="square" lIns="45720" tIns="18288" rIns="45720" bIns="18288">
            <a:spAutoFit/>
          </a:bodyPr>
          <a:lstStyle/>
          <a:p>
            <a:r>
              <a:rPr lang="en-US" b="1" dirty="0">
                <a:solidFill>
                  <a:srgbClr val="14233C"/>
                </a:solidFill>
                <a:latin typeface="Aptos"/>
              </a:rPr>
              <a:t>3- </a:t>
            </a:r>
            <a:r>
              <a:rPr sz="1800" b="1" dirty="0">
                <a:solidFill>
                  <a:srgbClr val="14233C"/>
                </a:solidFill>
                <a:latin typeface="Aptos"/>
              </a:rPr>
              <a:t>Main Outputs</a:t>
            </a:r>
          </a:p>
        </p:txBody>
      </p:sp>
      <p:sp>
        <p:nvSpPr>
          <p:cNvPr id="12" name="TextBox 11"/>
          <p:cNvSpPr txBox="1"/>
          <p:nvPr/>
        </p:nvSpPr>
        <p:spPr>
          <a:xfrm>
            <a:off x="886968" y="4063936"/>
            <a:ext cx="2977896" cy="1477328"/>
          </a:xfrm>
          <a:prstGeom prst="rect">
            <a:avLst/>
          </a:prstGeom>
          <a:noFill/>
        </p:spPr>
        <p:txBody>
          <a:bodyPr wrap="square">
            <a:spAutoFit/>
          </a:bodyPr>
          <a:lstStyle/>
          <a:p>
            <a:pPr>
              <a:spcAft>
                <a:spcPts val="600"/>
              </a:spcAft>
              <a:defRPr sz="1400">
                <a:solidFill>
                  <a:srgbClr val="1E1E1E"/>
                </a:solidFill>
                <a:latin typeface="Aptos"/>
              </a:defRPr>
            </a:pPr>
            <a:r>
              <a:rPr dirty="0"/>
              <a:t>Before/after time-domain plots</a:t>
            </a:r>
          </a:p>
          <a:p>
            <a:pPr>
              <a:spcAft>
                <a:spcPts val="600"/>
              </a:spcAft>
              <a:defRPr sz="1400">
                <a:solidFill>
                  <a:srgbClr val="1E1E1E"/>
                </a:solidFill>
                <a:latin typeface="Aptos"/>
              </a:defRPr>
            </a:pPr>
            <a:r>
              <a:rPr dirty="0"/>
              <a:t>Before/after PSD plots</a:t>
            </a:r>
          </a:p>
          <a:p>
            <a:pPr>
              <a:spcAft>
                <a:spcPts val="600"/>
              </a:spcAft>
              <a:defRPr sz="1400">
                <a:solidFill>
                  <a:srgbClr val="1E1E1E"/>
                </a:solidFill>
                <a:latin typeface="Aptos"/>
              </a:defRPr>
            </a:pPr>
            <a:r>
              <a:rPr dirty="0"/>
              <a:t>Bad-channel epoch heatmap</a:t>
            </a:r>
          </a:p>
          <a:p>
            <a:pPr>
              <a:spcAft>
                <a:spcPts val="600"/>
              </a:spcAft>
              <a:defRPr sz="1400">
                <a:solidFill>
                  <a:srgbClr val="1E1E1E"/>
                </a:solidFill>
                <a:latin typeface="Aptos"/>
              </a:defRPr>
            </a:pPr>
            <a:r>
              <a:rPr dirty="0"/>
              <a:t>Interpolation comparison</a:t>
            </a:r>
          </a:p>
          <a:p>
            <a:pPr>
              <a:spcAft>
                <a:spcPts val="600"/>
              </a:spcAft>
              <a:defRPr sz="1400">
                <a:solidFill>
                  <a:srgbClr val="1E1E1E"/>
                </a:solidFill>
                <a:latin typeface="Aptos"/>
              </a:defRPr>
            </a:pPr>
            <a:r>
              <a:rPr dirty="0"/>
              <a:t>ICA before/after comparison</a:t>
            </a:r>
          </a:p>
        </p:txBody>
      </p:sp>
      <p:sp>
        <p:nvSpPr>
          <p:cNvPr id="13" name="Rounded Rectangle 12"/>
          <p:cNvSpPr/>
          <p:nvPr/>
        </p:nvSpPr>
        <p:spPr>
          <a:xfrm>
            <a:off x="4343400" y="4572000"/>
            <a:ext cx="7178040" cy="822960"/>
          </a:xfrm>
          <a:prstGeom prst="roundRect">
            <a:avLst/>
          </a:prstGeom>
          <a:solidFill>
            <a:srgbClr val="E8F0FE"/>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4734181"/>
            <a:ext cx="6720840" cy="498598"/>
          </a:xfrm>
          <a:prstGeom prst="rect">
            <a:avLst/>
          </a:prstGeom>
          <a:noFill/>
        </p:spPr>
        <p:txBody>
          <a:bodyPr wrap="square" lIns="45720" tIns="18288" rIns="45720" bIns="18288">
            <a:spAutoFit/>
          </a:bodyPr>
          <a:lstStyle/>
          <a:p>
            <a:pPr algn="ctr"/>
            <a:r>
              <a:rPr sz="1500" b="1" dirty="0">
                <a:solidFill>
                  <a:srgbClr val="14233C"/>
                </a:solidFill>
                <a:latin typeface="Aptos"/>
              </a:rPr>
              <a:t>EEG preprocessing: inspect → filter / re-reference → detect → interpolate /</a:t>
            </a:r>
            <a:r>
              <a:rPr lang="en-US" sz="1500" b="1" dirty="0">
                <a:solidFill>
                  <a:srgbClr val="14233C"/>
                </a:solidFill>
                <a:latin typeface="Aptos"/>
              </a:rPr>
              <a:t> remove → compare</a:t>
            </a:r>
            <a:endParaRPr sz="1500" b="1" dirty="0">
              <a:solidFill>
                <a:srgbClr val="14233C"/>
              </a:solidFill>
              <a:latin typeface="Aptos"/>
            </a:endParaRPr>
          </a:p>
        </p:txBody>
      </p:sp>
      <p:sp>
        <p:nvSpPr>
          <p:cNvPr id="15" name="TextBox 14"/>
          <p:cNvSpPr txBox="1"/>
          <p:nvPr/>
        </p:nvSpPr>
        <p:spPr>
          <a:xfrm>
            <a:off x="502920" y="6473952"/>
            <a:ext cx="6858000" cy="182880"/>
          </a:xfrm>
          <a:prstGeom prst="rect">
            <a:avLst/>
          </a:prstGeom>
          <a:noFill/>
        </p:spPr>
        <p:txBody>
          <a:bodyPr wrap="square" lIns="45720" tIns="18288" rIns="45720" bIns="18288">
            <a:spAutoFit/>
          </a:bodyPr>
          <a:lstStyle/>
          <a:p>
            <a:r>
              <a:rPr sz="800" b="0">
                <a:solidFill>
                  <a:srgbClr val="5F6368"/>
                </a:solidFill>
                <a:latin typeface="Aptos"/>
              </a:rPr>
              <a:t>LP Praktikum Informatik 1 | Updated Implementation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157</TotalTime>
  <Words>3688</Words>
  <Application>Microsoft Office PowerPoint</Application>
  <PresentationFormat>Widescreen</PresentationFormat>
  <Paragraphs>290</Paragraphs>
  <Slides>25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Calibri</vt:lpstr>
      <vt:lpstr>Karla</vt:lpstr>
      <vt:lpstr>Univers Condensed Light</vt:lpstr>
      <vt:lpstr>Office Theme</vt:lpstr>
      <vt:lpstr>EEG Noise and Artifact Removal</vt:lpstr>
      <vt:lpstr>Motivation and Context for EEG Artifact Removal</vt:lpstr>
      <vt:lpstr>Why EEG Recordings Require Careful Preprocessing</vt:lpstr>
      <vt:lpstr>General Categories of EEG Noise and Artifacts</vt:lpstr>
      <vt:lpstr>Paper 1: Zhang et al. (2021) — EEGdenoiseNet</vt:lpstr>
      <vt:lpstr>Paper 1: Zhang et al. (2021) — EEGdenoiseNet</vt:lpstr>
      <vt:lpstr>Paper 2: Kumaravel et al. (2022) — NEAR Pipeline</vt:lpstr>
      <vt:lpstr>Paper 2: Kumaravel et al. (2022) — NEAR</vt:lpstr>
      <vt:lpstr>Paper 3: Arpaia et al. (2025) — Wearable EEG Review</vt:lpstr>
      <vt:lpstr>Paper 3: Arpaia et al. (2025) — Wearable EEG Review</vt:lpstr>
      <vt:lpstr>Paper 4: Zangeneh Soroush et al. (2022) — Hybrid Artifact Removal</vt:lpstr>
      <vt:lpstr>Paper 4: Zangeneh Soroush et al.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Soroush Gholizadeh</cp:lastModifiedBy>
  <cp:revision>33</cp:revision>
  <dcterms:created xsi:type="dcterms:W3CDTF">2013-01-27T09:14:16Z</dcterms:created>
  <dcterms:modified xsi:type="dcterms:W3CDTF">2026-06-18T20:30:46Z</dcterms:modified>
  <cp:category/>
</cp:coreProperties>
</file>